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3"/>
  </p:handoutMasterIdLst>
  <p:sldIdLst>
    <p:sldId id="550" r:id="rId3"/>
    <p:sldId id="412" r:id="rId4"/>
    <p:sldId id="492" r:id="rId6"/>
    <p:sldId id="493" r:id="rId7"/>
    <p:sldId id="539" r:id="rId8"/>
    <p:sldId id="494" r:id="rId9"/>
    <p:sldId id="495" r:id="rId10"/>
    <p:sldId id="517" r:id="rId11"/>
    <p:sldId id="553" r:id="rId12"/>
    <p:sldId id="496" r:id="rId13"/>
    <p:sldId id="497" r:id="rId14"/>
    <p:sldId id="498" r:id="rId15"/>
    <p:sldId id="505" r:id="rId16"/>
    <p:sldId id="506" r:id="rId17"/>
    <p:sldId id="508" r:id="rId18"/>
    <p:sldId id="507" r:id="rId19"/>
    <p:sldId id="509" r:id="rId20"/>
    <p:sldId id="510" r:id="rId21"/>
    <p:sldId id="342" r:id="rId22"/>
    <p:sldId id="511" r:id="rId23"/>
    <p:sldId id="512" r:id="rId24"/>
    <p:sldId id="309" r:id="rId25"/>
    <p:sldId id="311" r:id="rId26"/>
    <p:sldId id="312" r:id="rId27"/>
    <p:sldId id="313" r:id="rId28"/>
    <p:sldId id="314" r:id="rId29"/>
    <p:sldId id="513" r:id="rId30"/>
    <p:sldId id="540" r:id="rId31"/>
    <p:sldId id="316" r:id="rId32"/>
    <p:sldId id="317" r:id="rId33"/>
    <p:sldId id="323" r:id="rId34"/>
    <p:sldId id="318" r:id="rId35"/>
    <p:sldId id="514" r:id="rId36"/>
    <p:sldId id="319" r:id="rId37"/>
    <p:sldId id="320" r:id="rId38"/>
    <p:sldId id="321" r:id="rId39"/>
    <p:sldId id="424" r:id="rId40"/>
    <p:sldId id="451" r:id="rId41"/>
    <p:sldId id="516" r:id="rId42"/>
  </p:sldIdLst>
  <p:sldSz cx="9144000" cy="6858000" type="screen4x3"/>
  <p:notesSz cx="6858000" cy="9144000"/>
  <p:custShowLst>
    <p:custShow name="自定义放映2-1" id="0">
      <p:sldLst>
        <p:sld r:id="rId40"/>
      </p:sldLst>
    </p:custShow>
    <p:custShow name="自定义放映11" id="1">
      <p:sldLst/>
    </p:custShow>
    <p:custShow name="自定义放映12" id="2">
      <p:sldLst/>
    </p:custShow>
    <p:custShow name="自定义放映13" id="3">
      <p:sldLst/>
    </p:custShow>
    <p:custShow name="自定义放映1" id="4">
      <p:sldLst/>
    </p:custShow>
    <p:custShow name="自定义放映14" id="5">
      <p:sldLst/>
    </p:custShow>
    <p:custShow name="自定义放映15" id="6">
      <p:sldLst/>
    </p:custShow>
    <p:custShow name="2-3" id="7">
      <p:sldLst>
        <p:sld r:id="rId41"/>
      </p:sldLst>
    </p:custShow>
    <p:custShow name="自定义放映21" id="8">
      <p:sldLst/>
    </p:custShow>
    <p:custShow name="自定义放映2" id="9">
      <p:sldLst/>
    </p:custShow>
    <p:custShow name="自定义放映22" id="10">
      <p:sldLst/>
    </p:custShow>
    <p:custShow name="自定义放映23" id="11">
      <p:sldLst/>
    </p:custShow>
    <p:custShow name="cookie" id="12">
      <p:sldLst/>
    </p:custShow>
    <p:custShow name="自定义放映24" id="13">
      <p:sldLst/>
    </p:custShow>
    <p:custShow name="自定义放映25" id="14">
      <p:sldLst/>
    </p:custShow>
    <p:custShow name="自定义放映26" id="15">
      <p:sldLst/>
    </p:custShow>
    <p:custShow name="自定义放映27" id="16">
      <p:sldLst/>
    </p:custShow>
    <p:custShow name="自定义放映3" id="17">
      <p:sldLst/>
    </p:custShow>
    <p:custShow name="自定义放41" id="18">
      <p:sldLst/>
    </p:custShow>
    <p:custShow name="自定义放映43" id="19">
      <p:sldLst/>
    </p:custShow>
    <p:custShow name="自定义放映42" id="20">
      <p:sldLst/>
    </p:custShow>
    <p:custShow name="自定义放映44" id="21">
      <p:sldLst/>
    </p:custShow>
    <p:custShow name="自定义放映4" id="22">
      <p:sldLst/>
    </p:custShow>
    <p:custShow name="自定义放映5" id="23">
      <p:sldLst>
        <p:sld r:id="rId6"/>
        <p:sld r:id="rId7"/>
        <p:sld r:id="rId8"/>
        <p:sld r:id="rId9"/>
        <p:sld r:id="rId10"/>
      </p:sldLst>
    </p:custShow>
    <p:custShow name="2-6例" id="24">
      <p:sldLst>
        <p:sld r:id="rId14"/>
      </p:sldLst>
    </p:custShow>
    <p:custShow name="25-1" id="25">
      <p:sldLst/>
    </p:custShow>
    <p:custShow name="25-2" id="26">
      <p:sldLst/>
    </p:custShow>
    <p:custShow name="自定义放映61" id="27">
      <p:sldLst/>
    </p:custShow>
    <p:custShow name="自定义放映62" id="28">
      <p:sldLst/>
    </p:custShow>
    <p:custShow name="自定义放映63" id="29">
      <p:sldLst/>
    </p:custShow>
    <p:custShow name="自定义放映6" id="30">
      <p:sldLst>
        <p:sld r:id="rId13"/>
        <p:sld r:id="rId15"/>
      </p:sldLst>
    </p:custShow>
    <p:custShow name="t28" id="31">
      <p:sldLst>
        <p:sld r:id="rId24"/>
      </p:sldLst>
    </p:custShow>
    <p:custShow name="自定义放映7" id="32">
      <p:sldLst>
        <p:sld r:id="rId16"/>
        <p:sld r:id="rId17"/>
        <p:sld r:id="rId18"/>
        <p:sld r:id="rId19"/>
        <p:sld r:id="rId20"/>
        <p:sld r:id="rId21"/>
        <p:sld r:id="rId22"/>
        <p:sld r:id="rId23"/>
        <p:sld r:id="rId24"/>
        <p:sld r:id="rId25"/>
        <p:sld r:id="rId26"/>
        <p:sld r:id="rId27"/>
        <p:sld r:id="rId28"/>
        <p:sld r:id="rId29"/>
      </p:sldLst>
    </p:custShow>
    <p:custShow name="自定义放映8" id="33">
      <p:sldLst>
        <p:sld r:id="rId30"/>
        <p:sld r:id="rId31"/>
        <p:sld r:id="rId32"/>
        <p:sld r:id="rId33"/>
        <p:sld r:id="rId34"/>
        <p:sld r:id="rId35"/>
        <p:sld r:id="rId36"/>
        <p:sld r:id="rId37"/>
        <p:sld r:id="rId38"/>
      </p:sldLst>
    </p:custShow>
    <p:custShow name="t18" id="34">
      <p:sldLst>
        <p:sld r:id="rId11"/>
      </p:sldLst>
    </p:custShow>
    <p:custShow name="自定义放映10" id="35">
      <p:sldLst>
        <p:sld r:id="rId39"/>
      </p:sldLst>
    </p:custShow>
  </p:custShowLst>
  <p:custDataLst>
    <p:tags r:id="rId47"/>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55" userDrawn="1">
          <p15:clr>
            <a:srgbClr val="A4A3A4"/>
          </p15:clr>
        </p15:guide>
        <p15:guide id="2" pos="2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339933"/>
    <a:srgbClr val="FFFF00"/>
    <a:srgbClr val="DDDDDD"/>
    <a:srgbClr val="FFCCFF"/>
    <a:srgbClr val="FF3300"/>
    <a:srgbClr val="33CC33"/>
    <a:srgbClr val="FF6699"/>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42"/>
    <p:restoredTop sz="83015"/>
  </p:normalViewPr>
  <p:slideViewPr>
    <p:cSldViewPr snapToGrid="0" showGuides="1">
      <p:cViewPr varScale="1">
        <p:scale>
          <a:sx n="95" d="100"/>
          <a:sy n="95" d="100"/>
        </p:scale>
        <p:origin x="2064" y="96"/>
      </p:cViewPr>
      <p:guideLst>
        <p:guide orient="horz" pos="2155"/>
        <p:guide pos="2838"/>
      </p:guideLst>
    </p:cSldViewPr>
  </p:slideViewPr>
  <p:outlineViewPr>
    <p:cViewPr>
      <p:scale>
        <a:sx n="33" d="100"/>
        <a:sy n="33" d="100"/>
      </p:scale>
      <p:origin x="0" y="-176724"/>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7" Type="http://schemas.openxmlformats.org/officeDocument/2006/relationships/tags" Target="tags/tag1.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649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499"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500"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501"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86C7E3BD-03FD-4C97-85E3-F4782F915CD4}"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a:spcBef>
                <a:spcPct val="0"/>
              </a:spcBef>
              <a:buClrTx/>
              <a:buSzTx/>
              <a:buFontTx/>
              <a:buNone/>
              <a:defRPr sz="1200" b="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a:defRPr sz="12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75FDB64-333A-4618-9A51-D8C34C753307}"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3" name="Rectangle 2"/>
          <p:cNvSpPr>
            <a:spLocks noTextEdit="1"/>
          </p:cNvSpPr>
          <p:nvPr>
            <p:ph type="sldImg"/>
          </p:nvPr>
        </p:nvSpPr>
        <p:spPr>
          <a:ln/>
        </p:spPr>
      </p:sp>
      <p:sp>
        <p:nvSpPr>
          <p:cNvPr id="2048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在这种情况下，</a:t>
            </a:r>
            <a:r>
              <a:rPr kumimoji="0" lang="en-US" altLang="zh-CN" sz="1200" b="1" i="0" u="none" strike="noStrike" kern="1200" cap="none" spc="0" normalizeH="0" baseline="0" noProof="0" dirty="0">
                <a:ln>
                  <a:noFill/>
                </a:ln>
                <a:solidFill>
                  <a:schemeClr val="tx1"/>
                </a:solidFill>
                <a:effectLst/>
                <a:uLnTx/>
                <a:uFillTx/>
                <a:latin typeface="+mj-ea"/>
                <a:ea typeface="+mj-ea"/>
                <a:cs typeface="+mn-cs"/>
              </a:rPr>
              <a:t>aaa.xxx.com</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也称为</a:t>
            </a:r>
            <a:r>
              <a:rPr kumimoji="0" lang="zh-CN" altLang="en-US"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规范主机名</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b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b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主机别名（当存在时）比主机规范名更加容易记忆。</a:t>
            </a:r>
            <a:r>
              <a:rPr kumimoji="0" lang="zh-CN" altLang="en-US"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应用程序可以调用</a:t>
            </a:r>
            <a:r>
              <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DNS</a:t>
            </a:r>
            <a:r>
              <a:rPr kumimoji="0" lang="zh-CN" altLang="en-US"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来获得主机别名对应的规范主机名以及主机的</a:t>
            </a:r>
            <a:r>
              <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IP</a:t>
            </a:r>
            <a:r>
              <a:rPr kumimoji="0" lang="zh-CN" altLang="en-US"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地址。</a:t>
            </a: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675" name="Rectangle 2"/>
          <p:cNvSpPr>
            <a:spLocks noTextEdit="1"/>
          </p:cNvSpPr>
          <p:nvPr>
            <p:ph type="sldImg"/>
          </p:nvPr>
        </p:nvSpPr>
        <p:spPr>
          <a:ln/>
        </p:spPr>
      </p:sp>
      <p:sp>
        <p:nvSpPr>
          <p:cNvPr id="28676" name="Rectangle 3"/>
          <p:cNvSpPr>
            <a:spLocks noGrp="1"/>
          </p:cNvSpPr>
          <p:nvPr>
            <p:ph type="body" idx="1"/>
          </p:nvPr>
        </p:nvSpPr>
        <p:spPr>
          <a:ln/>
        </p:spPr>
        <p:txBody>
          <a:bodyPr wrap="square" lIns="91440" tIns="45720" rIns="91440" bIns="45720" anchor="t" anchorCtr="0"/>
          <a:p>
            <a:pPr lvl="0" eaLnBrk="1" hangingPunct="1"/>
            <a:r>
              <a:rPr lang="zh-CN" altLang="en-US" dirty="0"/>
              <a:t>互联网的顶级域名解析服务由根服务器完成，根服务器对网络安全、运行稳定至关重要，被称为互联网的“中枢神经”。</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867" name="Rectangle 2"/>
          <p:cNvSpPr>
            <a:spLocks noTextEdit="1"/>
          </p:cNvSpPr>
          <p:nvPr>
            <p:ph type="sldImg"/>
          </p:nvPr>
        </p:nvSpPr>
        <p:spPr>
          <a:ln/>
        </p:spPr>
      </p:sp>
      <p:sp>
        <p:nvSpPr>
          <p:cNvPr id="3686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TextEdit="1"/>
          </p:cNvSpPr>
          <p:nvPr>
            <p:ph type="sldImg"/>
          </p:nvPr>
        </p:nvSpPr>
        <p:spPr>
          <a:ln/>
        </p:spPr>
      </p:sp>
      <p:sp>
        <p:nvSpPr>
          <p:cNvPr id="4198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059" name="Rectangle 2"/>
          <p:cNvSpPr>
            <a:spLocks noTextEdit="1"/>
          </p:cNvSpPr>
          <p:nvPr>
            <p:ph type="sldImg"/>
          </p:nvPr>
        </p:nvSpPr>
        <p:spPr>
          <a:ln/>
        </p:spPr>
      </p:sp>
      <p:sp>
        <p:nvSpPr>
          <p:cNvPr id="450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107" name="Rectangle 2"/>
          <p:cNvSpPr>
            <a:spLocks noTextEdit="1"/>
          </p:cNvSpPr>
          <p:nvPr>
            <p:ph type="sldImg"/>
          </p:nvPr>
        </p:nvSpPr>
        <p:spPr>
          <a:ln/>
        </p:spPr>
      </p:sp>
      <p:sp>
        <p:nvSpPr>
          <p:cNvPr id="471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9155" name="Rectangle 2"/>
          <p:cNvSpPr>
            <a:spLocks noTextEdit="1"/>
          </p:cNvSpPr>
          <p:nvPr>
            <p:ph type="sldImg"/>
          </p:nvPr>
        </p:nvSpPr>
        <p:spPr>
          <a:ln/>
        </p:spPr>
      </p:sp>
      <p:sp>
        <p:nvSpPr>
          <p:cNvPr id="4915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03" name="Rectangle 2"/>
          <p:cNvSpPr>
            <a:spLocks noTextEdit="1"/>
          </p:cNvSpPr>
          <p:nvPr>
            <p:ph type="sldImg"/>
          </p:nvPr>
        </p:nvSpPr>
        <p:spPr>
          <a:ln/>
        </p:spPr>
      </p:sp>
      <p:sp>
        <p:nvSpPr>
          <p:cNvPr id="5120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3251" name="Rectangle 2"/>
          <p:cNvSpPr>
            <a:spLocks noTextEdit="1"/>
          </p:cNvSpPr>
          <p:nvPr>
            <p:ph type="sldImg"/>
          </p:nvPr>
        </p:nvSpPr>
        <p:spPr>
          <a:ln/>
        </p:spPr>
      </p:sp>
      <p:sp>
        <p:nvSpPr>
          <p:cNvPr id="5325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5299" name="Rectangle 2"/>
          <p:cNvSpPr>
            <a:spLocks noTextEdit="1"/>
          </p:cNvSpPr>
          <p:nvPr>
            <p:ph type="sldImg"/>
          </p:nvPr>
        </p:nvSpPr>
        <p:spPr>
          <a:ln/>
        </p:spPr>
      </p:sp>
      <p:sp>
        <p:nvSpPr>
          <p:cNvPr id="5530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9395" name="Rectangle 2"/>
          <p:cNvSpPr>
            <a:spLocks noTextEdit="1"/>
          </p:cNvSpPr>
          <p:nvPr>
            <p:ph type="sldImg"/>
          </p:nvPr>
        </p:nvSpPr>
        <p:spPr>
          <a:ln/>
        </p:spPr>
      </p:sp>
      <p:sp>
        <p:nvSpPr>
          <p:cNvPr id="59396"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1443" name="Rectangle 2"/>
          <p:cNvSpPr>
            <a:spLocks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3491" name="Rectangle 2"/>
          <p:cNvSpPr>
            <a:spLocks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5539" name="Rectangle 2"/>
          <p:cNvSpPr>
            <a:spLocks noTextEdit="1"/>
          </p:cNvSpPr>
          <p:nvPr>
            <p:ph type="sldImg"/>
          </p:nvPr>
        </p:nvSpPr>
        <p:spPr>
          <a:ln/>
        </p:spPr>
      </p:sp>
      <p:sp>
        <p:nvSpPr>
          <p:cNvPr id="6554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a:ln/>
        </p:spPr>
      </p:sp>
      <p:sp>
        <p:nvSpPr>
          <p:cNvPr id="68612"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TextEdit="1"/>
          </p:cNvSpPr>
          <p:nvPr>
            <p:ph type="sldImg"/>
          </p:nvPr>
        </p:nvSpPr>
        <p:spPr>
          <a:ln/>
        </p:spPr>
      </p:sp>
      <p:sp>
        <p:nvSpPr>
          <p:cNvPr id="70660"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TextEdit="1"/>
          </p:cNvSpPr>
          <p:nvPr>
            <p:ph type="sldImg"/>
          </p:nvPr>
        </p:nvSpPr>
        <p:spPr>
          <a:ln/>
        </p:spPr>
      </p:sp>
      <p:sp>
        <p:nvSpPr>
          <p:cNvPr id="72708"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9" name="矩形 18"/>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0" name="矩形 19"/>
          <p:cNvSpPr/>
          <p:nvPr/>
        </p:nvSpPr>
        <p:spPr>
          <a:xfrm flipV="1">
            <a:off x="5410200" y="3897313"/>
            <a:ext cx="3733800" cy="192088"/>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矩形 20"/>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2" name="矩形 21"/>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4" name="矩形 23"/>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useBgFill="1">
        <p:nvSpPr>
          <p:cNvPr id="25" name="圆角矩形 24"/>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useBgFill="1">
        <p:nvSpPr>
          <p:cNvPr id="26" name="圆角矩形 25"/>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7" name="矩形 26"/>
          <p:cNvSpPr/>
          <p:nvPr/>
        </p:nvSpPr>
        <p:spPr>
          <a:xfrm>
            <a:off x="0" y="3822700"/>
            <a:ext cx="9144000" cy="134302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41" name="矩形 40"/>
          <p:cNvSpPr/>
          <p:nvPr/>
        </p:nvSpPr>
        <p:spPr>
          <a:xfrm>
            <a:off x="0" y="3675063"/>
            <a:ext cx="9144000" cy="1412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42" name="矩形 41"/>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2060" name="Picture 42"/>
          <p:cNvPicPr>
            <a:picLocks noChangeAspect="1"/>
          </p:cNvPicPr>
          <p:nvPr/>
        </p:nvPicPr>
        <p:blipFill>
          <a:blip r:embed="rId2"/>
          <a:stretch>
            <a:fillRect/>
          </a:stretch>
        </p:blipFill>
        <p:spPr>
          <a:xfrm>
            <a:off x="11113" y="-6350"/>
            <a:ext cx="9144000" cy="3821113"/>
          </a:xfrm>
          <a:prstGeom prst="rect">
            <a:avLst/>
          </a:prstGeom>
          <a:noFill/>
          <a:ln w="9525">
            <a:noFill/>
          </a:ln>
        </p:spPr>
      </p:pic>
      <p:sp>
        <p:nvSpPr>
          <p:cNvPr id="8" name="标题 7"/>
          <p:cNvSpPr>
            <a:spLocks noGrp="1"/>
          </p:cNvSpPr>
          <p:nvPr>
            <p:ph type="ctrTitle"/>
          </p:nvPr>
        </p:nvSpPr>
        <p:spPr>
          <a:xfrm>
            <a:off x="342900" y="1187640"/>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179512" y="5301208"/>
            <a:ext cx="4953000" cy="945545"/>
          </a:xfrm>
        </p:spPr>
        <p:txBody>
          <a:bodyPr/>
          <a:lstStyle>
            <a:lvl1pPr marL="64135" indent="0" algn="l">
              <a:buNone/>
              <a:defRPr sz="2400">
                <a:solidFill>
                  <a:schemeClr val="tx2"/>
                </a:solidFill>
                <a:latin typeface="微软雅黑" panose="020B0503020204020204" pitchFamily="34" charset="-122"/>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44" name="日期占位符 27"/>
          <p:cNvSpPr>
            <a:spLocks noGrp="1"/>
          </p:cNvSpPr>
          <p:nvPr>
            <p:ph type="dt" sz="half" idx="2"/>
          </p:nvPr>
        </p:nvSpPr>
        <p:spPr>
          <a:xfrm>
            <a:off x="6705600" y="4206875"/>
            <a:ext cx="960438"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45" name="页脚占位符 16"/>
          <p:cNvSpPr>
            <a:spLocks noGrp="1"/>
          </p:cNvSpPr>
          <p:nvPr>
            <p:ph type="ftr" sz="quarter" idx="3"/>
          </p:nvPr>
        </p:nvSpPr>
        <p:spPr>
          <a:xfrm>
            <a:off x="5410200" y="4205288"/>
            <a:ext cx="1295400"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46" name="灯片编号占位符 28"/>
          <p:cNvSpPr>
            <a:spLocks noGrp="1"/>
          </p:cNvSpPr>
          <p:nvPr>
            <p:ph type="sldNum" sz="quarter" idx="4"/>
          </p:nvPr>
        </p:nvSpPr>
        <p:spPr>
          <a:xfrm>
            <a:off x="8320088" y="1588"/>
            <a:ext cx="747713" cy="365125"/>
          </a:xfrm>
          <a:prstGeom prst="rect">
            <a:avLst/>
          </a:prstGeom>
        </p:spPr>
        <p:txBody>
          <a:bodyPr vert="horz" wrap="square" lIns="91440" tIns="45720" rIns="91440" bIns="45720" numCol="1" anchor="b" anchorCtr="0" compatLnSpc="1"/>
          <a:lstStyle>
            <a:lvl1pPr>
              <a:defRPr>
                <a:solidFill>
                  <a:schemeClr val="bg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5D6A441-26E4-4981-A9DC-B870FCE36720}" type="slidenum">
              <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标题和内容">
    <p:bg>
      <p:bgPr>
        <a:solidFill>
          <a:schemeClr val="bg1"/>
        </a:solidFill>
        <a:effectLst/>
      </p:bgPr>
    </p:bg>
    <p:spTree>
      <p:nvGrpSpPr>
        <p:cNvPr id="1" name=""/>
        <p:cNvGrpSpPr/>
        <p:nvPr/>
      </p:nvGrpSpPr>
      <p:grpSpPr>
        <a:xfrm>
          <a:off x="0" y="0"/>
          <a:ext cx="0" cy="0"/>
          <a:chOff x="0" y="0"/>
          <a:chExt cx="0" cy="0"/>
        </a:xfrm>
      </p:grpSpPr>
      <p:pic>
        <p:nvPicPr>
          <p:cNvPr id="3074" name="Picture 18"/>
          <p:cNvPicPr>
            <a:picLocks noChangeAspect="1"/>
          </p:cNvPicPr>
          <p:nvPr/>
        </p:nvPicPr>
        <p:blipFill>
          <a:blip r:embed="rId2"/>
          <a:stretch>
            <a:fillRect/>
          </a:stretch>
        </p:blipFill>
        <p:spPr>
          <a:xfrm>
            <a:off x="0" y="-53975"/>
            <a:ext cx="9144000" cy="1163638"/>
          </a:xfrm>
          <a:prstGeom prst="rect">
            <a:avLst/>
          </a:prstGeom>
          <a:noFill/>
          <a:ln w="9525">
            <a:noFill/>
          </a:ln>
        </p:spPr>
      </p:pic>
      <p:sp>
        <p:nvSpPr>
          <p:cNvPr id="3" name="内容占位符 2"/>
          <p:cNvSpPr>
            <a:spLocks noGrp="1"/>
          </p:cNvSpPr>
          <p:nvPr>
            <p:ph idx="1"/>
          </p:nvPr>
        </p:nvSpPr>
        <p:spPr>
          <a:xfrm>
            <a:off x="325438" y="1988840"/>
            <a:ext cx="8361362" cy="4680520"/>
          </a:xfrm>
        </p:spPr>
        <p:txBody>
          <a:bodyPr/>
          <a:lstStyle>
            <a:lvl1pPr>
              <a:spcAft>
                <a:spcPts val="600"/>
              </a:spcAft>
              <a:defRPr sz="2600"/>
            </a:lvl1pPr>
            <a:lvl2pPr>
              <a:spcBef>
                <a:spcPts val="600"/>
              </a:spcBef>
              <a:spcAft>
                <a:spcPts val="600"/>
              </a:spcAft>
              <a:defRPr sz="2200">
                <a:solidFill>
                  <a:schemeClr val="tx1"/>
                </a:solidFill>
              </a:defRPr>
            </a:lvl2pPr>
            <a:lvl3pPr>
              <a:spcBef>
                <a:spcPts val="600"/>
              </a:spcBef>
              <a:spcAft>
                <a:spcPts val="600"/>
              </a:spcAft>
              <a:defRPr sz="2000">
                <a:solidFill>
                  <a:schemeClr val="tx1"/>
                </a:solidFill>
              </a:defRPr>
            </a:lvl3pPr>
            <a:lvl4pPr>
              <a:spcBef>
                <a:spcPts val="600"/>
              </a:spcBef>
              <a:spcAft>
                <a:spcPts val="600"/>
              </a:spcAft>
              <a:defRPr sz="1800">
                <a:solidFill>
                  <a:schemeClr val="tx1"/>
                </a:solidFill>
              </a:defRPr>
            </a:lvl4pPr>
            <a:lvl5pPr>
              <a:spcBef>
                <a:spcPts val="600"/>
              </a:spcBef>
              <a:spcAft>
                <a:spcPts val="600"/>
              </a:spcAft>
              <a:defRPr sz="1600">
                <a:solidFill>
                  <a:schemeClr val="tx1"/>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Title 6"/>
          <p:cNvSpPr>
            <a:spLocks noGrp="1"/>
          </p:cNvSpPr>
          <p:nvPr>
            <p:ph type="title"/>
          </p:nvPr>
        </p:nvSpPr>
        <p:spPr>
          <a:xfrm>
            <a:off x="325438" y="987908"/>
            <a:ext cx="8229600" cy="807169"/>
          </a:xfrm>
        </p:spPr>
        <p:txBody>
          <a:bodyPr/>
          <a:lstStyle>
            <a:lvl1pPr>
              <a:defRPr sz="3200" baseline="0"/>
            </a:lvl1pPr>
          </a:lstStyle>
          <a:p>
            <a:r>
              <a:rPr lang="zh-CN" altLang="en-US"/>
              <a:t>单击此处编辑母版标题样式</a:t>
            </a:r>
            <a:endParaRPr lang="zh-CN" altLang="en-US" dirty="0"/>
          </a:p>
        </p:txBody>
      </p:sp>
      <p:sp>
        <p:nvSpPr>
          <p:cNvPr id="20" name="Slide Number Placeholder 7"/>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7E4E1E-8DE1-44AD-9885-4AB700587460}"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19" name="日期占位符 3"/>
          <p:cNvSpPr>
            <a:spLocks noGrp="1"/>
          </p:cNvSpPr>
          <p:nvPr>
            <p:ph type="dt" sz="half" idx="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4"/>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5"/>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5408621-3B40-4380-9480-90512BE58895}"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9" name="日期占位符 4"/>
          <p:cNvSpPr>
            <a:spLocks noGrp="1"/>
          </p:cNvSpPr>
          <p:nvPr>
            <p:ph type="dt" sz="half" idx="1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74F903-0DFA-4A24-9444-89520B3D9A28}"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9AAD65B-CCAE-4F49-94B1-44C63C8DB464}"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19" name="日期占位符 2"/>
          <p:cNvSpPr>
            <a:spLocks noGrp="1"/>
          </p:cNvSpPr>
          <p:nvPr>
            <p:ph type="dt" sz="half" idx="2"/>
          </p:nvPr>
        </p:nvSpPr>
        <p:spPr>
          <a:xfrm>
            <a:off x="6583363"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3"/>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4"/>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CAC22E7-54AF-4A26-ABCC-7A47CD531F6B}"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9" name="日期占位符 1"/>
          <p:cNvSpPr>
            <a:spLocks noGrp="1"/>
          </p:cNvSpPr>
          <p:nvPr>
            <p:ph type="dt" sz="half" idx="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2"/>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3"/>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57A2BBB-30CF-47C8-90A1-1B4C2D629216}"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8890"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9" name="日期占位符 4"/>
          <p:cNvSpPr>
            <a:spLocks noGrp="1"/>
          </p:cNvSpPr>
          <p:nvPr>
            <p:ph type="dt" sz="half" idx="1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685A525-93C9-4F3B-B3DA-C07C8F4C71B8}"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300"/>
              </a:spcBef>
              <a:spcAft>
                <a:spcPct val="0"/>
              </a:spcAft>
              <a:buClr>
                <a:srgbClr val="A04DA3"/>
              </a:buClr>
              <a:buSzTx/>
              <a:buFont typeface="Georgia" panose="02040502050405020303" pitchFamily="18"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endParaRPr lang="zh-CN" altLang="en-US"/>
          </a:p>
        </p:txBody>
      </p:sp>
      <p:sp>
        <p:nvSpPr>
          <p:cNvPr id="19" name="日期占位符 4"/>
          <p:cNvSpPr>
            <a:spLocks noGrp="1"/>
          </p:cNvSpPr>
          <p:nvPr>
            <p:ph type="dt" sz="half" idx="1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C099ABF-195B-40B5-9CFA-328A5F2808A5}"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9" name="日期占位符 3"/>
          <p:cNvSpPr>
            <a:spLocks noGrp="1"/>
          </p:cNvSpPr>
          <p:nvPr>
            <p:ph type="dt" sz="half" idx="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4"/>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5"/>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69520A7-9536-4A07-A462-07B68F057241}"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19" name="日期占位符 3"/>
          <p:cNvSpPr>
            <a:spLocks noGrp="1"/>
          </p:cNvSpPr>
          <p:nvPr>
            <p:ph type="dt" sz="half" idx="2"/>
          </p:nvPr>
        </p:nvSpPr>
        <p:spPr>
          <a:xfrm>
            <a:off x="6586538" y="612775"/>
            <a:ext cx="9572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4"/>
          <p:cNvSpPr>
            <a:spLocks noGrp="1"/>
          </p:cNvSpPr>
          <p:nvPr>
            <p:ph type="ftr" sz="quarter" idx="3"/>
          </p:nvPr>
        </p:nvSpPr>
        <p:spPr>
          <a:xfrm>
            <a:off x="5257800" y="612775"/>
            <a:ext cx="1325563" cy="457200"/>
          </a:xfrm>
          <a:prstGeom prst="rect">
            <a:avLst/>
          </a:prstGeom>
        </p:spPr>
        <p:txBody>
          <a:bodyPr/>
          <a:lstStyle>
            <a:lvl1pPr eaLnBrk="1" hangingPunct="1">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5"/>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08D44D7-5756-4F9C-AAF6-D064F1A1E1DB}"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标题，内容与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34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4958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9" name="日期占位符 4"/>
          <p:cNvSpPr>
            <a:spLocks noGrp="1"/>
          </p:cNvSpPr>
          <p:nvPr>
            <p:ph type="dt" sz="half" idx="12"/>
          </p:nvPr>
        </p:nvSpPr>
        <p:spPr>
          <a:xfrm>
            <a:off x="685800" y="6248400"/>
            <a:ext cx="19050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410200" y="6400800"/>
            <a:ext cx="28956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305800" y="6400800"/>
            <a:ext cx="4572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05B312E-BE94-49F9-B594-CEF22200BC99}"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34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4958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9" name="日期占位符 4"/>
          <p:cNvSpPr>
            <a:spLocks noGrp="1"/>
          </p:cNvSpPr>
          <p:nvPr>
            <p:ph type="dt" sz="half" idx="12"/>
          </p:nvPr>
        </p:nvSpPr>
        <p:spPr>
          <a:xfrm>
            <a:off x="685800" y="6248400"/>
            <a:ext cx="19050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410200" y="6400800"/>
            <a:ext cx="28956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305800" y="6400800"/>
            <a:ext cx="4572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98D6242-86E1-4FD4-B778-C637441F487F}"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标题，文本与图表">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34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图表占位符 3"/>
          <p:cNvSpPr>
            <a:spLocks noGrp="1"/>
          </p:cNvSpPr>
          <p:nvPr>
            <p:ph type="chart" sz="half" idx="2"/>
          </p:nvPr>
        </p:nvSpPr>
        <p:spPr>
          <a:xfrm>
            <a:off x="4495800" y="1600200"/>
            <a:ext cx="3810000" cy="4648200"/>
          </a:xfrm>
        </p:spPr>
        <p:txBody>
          <a:bodyPr vert="horz" wrap="square" lIns="91440" tIns="45720" rIns="91440" bIns="45720" numCol="1" anchor="t" anchorCtr="0" compatLnSpc="1"/>
          <a:lstStyle/>
          <a:p>
            <a:pPr marL="365125" marR="0" lvl="0" indent="-255905" algn="l" defTabSz="914400" rtl="0" eaLnBrk="0" fontAlgn="base" latinLnBrk="0" hangingPunct="0">
              <a:lnSpc>
                <a:spcPct val="100000"/>
              </a:lnSpc>
              <a:spcBef>
                <a:spcPts val="300"/>
              </a:spcBef>
              <a:spcAft>
                <a:spcPct val="0"/>
              </a:spcAft>
              <a:buClr>
                <a:srgbClr val="A04DA3"/>
              </a:buClr>
              <a:buSzTx/>
              <a:buFont typeface="Georgia" panose="02040502050405020303" pitchFamily="18"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9" name="日期占位符 4"/>
          <p:cNvSpPr>
            <a:spLocks noGrp="1"/>
          </p:cNvSpPr>
          <p:nvPr>
            <p:ph type="dt" sz="half" idx="12"/>
          </p:nvPr>
        </p:nvSpPr>
        <p:spPr>
          <a:xfrm>
            <a:off x="685800" y="6248400"/>
            <a:ext cx="19050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410200" y="6400800"/>
            <a:ext cx="28956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305800" y="6400800"/>
            <a:ext cx="4572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B248E20-344D-4062-A062-17C4A13EB64D}"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3400" y="1600200"/>
            <a:ext cx="7772400" cy="22479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533400" y="4000500"/>
            <a:ext cx="7772400" cy="22479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9" name="日期占位符 4"/>
          <p:cNvSpPr>
            <a:spLocks noGrp="1"/>
          </p:cNvSpPr>
          <p:nvPr>
            <p:ph type="dt" sz="half" idx="12"/>
          </p:nvPr>
        </p:nvSpPr>
        <p:spPr>
          <a:xfrm>
            <a:off x="685800" y="6248400"/>
            <a:ext cx="19050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0" name="页脚占位符 5"/>
          <p:cNvSpPr>
            <a:spLocks noGrp="1"/>
          </p:cNvSpPr>
          <p:nvPr>
            <p:ph type="ftr" sz="quarter" idx="3"/>
          </p:nvPr>
        </p:nvSpPr>
        <p:spPr>
          <a:xfrm>
            <a:off x="5410200" y="6400800"/>
            <a:ext cx="2895600" cy="4572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隶书" panose="02010509060101010101" pitchFamily="49" charset="-122"/>
              <a:cs typeface="+mn-cs"/>
            </a:endParaRPr>
          </a:p>
        </p:txBody>
      </p:sp>
      <p:sp>
        <p:nvSpPr>
          <p:cNvPr id="21" name="灯片编号占位符 6"/>
          <p:cNvSpPr>
            <a:spLocks noGrp="1"/>
          </p:cNvSpPr>
          <p:nvPr>
            <p:ph type="sldNum" sz="quarter" idx="4"/>
          </p:nvPr>
        </p:nvSpPr>
        <p:spPr>
          <a:xfrm>
            <a:off x="8305800" y="6400800"/>
            <a:ext cx="4572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3AD7E3C-217C-4FB6-9A7E-7EBB82CDD52B}"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 name="矩形 27"/>
          <p:cNvSpPr/>
          <p:nvPr/>
        </p:nvSpPr>
        <p:spPr>
          <a:xfrm>
            <a:off x="0" y="366713"/>
            <a:ext cx="9144000" cy="84138"/>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9" name="矩形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0" name="矩形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1" name="矩形 30"/>
          <p:cNvSpPr/>
          <p:nvPr/>
        </p:nvSpPr>
        <p:spPr>
          <a:xfrm flipV="1">
            <a:off x="5410200" y="360363"/>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2" name="矩形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useBgFill="1">
        <p:nvSpPr>
          <p:cNvPr id="33" name="圆角矩形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useBgFill="1">
        <p:nvSpPr>
          <p:cNvPr id="34" name="圆角矩形 33"/>
          <p:cNvSpPr/>
          <p:nvPr/>
        </p:nvSpPr>
        <p:spPr bwMode="white">
          <a:xfrm>
            <a:off x="7373938" y="588963"/>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5" name="矩形 34"/>
          <p:cNvSpPr/>
          <p:nvPr/>
        </p:nvSpPr>
        <p:spPr bwMode="invGray">
          <a:xfrm>
            <a:off x="9085263" y="-1587"/>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6" name="矩形 35"/>
          <p:cNvSpPr/>
          <p:nvPr/>
        </p:nvSpPr>
        <p:spPr bwMode="invGray">
          <a:xfrm>
            <a:off x="9043988" y="-1587"/>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7" name="矩形 36"/>
          <p:cNvSpPr/>
          <p:nvPr/>
        </p:nvSpPr>
        <p:spPr bwMode="invGray">
          <a:xfrm>
            <a:off x="9024938" y="-1587"/>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8" name="矩形 37"/>
          <p:cNvSpPr/>
          <p:nvPr/>
        </p:nvSpPr>
        <p:spPr bwMode="invGray">
          <a:xfrm>
            <a:off x="8975725" y="-1587"/>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40" name="矩形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1039" name="标题占位符 21"/>
          <p:cNvSpPr>
            <a:spLocks noGrp="1"/>
          </p:cNvSpPr>
          <p:nvPr>
            <p:ph type="title"/>
          </p:nvPr>
        </p:nvSpPr>
        <p:spPr>
          <a:xfrm>
            <a:off x="457200" y="576263"/>
            <a:ext cx="8229600" cy="1066800"/>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1040" name="文本占位符 12"/>
          <p:cNvSpPr>
            <a:spLocks noGrp="1"/>
          </p:cNvSpPr>
          <p:nvPr>
            <p:ph type="body" idx="1"/>
          </p:nvPr>
        </p:nvSpPr>
        <p:spPr>
          <a:xfrm>
            <a:off x="457200" y="1785938"/>
            <a:ext cx="8229600" cy="47879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23" name="灯片编号占位符 22"/>
          <p:cNvSpPr>
            <a:spLocks noGrp="1"/>
          </p:cNvSpPr>
          <p:nvPr>
            <p:ph type="sldNum" sz="quarter" idx="4"/>
          </p:nvPr>
        </p:nvSpPr>
        <p:spPr>
          <a:xfrm>
            <a:off x="8174038" y="1588"/>
            <a:ext cx="762000" cy="366713"/>
          </a:xfrm>
          <a:prstGeom prst="rect">
            <a:avLst/>
          </a:prstGeom>
        </p:spPr>
        <p:txBody>
          <a:bodyPr vert="horz" wrap="square" lIns="91440" tIns="45720" rIns="91440" bIns="45720" numCol="1" anchor="b" anchorCtr="0" compatLnSpc="1"/>
          <a:lstStyle>
            <a:lvl1pPr algn="r" eaLnBrk="1" hangingPunct="1">
              <a:defRPr kumimoji="0" sz="1800">
                <a:solidFill>
                  <a:srgbClr val="FFFFFF"/>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AAD65B-CCAE-4F49-94B1-44C63C8DB464}" type="slidenum">
              <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rPr>
            </a:fld>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隶书" panose="02010509060101010101" pitchFamily="49" charset="-122"/>
              <a:cs typeface="+mn-cs"/>
            </a:endParaRPr>
          </a:p>
        </p:txBody>
      </p:sp>
      <p:sp>
        <p:nvSpPr>
          <p:cNvPr id="1042" name="TextBox 17"/>
          <p:cNvSpPr txBox="1">
            <a:spLocks noChangeArrowheads="1"/>
          </p:cNvSpPr>
          <p:nvPr/>
        </p:nvSpPr>
        <p:spPr bwMode="auto">
          <a:xfrm>
            <a:off x="5940425" y="6597650"/>
            <a:ext cx="3095625" cy="261938"/>
          </a:xfrm>
          <a:prstGeom prst="rect">
            <a:avLst/>
          </a:prstGeom>
          <a:noFill/>
          <a:ln>
            <a:noFill/>
          </a:ln>
        </p:spPr>
        <p:txBody>
          <a:bodyP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1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C++</a:t>
            </a:r>
            <a:r>
              <a:rPr kumimoji="1" lang="zh-CN" altLang="en-US" sz="11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语言程序设计（第</a:t>
            </a:r>
            <a:r>
              <a:rPr kumimoji="1" lang="en-US" altLang="zh-CN" sz="11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4</a:t>
            </a:r>
            <a:r>
              <a:rPr kumimoji="1" lang="zh-CN" altLang="en-US" sz="11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版），郑莉，清华大学</a:t>
            </a:r>
            <a:endParaRPr kumimoji="1" lang="zh-CN" altLang="en-US" sz="11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random/>
  </p:transition>
  <p:timing>
    <p:tnLst>
      <p:par>
        <p:cTn id="1" dur="indefinite" restart="never" nodeType="tmRoot"/>
      </p:par>
    </p:tnLst>
  </p:timing>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40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40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4000">
          <a:solidFill>
            <a:schemeClr val="tx2"/>
          </a:solidFill>
          <a:latin typeface="Arial Black" panose="020B0A04020102020204" pitchFamily="34" charset="0"/>
          <a:ea typeface="微软雅黑" panose="020B0503020204020204" pitchFamily="34" charset="-122"/>
        </a:defRPr>
      </a:lvl5pPr>
      <a:lvl6pPr marL="457200" algn="l" rtl="0" eaLnBrk="1" fontAlgn="base" hangingPunct="1">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6pPr>
      <a:lvl7pPr marL="914400" algn="l" rtl="0" eaLnBrk="1" fontAlgn="base" hangingPunct="1">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7pPr>
      <a:lvl8pPr marL="1371600" algn="l" rtl="0" eaLnBrk="1" fontAlgn="base" hangingPunct="1">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8pPr>
      <a:lvl9pPr marL="1828800" algn="l" rtl="0" eaLnBrk="1" fontAlgn="base" hangingPunct="1">
        <a:spcBef>
          <a:spcPct val="0"/>
        </a:spcBef>
        <a:spcAft>
          <a:spcPct val="0"/>
        </a:spcAft>
        <a:defRPr sz="4000">
          <a:solidFill>
            <a:schemeClr val="tx2"/>
          </a:solidFill>
          <a:latin typeface="Trebuchet MS" panose="020B0603020202020204" pitchFamily="34" charset="0"/>
          <a:ea typeface="方正姚体" panose="02010601030101010101" pitchFamily="2" charset="-122"/>
        </a:defRPr>
      </a:lvl9pPr>
    </p:titleStyle>
    <p:body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yahoo.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oleObject" Target="../embeddings/oleObject8.bin"/><Relationship Id="rId7" Type="http://schemas.openxmlformats.org/officeDocument/2006/relationships/oleObject" Target="../embeddings/oleObject7.bin"/><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9.wmf"/><Relationship Id="rId3" Type="http://schemas.openxmlformats.org/officeDocument/2006/relationships/oleObject" Target="../embeddings/oleObject4.bin"/><Relationship Id="rId22" Type="http://schemas.openxmlformats.org/officeDocument/2006/relationships/vmlDrawing" Target="../drawings/vmlDrawing2.vml"/><Relationship Id="rId21" Type="http://schemas.openxmlformats.org/officeDocument/2006/relationships/slideLayout" Target="../slideLayouts/slideLayout2.xml"/><Relationship Id="rId20" Type="http://schemas.openxmlformats.org/officeDocument/2006/relationships/oleObject" Target="../embeddings/oleObject17.bin"/><Relationship Id="rId2" Type="http://schemas.openxmlformats.org/officeDocument/2006/relationships/image" Target="../media/image6.wmf"/><Relationship Id="rId19" Type="http://schemas.openxmlformats.org/officeDocument/2006/relationships/oleObject" Target="../embeddings/oleObject16.bin"/><Relationship Id="rId18" Type="http://schemas.openxmlformats.org/officeDocument/2006/relationships/oleObject" Target="../embeddings/oleObject15.bin"/><Relationship Id="rId17" Type="http://schemas.openxmlformats.org/officeDocument/2006/relationships/image" Target="../media/image12.wmf"/><Relationship Id="rId16" Type="http://schemas.openxmlformats.org/officeDocument/2006/relationships/oleObject" Target="../embeddings/oleObject14.bin"/><Relationship Id="rId15" Type="http://schemas.openxmlformats.org/officeDocument/2006/relationships/image" Target="../media/image11.wmf"/><Relationship Id="rId14" Type="http://schemas.openxmlformats.org/officeDocument/2006/relationships/oleObject" Target="../embeddings/oleObject13.bin"/><Relationship Id="rId13" Type="http://schemas.openxmlformats.org/officeDocument/2006/relationships/oleObject" Target="../embeddings/oleObject12.bin"/><Relationship Id="rId12" Type="http://schemas.openxmlformats.org/officeDocument/2006/relationships/image" Target="../media/image10.wmf"/><Relationship Id="rId11" Type="http://schemas.openxmlformats.org/officeDocument/2006/relationships/oleObject" Target="../embeddings/oleObject11.bin"/><Relationship Id="rId10" Type="http://schemas.openxmlformats.org/officeDocument/2006/relationships/oleObject" Target="../embeddings/oleObject10.bin"/><Relationship Id="rId1"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oleObject" Target="../embeddings/oleObject19.bin"/><Relationship Id="rId2" Type="http://schemas.openxmlformats.org/officeDocument/2006/relationships/image" Target="../media/image6.wmf"/><Relationship Id="rId1" Type="http://schemas.openxmlformats.org/officeDocument/2006/relationships/oleObject" Target="../embeddings/oleObject1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副标题 2"/>
          <p:cNvSpPr>
            <a:spLocks noGrp="1"/>
          </p:cNvSpPr>
          <p:nvPr>
            <p:ph type="subTitle" idx="1"/>
          </p:nvPr>
        </p:nvSpPr>
        <p:spPr>
          <a:xfrm>
            <a:off x="179388" y="5300663"/>
            <a:ext cx="4953000" cy="946150"/>
          </a:xfrm>
          <a:ln/>
        </p:spPr>
        <p:txBody>
          <a:bodyPr vert="horz" wrap="square" lIns="91440" tIns="45720" rIns="91440" bIns="45720" anchor="t" anchorCtr="0"/>
          <a:p>
            <a:pPr marL="63500" eaLnBrk="1" hangingPunct="1">
              <a:buClr>
                <a:srgbClr val="A04DA3"/>
              </a:buClr>
              <a:buSzTx/>
            </a:pPr>
            <a:endParaRPr lang="zh-CN" altLang="en-US" kern="1200" dirty="0">
              <a:latin typeface="微软雅黑" panose="020B0503020204020204" pitchFamily="34" charset="-122"/>
              <a:ea typeface="微软雅黑" panose="020B0503020204020204" pitchFamily="34" charset="-122"/>
              <a:cs typeface="+mn-cs"/>
            </a:endParaRPr>
          </a:p>
        </p:txBody>
      </p:sp>
      <p:sp>
        <p:nvSpPr>
          <p:cNvPr id="18435" name="灯片编号占位符 3"/>
          <p:cNvSpPr txBox="1">
            <a:spLocks noGrp="1"/>
          </p:cNvSpPr>
          <p:nvPr>
            <p:ph type="sldNum" sz="quarter" idx="4"/>
          </p:nvPr>
        </p:nvSpPr>
        <p:spPr>
          <a:xfrm>
            <a:off x="8320088" y="1588"/>
            <a:ext cx="747712" cy="365125"/>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chemeClr val="bg1"/>
                </a:solidFill>
              </a:rPr>
            </a:fld>
            <a:endParaRPr lang="zh-CN" altLang="en-US" sz="1800" dirty="0">
              <a:solidFill>
                <a:schemeClr val="bg1"/>
              </a:solidFill>
            </a:endParaRPr>
          </a:p>
        </p:txBody>
      </p:sp>
      <p:sp>
        <p:nvSpPr>
          <p:cNvPr id="5" name="标题 1"/>
          <p:cNvSpPr>
            <a:spLocks noGrp="1"/>
          </p:cNvSpPr>
          <p:nvPr>
            <p:ph type="ctrTitle"/>
          </p:nvPr>
        </p:nvSpPr>
        <p:spPr>
          <a:xfrm>
            <a:off x="88900" y="958850"/>
            <a:ext cx="8458200" cy="147002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rgbClr val="339966"/>
                </a:solidFill>
                <a:effectLst/>
                <a:uLnTx/>
                <a:uFillTx/>
                <a:latin typeface="+mj-ea"/>
                <a:ea typeface="+mj-ea"/>
                <a:cs typeface="+mj-cs"/>
              </a:rPr>
              <a:t>计算机网络</a:t>
            </a:r>
            <a:endParaRPr kumimoji="0" lang="zh-CN" altLang="en-US" sz="4000" b="1" i="0" u="none" strike="noStrike" kern="1200" cap="none" spc="0" normalizeH="0" baseline="0" noProof="0" dirty="0">
              <a:ln>
                <a:noFill/>
              </a:ln>
              <a:solidFill>
                <a:srgbClr val="339966"/>
              </a:solidFill>
              <a:effectLst/>
              <a:uLnTx/>
              <a:uFillTx/>
              <a:latin typeface="+mj-ea"/>
              <a:ea typeface="+mj-ea"/>
              <a:cs typeface="+mj-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9"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rPr>
              <a:t>2.1 </a:t>
            </a:r>
            <a:r>
              <a:rPr kumimoji="0" lang="zh-CN" altLang="en-US" sz="2000" b="1" i="0" u="none" strike="noStrike" kern="1200" cap="none" spc="0" normalizeH="0" baseline="0" noProof="0" dirty="0">
                <a:ln>
                  <a:noFill/>
                </a:ln>
                <a:solidFill>
                  <a:schemeClr val="bg1">
                    <a:lumMod val="85000"/>
                  </a:schemeClr>
                </a:solidFill>
                <a:effectLst/>
                <a:uLnTx/>
                <a:uFillTx/>
                <a:latin typeface="+mj-ea"/>
                <a:ea typeface="+mj-ea"/>
                <a:cs typeface="+mn-cs"/>
              </a:rPr>
              <a:t>应用层协议原理</a:t>
            </a:r>
            <a:endParaRPr kumimoji="0" lang="zh-CN" altLang="en-US" sz="2000" b="1" i="0" u="none" strike="noStrike" kern="1200" cap="none" spc="0" normalizeH="0" baseline="0" noProof="0" dirty="0">
              <a:ln>
                <a:noFill/>
              </a:ln>
              <a:solidFill>
                <a:schemeClr val="bg1">
                  <a:lumMod val="85000"/>
                </a:schemeClr>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rPr>
              <a:t>2.2 Web</a:t>
            </a:r>
            <a:r>
              <a:rPr kumimoji="0" lang="zh-CN" altLang="en-US" sz="2000" b="1" i="0" u="none" strike="noStrike" kern="1200" cap="none" spc="0" normalizeH="0" baseline="0" noProof="0" dirty="0">
                <a:ln>
                  <a:noFill/>
                </a:ln>
                <a:solidFill>
                  <a:schemeClr val="bg1">
                    <a:lumMod val="85000"/>
                  </a:schemeClr>
                </a:solidFill>
                <a:effectLst/>
                <a:uLnTx/>
                <a:uFillTx/>
                <a:latin typeface="+mj-ea"/>
                <a:ea typeface="+mj-ea"/>
                <a:cs typeface="+mn-cs"/>
              </a:rPr>
              <a:t>和</a:t>
            </a:r>
            <a:r>
              <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rPr>
              <a:t>HTTP</a:t>
            </a:r>
            <a:endPar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rPr>
              <a:t>2.3 FTP </a:t>
            </a:r>
            <a:endPar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bg1">
                    <a:lumMod val="85000"/>
                  </a:schemeClr>
                </a:solidFill>
                <a:effectLst/>
                <a:uLnTx/>
                <a:uFillTx/>
                <a:latin typeface="+mj-ea"/>
                <a:ea typeface="+mj-ea"/>
                <a:cs typeface="+mn-cs"/>
              </a:rPr>
              <a:t>2.4 </a:t>
            </a:r>
            <a:r>
              <a:rPr kumimoji="0" lang="zh-CN" altLang="en-US" sz="2000" b="1" i="0" u="none" strike="noStrike" kern="1200" cap="none" spc="0" normalizeH="0" baseline="0" noProof="0" dirty="0">
                <a:ln>
                  <a:noFill/>
                </a:ln>
                <a:solidFill>
                  <a:schemeClr val="bg1">
                    <a:lumMod val="85000"/>
                  </a:schemeClr>
                </a:solidFill>
                <a:effectLst/>
                <a:uLnTx/>
                <a:uFillTx/>
                <a:latin typeface="+mj-ea"/>
                <a:ea typeface="+mj-ea"/>
                <a:cs typeface="+mn-cs"/>
              </a:rPr>
              <a:t>电子邮件</a:t>
            </a:r>
            <a:endParaRPr kumimoji="0" lang="zh-CN" altLang="en-US" sz="2000" b="1" i="0" u="none" strike="noStrike" kern="1200" cap="none" spc="0" normalizeH="0" baseline="0" noProof="0" dirty="0">
              <a:ln>
                <a:noFill/>
              </a:ln>
              <a:solidFill>
                <a:schemeClr val="bg1">
                  <a:lumMod val="85000"/>
                </a:schemeClr>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2.5 DNS</a:t>
            </a:r>
            <a:endParaRPr kumimoji="0" lang="en-US" altLang="zh-CN"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2.6 P2P </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文件共享</a:t>
            </a: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2.7 TCP</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的套接字 编程</a:t>
            </a: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2.8 UDP</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的套接字 编程</a:t>
            </a: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2.9 </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构建一个 </a:t>
            </a:r>
            <a:r>
              <a:rPr kumimoji="0" lang="en-US" altLang="zh-CN" sz="2000" b="1" i="0" u="none" strike="noStrike" kern="1200" cap="none" spc="0" normalizeH="0" baseline="0" noProof="0" dirty="0">
                <a:ln>
                  <a:noFill/>
                </a:ln>
                <a:solidFill>
                  <a:schemeClr val="tx2"/>
                </a:solidFill>
                <a:effectLst/>
                <a:uLnTx/>
                <a:uFillTx/>
                <a:latin typeface="+mj-ea"/>
                <a:ea typeface="+mj-ea"/>
                <a:cs typeface="+mn-cs"/>
              </a:rPr>
              <a:t>Web </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服务器</a:t>
            </a: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2"/>
                </a:solidFill>
                <a:effectLst/>
                <a:uLnTx/>
                <a:uFillTx/>
                <a:latin typeface="+mj-ea"/>
                <a:ea typeface="+mj-ea"/>
                <a:cs typeface="+mn-cs"/>
              </a:rPr>
              <a:t>2.10 </a:t>
            </a:r>
            <a:r>
              <a:rPr kumimoji="0" lang="zh-CN" altLang="en-US" sz="2000" b="1" i="0" u="none" strike="noStrike" kern="1200" cap="none" spc="0" normalizeH="0" baseline="0" noProof="0" dirty="0">
                <a:ln>
                  <a:noFill/>
                </a:ln>
                <a:solidFill>
                  <a:schemeClr val="tx2"/>
                </a:solidFill>
                <a:effectLst/>
                <a:uLnTx/>
                <a:uFillTx/>
                <a:latin typeface="+mj-ea"/>
                <a:ea typeface="+mj-ea"/>
                <a:cs typeface="+mn-cs"/>
              </a:rPr>
              <a:t>小结</a:t>
            </a: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a:p>
            <a:pPr marL="0" marR="0" lvl="0" indent="0"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endParaRPr kumimoji="0" lang="zh-CN" altLang="en-US" sz="2000" b="1" i="0" u="none" strike="noStrike" kern="1200" cap="none" spc="0" normalizeH="0" baseline="0" noProof="0" dirty="0">
              <a:ln>
                <a:noFill/>
              </a:ln>
              <a:solidFill>
                <a:schemeClr val="tx2"/>
              </a:solidFill>
              <a:effectLst/>
              <a:uLnTx/>
              <a:uFillTx/>
              <a:latin typeface="+mj-ea"/>
              <a:ea typeface="+mj-ea"/>
              <a:cs typeface="+mn-cs"/>
            </a:endParaRPr>
          </a:p>
        </p:txBody>
      </p:sp>
      <p:sp>
        <p:nvSpPr>
          <p:cNvPr id="234498"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B050"/>
                </a:solidFill>
                <a:effectLst/>
                <a:uLnTx/>
                <a:uFillTx/>
                <a:latin typeface="+mj-ea"/>
                <a:ea typeface="+mj-ea"/>
                <a:cs typeface="+mj-cs"/>
              </a:rPr>
              <a:t>本章内容</a:t>
            </a:r>
            <a:endParaRPr kumimoji="0" lang="en-US" altLang="zh-CN" sz="2400" b="1" i="0" u="none" strike="noStrike" kern="1200" cap="none" spc="0" normalizeH="0" baseline="0" noProof="0" dirty="0">
              <a:ln>
                <a:noFill/>
              </a:ln>
              <a:solidFill>
                <a:srgbClr val="00B050"/>
              </a:solidFill>
              <a:effectLst/>
              <a:uLnTx/>
              <a:uFillTx/>
              <a:latin typeface="+mj-ea"/>
              <a:ea typeface="+mj-ea"/>
              <a:cs typeface="+mj-cs"/>
            </a:endParaRPr>
          </a:p>
        </p:txBody>
      </p:sp>
      <p:sp>
        <p:nvSpPr>
          <p:cNvPr id="19460" name="灯片编号占位符 6"/>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5923"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1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标识主机的两种方式：</a:t>
            </a:r>
            <a:endParaRPr kumimoji="0" lang="zh-CN" altLang="en-US" sz="2000" b="1" i="0" u="none" strike="noStrike" kern="1200" cap="none" spc="0" normalizeH="0" baseline="0" noProof="0" dirty="0">
              <a:ln>
                <a:noFill/>
              </a:ln>
              <a:solidFill>
                <a:schemeClr val="accent2"/>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主机名：</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由不定长的字母和数字组成。便于记忆。</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如</a:t>
            </a:r>
            <a:r>
              <a:rPr kumimoji="0" lang="en-US" altLang="zh-CN" sz="2000" b="1" i="0" u="none" strike="noStrike" kern="1200" cap="none" spc="0" normalizeH="0" baseline="0" noProof="0" dirty="0">
                <a:ln>
                  <a:noFill/>
                </a:ln>
                <a:solidFill>
                  <a:schemeClr val="tx1"/>
                </a:solidFill>
                <a:effectLst/>
                <a:uLnTx/>
                <a:uFillTx/>
                <a:latin typeface="+mj-ea"/>
                <a:ea typeface="+mj-ea"/>
                <a:cs typeface="+mn-cs"/>
                <a:hlinkClick r:id="rId1"/>
              </a:rPr>
              <a:t>www.yahoo.com</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路由器处理困难。</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IP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地址：</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由</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4</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个字节组成，有着严格的层次结构。</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路由器容易处理。</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如</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地址（点分十进制）：</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121.7.106.83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65922"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2.5  DNS: </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因特网的目录服务</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21508"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5923">
                                            <p:txEl>
                                              <p:charRg st="11" end="34"/>
                                            </p:txEl>
                                          </p:spTgt>
                                        </p:tgtEl>
                                        <p:attrNameLst>
                                          <p:attrName>style.visibility</p:attrName>
                                        </p:attrNameLst>
                                      </p:cBhvr>
                                      <p:to>
                                        <p:strVal val="visible"/>
                                      </p:to>
                                    </p:set>
                                    <p:animEffect transition="in" filter="blinds(horizontal)">
                                      <p:cBhvr>
                                        <p:cTn id="7" dur="500"/>
                                        <p:tgtEl>
                                          <p:spTgt spid="465923">
                                            <p:txEl>
                                              <p:charRg st="11" end="3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5923">
                                            <p:txEl>
                                              <p:charRg st="34" end="61"/>
                                            </p:txEl>
                                          </p:spTgt>
                                        </p:tgtEl>
                                        <p:attrNameLst>
                                          <p:attrName>style.visibility</p:attrName>
                                        </p:attrNameLst>
                                      </p:cBhvr>
                                      <p:to>
                                        <p:strVal val="visible"/>
                                      </p:to>
                                    </p:set>
                                    <p:animEffect transition="in" filter="blinds(horizontal)">
                                      <p:cBhvr>
                                        <p:cTn id="10" dur="500"/>
                                        <p:tgtEl>
                                          <p:spTgt spid="465923">
                                            <p:txEl>
                                              <p:charRg st="34" end="6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5923">
                                            <p:txEl>
                                              <p:charRg st="61" end="79"/>
                                            </p:txEl>
                                          </p:spTgt>
                                        </p:tgtEl>
                                        <p:attrNameLst>
                                          <p:attrName>style.visibility</p:attrName>
                                        </p:attrNameLst>
                                      </p:cBhvr>
                                      <p:to>
                                        <p:strVal val="visible"/>
                                      </p:to>
                                    </p:set>
                                    <p:animEffect transition="in" filter="blinds(horizontal)">
                                      <p:cBhvr>
                                        <p:cTn id="13" dur="500"/>
                                        <p:tgtEl>
                                          <p:spTgt spid="465923">
                                            <p:txEl>
                                              <p:charRg st="61" end="7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65923">
                                            <p:txEl>
                                              <p:charRg st="79" end="103"/>
                                            </p:txEl>
                                          </p:spTgt>
                                        </p:tgtEl>
                                        <p:attrNameLst>
                                          <p:attrName>style.visibility</p:attrName>
                                        </p:attrNameLst>
                                      </p:cBhvr>
                                      <p:to>
                                        <p:strVal val="visible"/>
                                      </p:to>
                                    </p:set>
                                    <p:animEffect transition="in" filter="blinds(horizontal)">
                                      <p:cBhvr>
                                        <p:cTn id="18" dur="500"/>
                                        <p:tgtEl>
                                          <p:spTgt spid="465923">
                                            <p:txEl>
                                              <p:charRg st="79" end="10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65923">
                                            <p:txEl>
                                              <p:charRg st="103" end="121"/>
                                            </p:txEl>
                                          </p:spTgt>
                                        </p:tgtEl>
                                        <p:attrNameLst>
                                          <p:attrName>style.visibility</p:attrName>
                                        </p:attrNameLst>
                                      </p:cBhvr>
                                      <p:to>
                                        <p:strVal val="visible"/>
                                      </p:to>
                                    </p:set>
                                    <p:animEffect transition="in" filter="blinds(horizontal)">
                                      <p:cBhvr>
                                        <p:cTn id="21" dur="500"/>
                                        <p:tgtEl>
                                          <p:spTgt spid="465923">
                                            <p:txEl>
                                              <p:charRg st="103" end="121"/>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65923">
                                            <p:txEl>
                                              <p:charRg st="121" end="152"/>
                                            </p:txEl>
                                          </p:spTgt>
                                        </p:tgtEl>
                                        <p:attrNameLst>
                                          <p:attrName>style.visibility</p:attrName>
                                        </p:attrNameLst>
                                      </p:cBhvr>
                                      <p:to>
                                        <p:strVal val="visible"/>
                                      </p:to>
                                    </p:set>
                                    <p:animEffect transition="in" filter="blinds(horizontal)">
                                      <p:cBhvr>
                                        <p:cTn id="24" dur="500"/>
                                        <p:tgtEl>
                                          <p:spTgt spid="465923">
                                            <p:txEl>
                                              <p:charRg st="121" end="1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6947"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5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报文在网络中传输，使用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域名系统</a:t>
            </a:r>
            <a:r>
              <a:rPr kumimoji="0" lang="en-US" altLang="zh-CN" sz="2000" b="1" i="0" u="none" strike="noStrike" kern="1200" cap="none" spc="0" normalizeH="0" baseline="0" noProof="0" dirty="0">
                <a:ln>
                  <a:noFill/>
                </a:ln>
                <a:solidFill>
                  <a:schemeClr val="accent2"/>
                </a:solidFill>
                <a:effectLst/>
                <a:uLnTx/>
                <a:uFillTx/>
                <a:latin typeface="+mj-ea"/>
                <a:ea typeface="+mj-ea"/>
                <a:cs typeface="+mn-cs"/>
              </a:rPr>
              <a:t>DNS</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(Domain Name System)</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进行主机名到</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IP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地址的转换。</a:t>
            </a:r>
            <a:endParaRPr kumimoji="0" lang="zh-CN" altLang="en-US" sz="2000" b="1" i="0" u="none" strike="noStrike" kern="1200" cap="none" spc="0" normalizeH="0" baseline="0" noProof="0" dirty="0">
              <a:ln>
                <a:noFill/>
              </a:ln>
              <a:solidFill>
                <a:srgbClr val="FF3300"/>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一个由分层的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服务器实现的</a:t>
            </a:r>
            <a:r>
              <a:rPr kumimoji="0" lang="zh-CN" altLang="en-US" sz="2000" b="1" i="0" u="none" strike="noStrike" kern="1200" cap="none" spc="0" normalizeH="0" baseline="0" noProof="0" dirty="0">
                <a:ln>
                  <a:noFill/>
                </a:ln>
                <a:solidFill>
                  <a:schemeClr val="tx1"/>
                </a:solidFill>
                <a:effectLst/>
                <a:uLnTx/>
                <a:uFillTx/>
                <a:latin typeface="+mj-ea"/>
                <a:ea typeface="+mj-ea"/>
                <a:cs typeface="+mn-cs"/>
                <a:hlinkClick r:id="" action="ppaction://customshow?id=34&amp;return=true"/>
              </a:rPr>
              <a:t>分布式数据库</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允许主机查询分布式数据库的应用层协议；</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6694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2.5.1  DNS</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提供的服务</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22532"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3507"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运行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BIND</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软件的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UNIX</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机器；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协议运行在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UDP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之上，使用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53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号端口。</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通常</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直接由其他的应用层协议 </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包括</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HTTP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SMTP </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和</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FTP)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使用，</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以将用户提供的主机名解析为</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用户只是间接使用</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Georgia" panose="02040502050405020303" pitchFamily="18" charset="0"/>
              <a:buChar char="•"/>
              <a:defRPr/>
            </a:pP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53350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说明</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23556"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7971"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例，某个用户主机上的一个浏览器访问某个</a:t>
            </a:r>
            <a:r>
              <a:rPr kumimoji="0" lang="en-US" altLang="zh-CN" sz="2000" b="1" i="0" u="none" strike="noStrike" kern="1200" cap="none" spc="0" normalizeH="0" baseline="0" noProof="0" dirty="0">
                <a:ln>
                  <a:noFill/>
                </a:ln>
                <a:solidFill>
                  <a:schemeClr val="accent2"/>
                </a:solidFill>
                <a:effectLst/>
                <a:uLnTx/>
                <a:uFillTx/>
                <a:latin typeface="+mj-ea"/>
                <a:ea typeface="+mj-ea"/>
                <a:cs typeface="+mn-cs"/>
              </a:rPr>
              <a:t>Web</a:t>
            </a: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页</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www.someschool.edu/index.html</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用户主机要</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将一个</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HTTP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请求报文发送到</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Web</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服务器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www.someschool.edu</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，需先得到相应的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过程如下：</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用户主机上运行 </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应用的客户机端。</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浏览器从</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URL</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中解析出主机地址，传给</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客户机端。</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客户机向</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服务器发送一个包含主机名的请求；</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客户机收到含有对应主机名的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地址的回答报文；</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浏览器向该</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地址指定的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HTTP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服务器发起一个</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连接。</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24579"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467972" name="Text Box 4"/>
          <p:cNvSpPr txBox="1"/>
          <p:nvPr/>
        </p:nvSpPr>
        <p:spPr>
          <a:xfrm>
            <a:off x="2794000" y="5702300"/>
            <a:ext cx="2489200" cy="466725"/>
          </a:xfrm>
          <a:prstGeom prst="rect">
            <a:avLst/>
          </a:prstGeom>
          <a:solidFill>
            <a:schemeClr val="bg1"/>
          </a:solidFill>
          <a:ln w="9525" cap="flat" cmpd="sng">
            <a:solidFill>
              <a:srgbClr val="FF3300"/>
            </a:solidFill>
            <a:prstDash val="solid"/>
            <a:miter/>
            <a:headEnd type="none" w="med" len="med"/>
            <a:tailEnd type="none" w="med" len="med"/>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50000"/>
              </a:spcBef>
              <a:buClrTx/>
              <a:buFontTx/>
              <a:buNone/>
            </a:pPr>
            <a:r>
              <a:rPr lang="zh-CN" altLang="en-US" sz="2400" dirty="0">
                <a:latin typeface="Comic Sans MS" panose="030F0702030302020204" pitchFamily="66" charset="0"/>
                <a:ea typeface="华文中宋" panose="02010600040101010101" pitchFamily="2" charset="-122"/>
              </a:rPr>
              <a:t>增加一定时延。</a:t>
            </a:r>
            <a:endParaRPr lang="en-US" altLang="zh-CN" sz="2400" dirty="0">
              <a:latin typeface="Comic Sans MS" panose="030F0702030302020204" pitchFamily="66" charset="0"/>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7971">
                                            <p:txEl>
                                              <p:charRg st="140" end="146"/>
                                            </p:txEl>
                                          </p:spTgt>
                                        </p:tgtEl>
                                        <p:attrNameLst>
                                          <p:attrName>style.visibility</p:attrName>
                                        </p:attrNameLst>
                                      </p:cBhvr>
                                      <p:to>
                                        <p:strVal val="visible"/>
                                      </p:to>
                                    </p:set>
                                    <p:animEffect transition="in" filter="blinds(horizontal)">
                                      <p:cBhvr>
                                        <p:cTn id="7" dur="500"/>
                                        <p:tgtEl>
                                          <p:spTgt spid="467971">
                                            <p:txEl>
                                              <p:charRg st="140" end="14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7971">
                                            <p:txEl>
                                              <p:charRg st="146" end="166"/>
                                            </p:txEl>
                                          </p:spTgt>
                                        </p:tgtEl>
                                        <p:attrNameLst>
                                          <p:attrName>style.visibility</p:attrName>
                                        </p:attrNameLst>
                                      </p:cBhvr>
                                      <p:to>
                                        <p:strVal val="visible"/>
                                      </p:to>
                                    </p:set>
                                    <p:animEffect transition="in" filter="blinds(horizontal)">
                                      <p:cBhvr>
                                        <p:cTn id="10" dur="500"/>
                                        <p:tgtEl>
                                          <p:spTgt spid="467971">
                                            <p:txEl>
                                              <p:charRg st="146" end="16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67971">
                                            <p:txEl>
                                              <p:charRg st="166" end="193"/>
                                            </p:txEl>
                                          </p:spTgt>
                                        </p:tgtEl>
                                        <p:attrNameLst>
                                          <p:attrName>style.visibility</p:attrName>
                                        </p:attrNameLst>
                                      </p:cBhvr>
                                      <p:to>
                                        <p:strVal val="visible"/>
                                      </p:to>
                                    </p:set>
                                    <p:animEffect transition="in" filter="blinds(horizontal)">
                                      <p:cBhvr>
                                        <p:cTn id="15" dur="500"/>
                                        <p:tgtEl>
                                          <p:spTgt spid="467971">
                                            <p:txEl>
                                              <p:charRg st="166" end="19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67971">
                                            <p:txEl>
                                              <p:charRg st="193" end="220"/>
                                            </p:txEl>
                                          </p:spTgt>
                                        </p:tgtEl>
                                        <p:attrNameLst>
                                          <p:attrName>style.visibility</p:attrName>
                                        </p:attrNameLst>
                                      </p:cBhvr>
                                      <p:to>
                                        <p:strVal val="visible"/>
                                      </p:to>
                                    </p:set>
                                    <p:animEffect transition="in" filter="blinds(horizontal)">
                                      <p:cBhvr>
                                        <p:cTn id="20" dur="500"/>
                                        <p:tgtEl>
                                          <p:spTgt spid="467971">
                                            <p:txEl>
                                              <p:charRg st="193" end="22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67971">
                                            <p:txEl>
                                              <p:charRg st="220" end="247"/>
                                            </p:txEl>
                                          </p:spTgt>
                                        </p:tgtEl>
                                        <p:attrNameLst>
                                          <p:attrName>style.visibility</p:attrName>
                                        </p:attrNameLst>
                                      </p:cBhvr>
                                      <p:to>
                                        <p:strVal val="visible"/>
                                      </p:to>
                                    </p:set>
                                    <p:animEffect transition="in" filter="blinds(horizontal)">
                                      <p:cBhvr>
                                        <p:cTn id="25" dur="500"/>
                                        <p:tgtEl>
                                          <p:spTgt spid="467971">
                                            <p:txEl>
                                              <p:charRg st="220" end="24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67971">
                                            <p:txEl>
                                              <p:charRg st="247" end="277"/>
                                            </p:txEl>
                                          </p:spTgt>
                                        </p:tgtEl>
                                        <p:attrNameLst>
                                          <p:attrName>style.visibility</p:attrName>
                                        </p:attrNameLst>
                                      </p:cBhvr>
                                      <p:to>
                                        <p:strVal val="visible"/>
                                      </p:to>
                                    </p:set>
                                    <p:animEffect transition="in" filter="blinds(horizontal)">
                                      <p:cBhvr>
                                        <p:cTn id="30" dur="500"/>
                                        <p:tgtEl>
                                          <p:spTgt spid="467971">
                                            <p:txEl>
                                              <p:charRg st="247" end="27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67972"/>
                                        </p:tgtEl>
                                        <p:attrNameLst>
                                          <p:attrName>style.visibility</p:attrName>
                                        </p:attrNameLst>
                                      </p:cBhvr>
                                      <p:to>
                                        <p:strVal val="visible"/>
                                      </p:to>
                                    </p:set>
                                    <p:animEffect transition="in" filter="dissolve">
                                      <p:cBhvr>
                                        <p:cTn id="35" dur="500"/>
                                        <p:tgtEl>
                                          <p:spTgt spid="467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995" name="Rectangle 3"/>
          <p:cNvSpPr>
            <a:spLocks noGrp="1" noChangeArrowheads="1"/>
          </p:cNvSpPr>
          <p:nvPr>
            <p:ph idx="1"/>
          </p:nvPr>
        </p:nvSpPr>
        <p:spPr>
          <a:xfrm>
            <a:off x="325438" y="1668463"/>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主机名到</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IP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地址的转换</a:t>
            </a:r>
            <a:endParaRPr kumimoji="0" lang="en-US" altLang="zh-CN" sz="2000" b="1" i="0" u="none" strike="noStrike" kern="1200" cap="none" spc="0" normalizeH="0" baseline="0" noProof="0" dirty="0">
              <a:ln>
                <a:noFill/>
              </a:ln>
              <a:solidFill>
                <a:srgbClr val="FF3300"/>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主机别名</a:t>
            </a:r>
            <a:endParaRPr kumimoji="0" lang="en-US" altLang="zh-CN" sz="2000" b="1" i="0" u="none" strike="noStrike" kern="1200" cap="none" spc="0" normalizeH="0" baseline="0" noProof="0" dirty="0">
              <a:ln>
                <a:noFill/>
              </a:ln>
              <a:solidFill>
                <a:srgbClr val="FF3300"/>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有着复杂主机名的主机可以有一个或者多个别名，例如</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aaa.xxx.com</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的主机可能还会有</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aaa.com</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www.aaa.com</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两个别名）。</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规范名和别名：通过</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DNS</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可以得到主机别名对应的规范主机名及</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邮件服务器别名</a:t>
            </a:r>
            <a:endParaRPr kumimoji="0" lang="zh-CN" altLang="en-US" sz="2000" b="1" i="0" u="none" strike="noStrike" kern="1200" cap="none" spc="0" normalizeH="0" baseline="0" noProof="0" dirty="0">
              <a:ln>
                <a:noFill/>
              </a:ln>
              <a:solidFill>
                <a:srgbClr val="FF3300"/>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负载分配</a:t>
            </a:r>
            <a:endParaRPr kumimoji="0" lang="en-US" altLang="zh-CN" sz="2000" b="1" i="0" u="none" strike="noStrike" kern="1200" cap="none" spc="0" normalizeH="0" baseline="0" noProof="0" dirty="0">
              <a:ln>
                <a:noFill/>
              </a:ln>
              <a:solidFill>
                <a:srgbClr val="FF3300"/>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一般来说，被繁忙访问的大型站点是分布在多台服务器上的， 这个时候，主机名和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地址就不是一一对应的关系，而是一个主机名对应一个</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地址的集合</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68994"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DNS</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25604"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0" name="Rectangle 20"/>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分布式、等级制数据库</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27651" name="灯片编号占位符 6"/>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27652" name="Group 2"/>
          <p:cNvGrpSpPr/>
          <p:nvPr/>
        </p:nvGrpSpPr>
        <p:grpSpPr>
          <a:xfrm>
            <a:off x="528638" y="2039938"/>
            <a:ext cx="8142287" cy="2847975"/>
            <a:chOff x="230" y="576"/>
            <a:chExt cx="5462" cy="1672"/>
          </a:xfrm>
        </p:grpSpPr>
        <p:sp>
          <p:nvSpPr>
            <p:cNvPr id="27659" name="Text Box 3"/>
            <p:cNvSpPr txBox="1"/>
            <p:nvPr/>
          </p:nvSpPr>
          <p:spPr>
            <a:xfrm>
              <a:off x="2255" y="576"/>
              <a:ext cx="1061" cy="215"/>
            </a:xfrm>
            <a:prstGeom prst="rect">
              <a:avLst/>
            </a:prstGeom>
            <a:noFill/>
            <a:ln w="9525">
              <a:noFill/>
            </a:ln>
          </p:spPr>
          <p:txBody>
            <a:bodyPr wrap="none">
              <a:spAutoFit/>
            </a:bodyPr>
            <a:p>
              <a:pPr eaLnBrk="1" hangingPunct="1"/>
              <a:r>
                <a:rPr lang="zh-CN" altLang="en-US" sz="1800" dirty="0">
                  <a:latin typeface="Arial" panose="020B0604020202020204" pitchFamily="34" charset="0"/>
                  <a:ea typeface="宋体" panose="02010600030101010101" pitchFamily="2" charset="-122"/>
                </a:rPr>
                <a:t>根</a:t>
              </a:r>
              <a:r>
                <a:rPr lang="en-US" altLang="zh-CN" sz="1800" dirty="0">
                  <a:latin typeface="Arial" panose="020B0604020202020204" pitchFamily="34" charset="0"/>
                  <a:ea typeface="宋体" panose="02010600030101010101" pitchFamily="2" charset="-122"/>
                </a:rPr>
                <a:t>DNS</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0" name="Text Box 4"/>
            <p:cNvSpPr txBox="1"/>
            <p:nvPr/>
          </p:nvSpPr>
          <p:spPr>
            <a:xfrm>
              <a:off x="528" y="1344"/>
              <a:ext cx="1282" cy="215"/>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com 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1" name="Text Box 5"/>
            <p:cNvSpPr txBox="1"/>
            <p:nvPr/>
          </p:nvSpPr>
          <p:spPr>
            <a:xfrm>
              <a:off x="2304" y="1296"/>
              <a:ext cx="1214" cy="216"/>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org 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2" name="Text Box 6"/>
            <p:cNvSpPr txBox="1"/>
            <p:nvPr/>
          </p:nvSpPr>
          <p:spPr>
            <a:xfrm>
              <a:off x="4032" y="1296"/>
              <a:ext cx="1248" cy="216"/>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edu 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3" name="Line 7"/>
            <p:cNvSpPr/>
            <p:nvPr/>
          </p:nvSpPr>
          <p:spPr>
            <a:xfrm flipH="1">
              <a:off x="1344" y="864"/>
              <a:ext cx="1392" cy="432"/>
            </a:xfrm>
            <a:prstGeom prst="line">
              <a:avLst/>
            </a:prstGeom>
            <a:ln w="31750" cap="flat" cmpd="sng">
              <a:solidFill>
                <a:schemeClr val="tx1"/>
              </a:solidFill>
              <a:prstDash val="solid"/>
              <a:headEnd type="none" w="med" len="med"/>
              <a:tailEnd type="none" w="med" len="med"/>
            </a:ln>
          </p:spPr>
        </p:sp>
        <p:sp>
          <p:nvSpPr>
            <p:cNvPr id="27664" name="Line 8"/>
            <p:cNvSpPr/>
            <p:nvPr/>
          </p:nvSpPr>
          <p:spPr>
            <a:xfrm>
              <a:off x="2928" y="816"/>
              <a:ext cx="0" cy="480"/>
            </a:xfrm>
            <a:prstGeom prst="line">
              <a:avLst/>
            </a:prstGeom>
            <a:ln w="25400" cap="flat" cmpd="sng">
              <a:solidFill>
                <a:schemeClr val="tx1"/>
              </a:solidFill>
              <a:prstDash val="solid"/>
              <a:headEnd type="none" w="med" len="med"/>
              <a:tailEnd type="none" w="med" len="med"/>
            </a:ln>
          </p:spPr>
        </p:sp>
        <p:sp>
          <p:nvSpPr>
            <p:cNvPr id="27665" name="Line 9"/>
            <p:cNvSpPr/>
            <p:nvPr/>
          </p:nvSpPr>
          <p:spPr>
            <a:xfrm>
              <a:off x="3168" y="864"/>
              <a:ext cx="1440" cy="432"/>
            </a:xfrm>
            <a:prstGeom prst="line">
              <a:avLst/>
            </a:prstGeom>
            <a:ln w="25400" cap="flat" cmpd="sng">
              <a:solidFill>
                <a:schemeClr val="tx1"/>
              </a:solidFill>
              <a:prstDash val="solid"/>
              <a:headEnd type="none" w="med" len="med"/>
              <a:tailEnd type="none" w="med" len="med"/>
            </a:ln>
          </p:spPr>
        </p:sp>
        <p:sp>
          <p:nvSpPr>
            <p:cNvPr id="27666" name="Text Box 10"/>
            <p:cNvSpPr txBox="1"/>
            <p:nvPr/>
          </p:nvSpPr>
          <p:spPr>
            <a:xfrm>
              <a:off x="3878" y="1752"/>
              <a:ext cx="950" cy="377"/>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poly.edu</a:t>
              </a:r>
              <a:endParaRPr lang="en-US" altLang="zh-CN" sz="1800" dirty="0">
                <a:latin typeface="Arial" panose="020B0604020202020204" pitchFamily="34" charset="0"/>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7" name="Text Box 11"/>
            <p:cNvSpPr txBox="1"/>
            <p:nvPr/>
          </p:nvSpPr>
          <p:spPr>
            <a:xfrm>
              <a:off x="4742" y="1752"/>
              <a:ext cx="950" cy="377"/>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umass.edu</a:t>
              </a:r>
              <a:endParaRPr lang="en-US" altLang="zh-CN" sz="1800" dirty="0">
                <a:latin typeface="Arial" panose="020B0604020202020204" pitchFamily="34" charset="0"/>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68" name="Line 12"/>
            <p:cNvSpPr/>
            <p:nvPr/>
          </p:nvSpPr>
          <p:spPr>
            <a:xfrm flipH="1">
              <a:off x="4224" y="1536"/>
              <a:ext cx="336" cy="240"/>
            </a:xfrm>
            <a:prstGeom prst="line">
              <a:avLst/>
            </a:prstGeom>
            <a:ln w="25400" cap="flat" cmpd="sng">
              <a:solidFill>
                <a:schemeClr val="tx1"/>
              </a:solidFill>
              <a:prstDash val="solid"/>
              <a:headEnd type="none" w="med" len="med"/>
              <a:tailEnd type="none" w="med" len="med"/>
            </a:ln>
          </p:spPr>
        </p:sp>
        <p:sp>
          <p:nvSpPr>
            <p:cNvPr id="27669" name="Line 13"/>
            <p:cNvSpPr/>
            <p:nvPr/>
          </p:nvSpPr>
          <p:spPr>
            <a:xfrm>
              <a:off x="4848" y="1536"/>
              <a:ext cx="288" cy="240"/>
            </a:xfrm>
            <a:prstGeom prst="line">
              <a:avLst/>
            </a:prstGeom>
            <a:ln w="25400" cap="flat" cmpd="sng">
              <a:solidFill>
                <a:schemeClr val="tx1"/>
              </a:solidFill>
              <a:prstDash val="solid"/>
              <a:headEnd type="none" w="med" len="med"/>
              <a:tailEnd type="none" w="med" len="med"/>
            </a:ln>
          </p:spPr>
        </p:sp>
        <p:sp>
          <p:nvSpPr>
            <p:cNvPr id="27670" name="Text Box 14"/>
            <p:cNvSpPr txBox="1"/>
            <p:nvPr/>
          </p:nvSpPr>
          <p:spPr>
            <a:xfrm>
              <a:off x="230" y="1848"/>
              <a:ext cx="950" cy="376"/>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yahoo.com</a:t>
              </a:r>
              <a:endParaRPr lang="en-US" altLang="zh-CN" sz="1800" dirty="0">
                <a:latin typeface="Arial" panose="020B0604020202020204" pitchFamily="34" charset="0"/>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71" name="Text Box 15"/>
            <p:cNvSpPr txBox="1"/>
            <p:nvPr/>
          </p:nvSpPr>
          <p:spPr>
            <a:xfrm>
              <a:off x="1248" y="1872"/>
              <a:ext cx="1001" cy="376"/>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amazon.com</a:t>
              </a:r>
              <a:endParaRPr lang="en-US" altLang="zh-CN" sz="1800" dirty="0">
                <a:latin typeface="Arial" panose="020B0604020202020204" pitchFamily="34" charset="0"/>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72" name="Line 16"/>
            <p:cNvSpPr/>
            <p:nvPr/>
          </p:nvSpPr>
          <p:spPr>
            <a:xfrm flipH="1">
              <a:off x="768" y="1584"/>
              <a:ext cx="192" cy="288"/>
            </a:xfrm>
            <a:prstGeom prst="line">
              <a:avLst/>
            </a:prstGeom>
            <a:ln w="25400" cap="flat" cmpd="sng">
              <a:solidFill>
                <a:schemeClr val="tx1"/>
              </a:solidFill>
              <a:prstDash val="solid"/>
              <a:headEnd type="none" w="med" len="med"/>
              <a:tailEnd type="none" w="med" len="med"/>
            </a:ln>
          </p:spPr>
        </p:sp>
        <p:sp>
          <p:nvSpPr>
            <p:cNvPr id="27673" name="Line 17"/>
            <p:cNvSpPr/>
            <p:nvPr/>
          </p:nvSpPr>
          <p:spPr>
            <a:xfrm>
              <a:off x="1392" y="1584"/>
              <a:ext cx="240" cy="288"/>
            </a:xfrm>
            <a:prstGeom prst="line">
              <a:avLst/>
            </a:prstGeom>
            <a:ln w="25400" cap="flat" cmpd="sng">
              <a:solidFill>
                <a:schemeClr val="tx1"/>
              </a:solidFill>
              <a:prstDash val="solid"/>
              <a:headEnd type="none" w="med" len="med"/>
              <a:tailEnd type="none" w="med" len="med"/>
            </a:ln>
          </p:spPr>
        </p:sp>
        <p:sp>
          <p:nvSpPr>
            <p:cNvPr id="27674" name="Text Box 18"/>
            <p:cNvSpPr txBox="1"/>
            <p:nvPr/>
          </p:nvSpPr>
          <p:spPr>
            <a:xfrm>
              <a:off x="2534" y="1799"/>
              <a:ext cx="950" cy="376"/>
            </a:xfrm>
            <a:prstGeom prst="rect">
              <a:avLst/>
            </a:prstGeom>
            <a:noFill/>
            <a:ln w="9525">
              <a:noFill/>
            </a:ln>
          </p:spPr>
          <p:txBody>
            <a:bodyPr wrap="none">
              <a:spAutoFit/>
            </a:bodyPr>
            <a:p>
              <a:pPr eaLnBrk="1" hangingPunct="1"/>
              <a:r>
                <a:rPr lang="en-US" altLang="zh-CN" sz="1800" dirty="0">
                  <a:latin typeface="Arial" panose="020B0604020202020204" pitchFamily="34" charset="0"/>
                  <a:ea typeface="宋体" panose="02010600030101010101" pitchFamily="2" charset="-122"/>
                </a:rPr>
                <a:t>pbs.org</a:t>
              </a:r>
              <a:endParaRPr lang="en-US" altLang="zh-CN" sz="1800" dirty="0">
                <a:latin typeface="Arial" panose="020B0604020202020204" pitchFamily="34" charset="0"/>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DNS </a:t>
              </a:r>
              <a:r>
                <a:rPr lang="zh-CN" altLang="en-US" sz="1800" dirty="0">
                  <a:latin typeface="Arial" panose="020B0604020202020204" pitchFamily="34" charset="0"/>
                  <a:ea typeface="宋体" panose="02010600030101010101" pitchFamily="2" charset="-122"/>
                </a:rPr>
                <a:t>服务器</a:t>
              </a:r>
              <a:endParaRPr lang="zh-CN" altLang="en-US" sz="1800" dirty="0">
                <a:latin typeface="Arial" panose="020B0604020202020204" pitchFamily="34" charset="0"/>
                <a:ea typeface="宋体" panose="02010600030101010101" pitchFamily="2" charset="-122"/>
              </a:endParaRPr>
            </a:p>
          </p:txBody>
        </p:sp>
        <p:sp>
          <p:nvSpPr>
            <p:cNvPr id="27675" name="Line 19"/>
            <p:cNvSpPr/>
            <p:nvPr/>
          </p:nvSpPr>
          <p:spPr>
            <a:xfrm>
              <a:off x="2928" y="1536"/>
              <a:ext cx="0" cy="288"/>
            </a:xfrm>
            <a:prstGeom prst="line">
              <a:avLst/>
            </a:prstGeom>
            <a:ln w="25400" cap="flat" cmpd="sng">
              <a:solidFill>
                <a:schemeClr val="tx1"/>
              </a:solidFill>
              <a:prstDash val="solid"/>
              <a:headEnd type="none" w="med" len="med"/>
              <a:tailEnd type="none" w="med" len="med"/>
            </a:ln>
          </p:spPr>
        </p:sp>
      </p:grpSp>
      <p:sp>
        <p:nvSpPr>
          <p:cNvPr id="2" name="矩形 1"/>
          <p:cNvSpPr/>
          <p:nvPr/>
        </p:nvSpPr>
        <p:spPr>
          <a:xfrm>
            <a:off x="174625" y="2994025"/>
            <a:ext cx="8621713" cy="81756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 name="文本框 2"/>
          <p:cNvSpPr txBox="1"/>
          <p:nvPr/>
        </p:nvSpPr>
        <p:spPr>
          <a:xfrm>
            <a:off x="5849938" y="1174750"/>
            <a:ext cx="3403600" cy="1423988"/>
          </a:xfrm>
          <a:prstGeom prst="rect">
            <a:avLst/>
          </a:prstGeom>
          <a:noFill/>
        </p:spPr>
        <p:txBody>
          <a:bodyPr>
            <a:spAutoFit/>
          </a:bodyPr>
          <a:lstStyle/>
          <a:p>
            <a:pPr marR="0" defTabSz="914400">
              <a:lnSpc>
                <a:spcPct val="150000"/>
              </a:lnSpc>
              <a:buClrTx/>
              <a:buSzTx/>
              <a:buFontTx/>
              <a:buNone/>
              <a:defRPr/>
            </a:pPr>
            <a:r>
              <a:rPr kumimoji="1" lang="zh-CN" altLang="en-US" sz="2000" kern="1200" cap="none" spc="0" normalizeH="0" baseline="0" noProof="0" dirty="0">
                <a:solidFill>
                  <a:srgbClr val="FF0000"/>
                </a:solidFill>
                <a:latin typeface="+mj-ea"/>
                <a:ea typeface="+mj-ea"/>
                <a:cs typeface="+mn-cs"/>
              </a:rPr>
              <a:t>顶级域服务器：</a:t>
            </a:r>
            <a:r>
              <a:rPr kumimoji="1" lang="en-US" altLang="zh-CN" sz="2000" kern="1200" cap="none" spc="0" normalizeH="0" baseline="0" noProof="0" dirty="0">
                <a:solidFill>
                  <a:srgbClr val="FF0000"/>
                </a:solidFill>
                <a:latin typeface="+mj-ea"/>
                <a:ea typeface="+mj-ea"/>
                <a:cs typeface="+mn-cs"/>
              </a:rPr>
              <a:t>com</a:t>
            </a:r>
            <a:r>
              <a:rPr kumimoji="1" lang="zh-CN" altLang="en-US" sz="2000" kern="1200" cap="none" spc="0" normalizeH="0" baseline="0" noProof="0" dirty="0">
                <a:solidFill>
                  <a:srgbClr val="FF0000"/>
                </a:solidFill>
                <a:latin typeface="+mj-ea"/>
                <a:ea typeface="+mj-ea"/>
                <a:cs typeface="+mn-cs"/>
              </a:rPr>
              <a:t>、</a:t>
            </a:r>
            <a:r>
              <a:rPr kumimoji="1" lang="en-US" altLang="zh-CN" sz="2000" kern="1200" cap="none" spc="0" normalizeH="0" baseline="0" noProof="0" dirty="0">
                <a:solidFill>
                  <a:srgbClr val="FF0000"/>
                </a:solidFill>
                <a:latin typeface="+mj-ea"/>
                <a:ea typeface="+mj-ea"/>
                <a:cs typeface="+mn-cs"/>
              </a:rPr>
              <a:t>org</a:t>
            </a:r>
            <a:r>
              <a:rPr kumimoji="1" lang="zh-CN" altLang="en-US" sz="2000" kern="1200" cap="none" spc="0" normalizeH="0" baseline="0" noProof="0" dirty="0">
                <a:solidFill>
                  <a:srgbClr val="FF0000"/>
                </a:solidFill>
                <a:latin typeface="+mj-ea"/>
                <a:ea typeface="+mj-ea"/>
                <a:cs typeface="+mn-cs"/>
              </a:rPr>
              <a:t>、</a:t>
            </a:r>
            <a:r>
              <a:rPr kumimoji="1" lang="en-US" altLang="zh-CN" sz="2000" kern="1200" cap="none" spc="0" normalizeH="0" baseline="0" noProof="0" dirty="0">
                <a:solidFill>
                  <a:srgbClr val="FF0000"/>
                </a:solidFill>
                <a:latin typeface="+mj-ea"/>
                <a:ea typeface="+mj-ea"/>
                <a:cs typeface="+mn-cs"/>
              </a:rPr>
              <a:t>net</a:t>
            </a:r>
            <a:r>
              <a:rPr kumimoji="1" lang="zh-CN" altLang="en-US" sz="2000" kern="1200" cap="none" spc="0" normalizeH="0" baseline="0" noProof="0" dirty="0">
                <a:solidFill>
                  <a:srgbClr val="FF0000"/>
                </a:solidFill>
                <a:latin typeface="+mj-ea"/>
                <a:ea typeface="+mj-ea"/>
                <a:cs typeface="+mn-cs"/>
              </a:rPr>
              <a:t>、</a:t>
            </a:r>
            <a:r>
              <a:rPr kumimoji="1" lang="en-US" altLang="zh-CN" sz="2000" kern="1200" cap="none" spc="0" normalizeH="0" baseline="0" noProof="0" dirty="0" err="1">
                <a:solidFill>
                  <a:srgbClr val="FF0000"/>
                </a:solidFill>
                <a:latin typeface="+mj-ea"/>
                <a:ea typeface="+mj-ea"/>
                <a:cs typeface="+mn-cs"/>
              </a:rPr>
              <a:t>edu</a:t>
            </a:r>
            <a:r>
              <a:rPr kumimoji="1" lang="zh-CN" altLang="en-US" sz="2000" kern="1200" cap="none" spc="0" normalizeH="0" baseline="0" noProof="0" dirty="0">
                <a:solidFill>
                  <a:srgbClr val="FF0000"/>
                </a:solidFill>
                <a:latin typeface="+mj-ea"/>
                <a:ea typeface="+mj-ea"/>
                <a:cs typeface="+mn-cs"/>
              </a:rPr>
              <a:t>和</a:t>
            </a:r>
            <a:r>
              <a:rPr kumimoji="1" lang="en-US" altLang="zh-CN" sz="2000" kern="1200" cap="none" spc="0" normalizeH="0" baseline="0" noProof="0" dirty="0">
                <a:solidFill>
                  <a:srgbClr val="FF0000"/>
                </a:solidFill>
                <a:latin typeface="+mj-ea"/>
                <a:ea typeface="+mj-ea"/>
                <a:cs typeface="+mn-cs"/>
              </a:rPr>
              <a:t>gov</a:t>
            </a:r>
            <a:r>
              <a:rPr kumimoji="1" lang="zh-CN" altLang="en-US" sz="2000" kern="1200" cap="none" spc="0" normalizeH="0" baseline="0" noProof="0" dirty="0">
                <a:solidFill>
                  <a:srgbClr val="FF0000"/>
                </a:solidFill>
                <a:latin typeface="+mj-ea"/>
                <a:ea typeface="+mj-ea"/>
                <a:cs typeface="+mn-cs"/>
              </a:rPr>
              <a:t>，还包括国家的顶级域：</a:t>
            </a:r>
            <a:r>
              <a:rPr kumimoji="1" lang="en-US" altLang="zh-CN" sz="2000" kern="1200" cap="none" spc="0" normalizeH="0" baseline="0" noProof="0" dirty="0" err="1">
                <a:solidFill>
                  <a:srgbClr val="FF0000"/>
                </a:solidFill>
                <a:latin typeface="+mj-ea"/>
                <a:ea typeface="+mj-ea"/>
                <a:cs typeface="+mn-cs"/>
              </a:rPr>
              <a:t>cn</a:t>
            </a:r>
            <a:r>
              <a:rPr kumimoji="1" lang="zh-CN" altLang="en-US" sz="2000" kern="1200" cap="none" spc="0" normalizeH="0" baseline="0" noProof="0" dirty="0">
                <a:solidFill>
                  <a:srgbClr val="FF0000"/>
                </a:solidFill>
                <a:latin typeface="+mj-ea"/>
                <a:ea typeface="+mj-ea"/>
                <a:cs typeface="+mn-cs"/>
              </a:rPr>
              <a:t>、</a:t>
            </a:r>
            <a:r>
              <a:rPr kumimoji="1" lang="en-US" altLang="zh-CN" sz="2000" kern="1200" cap="none" spc="0" normalizeH="0" baseline="0" noProof="0" dirty="0" err="1">
                <a:solidFill>
                  <a:srgbClr val="FF0000"/>
                </a:solidFill>
                <a:latin typeface="+mj-ea"/>
                <a:ea typeface="+mj-ea"/>
                <a:cs typeface="+mn-cs"/>
              </a:rPr>
              <a:t>fr</a:t>
            </a:r>
            <a:r>
              <a:rPr kumimoji="1" lang="zh-CN" altLang="en-US" sz="2000" kern="1200" cap="none" spc="0" normalizeH="0" baseline="0" noProof="0" dirty="0">
                <a:solidFill>
                  <a:srgbClr val="FF0000"/>
                </a:solidFill>
                <a:latin typeface="+mj-ea"/>
                <a:ea typeface="+mj-ea"/>
                <a:cs typeface="+mn-cs"/>
              </a:rPr>
              <a:t>、</a:t>
            </a:r>
            <a:r>
              <a:rPr kumimoji="1" lang="en-US" altLang="zh-CN" sz="2000" kern="1200" cap="none" spc="0" normalizeH="0" baseline="0" noProof="0" dirty="0" err="1">
                <a:solidFill>
                  <a:srgbClr val="FF0000"/>
                </a:solidFill>
                <a:latin typeface="+mj-ea"/>
                <a:ea typeface="+mj-ea"/>
                <a:cs typeface="+mn-cs"/>
              </a:rPr>
              <a:t>jp</a:t>
            </a:r>
            <a:endParaRPr kumimoji="1" lang="zh-CN" altLang="en-US" sz="2000" kern="1200" cap="none" spc="0" normalizeH="0" baseline="0" noProof="0" dirty="0">
              <a:solidFill>
                <a:srgbClr val="FF0000"/>
              </a:solidFill>
              <a:latin typeface="+mj-ea"/>
              <a:ea typeface="+mj-ea"/>
              <a:cs typeface="+mn-cs"/>
            </a:endParaRPr>
          </a:p>
        </p:txBody>
      </p:sp>
      <p:sp>
        <p:nvSpPr>
          <p:cNvPr id="4" name="箭头: 下 3"/>
          <p:cNvSpPr/>
          <p:nvPr/>
        </p:nvSpPr>
        <p:spPr>
          <a:xfrm rot="1583311">
            <a:off x="5867400" y="2624138"/>
            <a:ext cx="466725" cy="7143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5" name="矩形 24"/>
          <p:cNvSpPr/>
          <p:nvPr/>
        </p:nvSpPr>
        <p:spPr>
          <a:xfrm>
            <a:off x="239713" y="4081463"/>
            <a:ext cx="8621713" cy="81756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6" name="文本框 25"/>
          <p:cNvSpPr txBox="1"/>
          <p:nvPr/>
        </p:nvSpPr>
        <p:spPr>
          <a:xfrm>
            <a:off x="587375" y="5197475"/>
            <a:ext cx="7469188" cy="1422400"/>
          </a:xfrm>
          <a:prstGeom prst="rect">
            <a:avLst/>
          </a:prstGeom>
          <a:noFill/>
        </p:spPr>
        <p:txBody>
          <a:bodyPr>
            <a:spAutoFit/>
          </a:bodyPr>
          <a:lstStyle/>
          <a:p>
            <a:pPr marR="0" defTabSz="914400">
              <a:lnSpc>
                <a:spcPct val="150000"/>
              </a:lnSpc>
              <a:buClrTx/>
              <a:buSzTx/>
              <a:buFontTx/>
              <a:buNone/>
              <a:defRPr/>
            </a:pPr>
            <a:r>
              <a:rPr kumimoji="1" lang="zh-CN" altLang="en-US" sz="2000" kern="1200" cap="none" spc="0" normalizeH="0" baseline="0" noProof="0" dirty="0">
                <a:solidFill>
                  <a:srgbClr val="FF0000"/>
                </a:solidFill>
                <a:latin typeface="+mj-ea"/>
                <a:ea typeface="+mj-ea"/>
                <a:cs typeface="+mn-cs"/>
              </a:rPr>
              <a:t>权威</a:t>
            </a:r>
            <a:r>
              <a:rPr kumimoji="1" lang="en-US" altLang="zh-CN" sz="2000" kern="1200" cap="none" spc="0" normalizeH="0" baseline="0" noProof="0" dirty="0">
                <a:solidFill>
                  <a:srgbClr val="FF0000"/>
                </a:solidFill>
                <a:latin typeface="+mj-ea"/>
                <a:ea typeface="+mj-ea"/>
                <a:cs typeface="+mn-cs"/>
              </a:rPr>
              <a:t>DNS</a:t>
            </a:r>
            <a:r>
              <a:rPr kumimoji="1" lang="zh-CN" altLang="en-US" sz="2000" kern="1200" cap="none" spc="0" normalizeH="0" baseline="0" noProof="0" dirty="0">
                <a:solidFill>
                  <a:srgbClr val="FF0000"/>
                </a:solidFill>
                <a:latin typeface="+mj-ea"/>
                <a:ea typeface="+mj-ea"/>
                <a:cs typeface="+mn-cs"/>
              </a:rPr>
              <a:t>服务器：在因特网上具有公共可访问主机的每个组织机构必须提供公共可访问的</a:t>
            </a:r>
            <a:r>
              <a:rPr kumimoji="1" lang="en-US" altLang="zh-CN" sz="2000" kern="1200" cap="none" spc="0" normalizeH="0" baseline="0" noProof="0" dirty="0">
                <a:solidFill>
                  <a:srgbClr val="FF0000"/>
                </a:solidFill>
                <a:latin typeface="+mj-ea"/>
                <a:ea typeface="+mj-ea"/>
                <a:cs typeface="+mn-cs"/>
              </a:rPr>
              <a:t>DNS</a:t>
            </a:r>
            <a:r>
              <a:rPr kumimoji="1" lang="zh-CN" altLang="en-US" sz="2000" kern="1200" cap="none" spc="0" normalizeH="0" baseline="0" noProof="0" dirty="0">
                <a:solidFill>
                  <a:srgbClr val="FF0000"/>
                </a:solidFill>
                <a:latin typeface="+mj-ea"/>
                <a:ea typeface="+mj-ea"/>
                <a:cs typeface="+mn-cs"/>
              </a:rPr>
              <a:t>记录。例如：多数大学和大公司都实现和维护自己的权威</a:t>
            </a:r>
            <a:r>
              <a:rPr kumimoji="1" lang="en-US" altLang="zh-CN" sz="2000" kern="1200" cap="none" spc="0" normalizeH="0" baseline="0" noProof="0" dirty="0">
                <a:solidFill>
                  <a:srgbClr val="FF0000"/>
                </a:solidFill>
                <a:latin typeface="+mj-ea"/>
                <a:ea typeface="+mj-ea"/>
                <a:cs typeface="+mn-cs"/>
              </a:rPr>
              <a:t>DNS</a:t>
            </a:r>
            <a:r>
              <a:rPr kumimoji="1" lang="zh-CN" altLang="en-US" sz="2000" kern="1200" cap="none" spc="0" normalizeH="0" baseline="0" noProof="0" dirty="0">
                <a:solidFill>
                  <a:srgbClr val="FF0000"/>
                </a:solidFill>
                <a:latin typeface="+mj-ea"/>
                <a:ea typeface="+mj-ea"/>
                <a:cs typeface="+mn-cs"/>
              </a:rPr>
              <a:t>服务器。</a:t>
            </a:r>
            <a:endParaRPr kumimoji="1" lang="zh-CN" altLang="en-US" sz="2000" kern="1200" cap="none" spc="0" normalizeH="0" baseline="0" noProof="0" dirty="0">
              <a:solidFill>
                <a:srgbClr val="FF0000"/>
              </a:solidFill>
              <a:latin typeface="+mj-ea"/>
              <a:ea typeface="+mj-ea"/>
              <a:cs typeface="+mn-cs"/>
            </a:endParaRPr>
          </a:p>
        </p:txBody>
      </p:sp>
      <p:sp>
        <p:nvSpPr>
          <p:cNvPr id="27" name="箭头: 下 26"/>
          <p:cNvSpPr/>
          <p:nvPr/>
        </p:nvSpPr>
        <p:spPr>
          <a:xfrm rot="10114937">
            <a:off x="5484813" y="4541838"/>
            <a:ext cx="466725" cy="7143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3"/>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pic>
        <p:nvPicPr>
          <p:cNvPr id="29699" name="图片 5"/>
          <p:cNvPicPr>
            <a:picLocks noChangeAspect="1"/>
          </p:cNvPicPr>
          <p:nvPr/>
        </p:nvPicPr>
        <p:blipFill>
          <a:blip r:embed="rId1"/>
          <a:stretch>
            <a:fillRect/>
          </a:stretch>
        </p:blipFill>
        <p:spPr>
          <a:xfrm>
            <a:off x="4173538" y="0"/>
            <a:ext cx="4940300" cy="6856413"/>
          </a:xfrm>
          <a:prstGeom prst="rect">
            <a:avLst/>
          </a:prstGeom>
          <a:noFill/>
          <a:ln w="9525">
            <a:noFill/>
          </a:ln>
        </p:spPr>
      </p:pic>
      <p:sp>
        <p:nvSpPr>
          <p:cNvPr id="7" name="内容占位符 1"/>
          <p:cNvSpPr>
            <a:spLocks noGrp="1"/>
          </p:cNvSpPr>
          <p:nvPr>
            <p:ph idx="1"/>
          </p:nvPr>
        </p:nvSpPr>
        <p:spPr>
          <a:xfrm>
            <a:off x="325438" y="1989138"/>
            <a:ext cx="3375025" cy="4679950"/>
          </a:xfrm>
        </p:spPr>
        <p:txBody>
          <a:bodyPr vert="horz" wrap="square" lIns="91440" tIns="45720" rIns="91440" bIns="45720" numCol="1" anchor="t" anchorCtr="0" compatLnSpc="1"/>
          <a:lstStyle/>
          <a:p>
            <a:pPr marL="365125" marR="0" lvl="0" indent="-255905" algn="l" defTabSz="914400" rtl="0" eaLnBrk="0" fontAlgn="base" latinLnBrk="0" hangingPunct="0">
              <a:lnSpc>
                <a:spcPct val="15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假设主机</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cse.nyu.edu</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想知道主机</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gaia.cs.umass.edu</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0019" name="Rectangle 3"/>
          <p:cNvSpPr>
            <a:spLocks noGrp="1" noChangeArrowheads="1"/>
          </p:cNvSpPr>
          <p:nvPr>
            <p:ph idx="1"/>
          </p:nvPr>
        </p:nvSpPr>
        <p:spPr>
          <a:xfrm>
            <a:off x="325438" y="1795463"/>
            <a:ext cx="8361363" cy="4873625"/>
          </a:xfrm>
        </p:spPr>
        <p:txBody>
          <a:bodyPr vert="horz" wrap="square" lIns="91440" tIns="45720" rIns="91440" bIns="45720" numCol="1" anchor="t" anchorCtr="0" compatLnSpc="1"/>
          <a:lstStyle/>
          <a:p>
            <a:pPr marL="0" marR="0" lvl="0" indent="0" algn="l" defTabSz="914400" rtl="0" eaLnBrk="1" fontAlgn="base" latinLnBrk="0" hangingPunct="1">
              <a:lnSpc>
                <a:spcPct val="125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位于网络边缘的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机</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对等方</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peer)</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互相之间可以直接获取对象。</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0" marR="0" lvl="0" indent="0" algn="l" defTabSz="914400" rtl="0" eaLnBrk="1" fontAlgn="base" latinLnBrk="0" hangingPunct="1">
              <a:lnSpc>
                <a:spcPct val="125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hlinkClick r:id="" action="ppaction://customshow?id=24&amp;return=true"/>
              </a:rPr>
              <a:t>例</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，用户</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Alice</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使用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P2P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文件共享应用程序下载</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MP3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70018"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2.6  P2P </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文件共享</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0724"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470020" name="Text Box 4"/>
          <p:cNvSpPr txBox="1">
            <a:spLocks noChangeArrowheads="1"/>
          </p:cNvSpPr>
          <p:nvPr/>
        </p:nvSpPr>
        <p:spPr bwMode="auto">
          <a:xfrm>
            <a:off x="652463" y="3259138"/>
            <a:ext cx="7708900" cy="708025"/>
          </a:xfrm>
          <a:prstGeom prst="rect">
            <a:avLst/>
          </a:prstGeom>
          <a:noFill/>
          <a:ln w="9525" algn="ctr">
            <a:solidFill>
              <a:schemeClr val="accent2"/>
            </a:solidFill>
            <a:miter lim="800000"/>
          </a:ln>
          <a:effectLst/>
        </p:spPr>
        <p:txBody>
          <a:bodyPr>
            <a:spAutoFit/>
          </a:bodyPr>
          <a:lstStyle>
            <a:lvl1pPr marL="342900" indent="-342900" algn="l">
              <a:spcBef>
                <a:spcPct val="0"/>
              </a:spcBef>
              <a:defRPr sz="2400">
                <a:solidFill>
                  <a:schemeClr val="tx1"/>
                </a:solidFill>
                <a:latin typeface="Times New Roman" panose="02020603050405020304" pitchFamily="18" charset="0"/>
              </a:defRPr>
            </a:lvl1pPr>
            <a:lvl2pPr algn="l">
              <a:spcBef>
                <a:spcPct val="0"/>
              </a:spcBef>
              <a:defRPr sz="2400">
                <a:solidFill>
                  <a:schemeClr val="tx1"/>
                </a:solidFill>
                <a:latin typeface="Times New Roman" panose="02020603050405020304" pitchFamily="18" charset="0"/>
              </a:defRPr>
            </a:lvl2pPr>
            <a:lvl3pPr algn="l">
              <a:spcBef>
                <a:spcPct val="0"/>
              </a:spcBef>
              <a:defRPr sz="2400">
                <a:solidFill>
                  <a:schemeClr val="tx1"/>
                </a:solidFill>
                <a:latin typeface="Times New Roman" panose="02020603050405020304" pitchFamily="18" charset="0"/>
              </a:defRPr>
            </a:lvl3pPr>
            <a:lvl4pPr algn="l">
              <a:spcBef>
                <a:spcPct val="0"/>
              </a:spcBef>
              <a:defRPr sz="2400">
                <a:solidFill>
                  <a:schemeClr val="tx1"/>
                </a:solidFill>
                <a:latin typeface="Times New Roman" panose="02020603050405020304" pitchFamily="18" charset="0"/>
              </a:defRPr>
            </a:lvl4pPr>
            <a:lvl5pPr algn="l">
              <a:spcBef>
                <a:spcPct val="0"/>
              </a:spcBef>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srgbClr val="FF3300"/>
                </a:solidFill>
                <a:effectLst/>
                <a:uLnTx/>
                <a:uFillTx/>
                <a:latin typeface="+mj-ea"/>
                <a:ea typeface="+mj-ea"/>
                <a:cs typeface="+mn-cs"/>
              </a:rPr>
              <a:t>说明：</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每个参与的对等方既是内容的消费者也是内容的发布者（</a:t>
            </a:r>
            <a:r>
              <a:rPr kumimoji="1" lang="zh-CN" altLang="en-US" sz="2000" b="0" i="0" u="none" strike="noStrike" kern="1200" cap="none" spc="0" normalizeH="0" baseline="0" noProof="0" dirty="0">
                <a:ln>
                  <a:noFill/>
                </a:ln>
                <a:solidFill>
                  <a:srgbClr val="FF3300"/>
                </a:solidFill>
                <a:effectLst/>
                <a:uLnTx/>
                <a:uFillTx/>
                <a:latin typeface="+mj-ea"/>
                <a:ea typeface="+mj-ea"/>
                <a:cs typeface="+mn-cs"/>
              </a:rPr>
              <a:t>下载同时也向其他用户上载</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a:t>
            </a:r>
            <a:endParaRPr kumimoji="1" lang="zh-CN" altLang="en-US" sz="2000" b="0" i="0" u="none" strike="noStrike" kern="1200" cap="none" spc="0" normalizeH="0" baseline="0" noProof="0" dirty="0">
              <a:ln>
                <a:noFill/>
              </a:ln>
              <a:solidFill>
                <a:schemeClr val="tx1"/>
              </a:solidFill>
              <a:effectLst/>
              <a:uLnTx/>
              <a:uFillTx/>
              <a:latin typeface="+mj-ea"/>
              <a:ea typeface="+mj-ea"/>
              <a:cs typeface="+mn-cs"/>
            </a:endParaRPr>
          </a:p>
        </p:txBody>
      </p:sp>
      <p:sp>
        <p:nvSpPr>
          <p:cNvPr id="9" name="文本框 8"/>
          <p:cNvSpPr txBox="1"/>
          <p:nvPr/>
        </p:nvSpPr>
        <p:spPr>
          <a:xfrm>
            <a:off x="652463" y="2859088"/>
            <a:ext cx="4572000" cy="400050"/>
          </a:xfrm>
          <a:prstGeom prst="rect">
            <a:avLst/>
          </a:prstGeom>
          <a:noFill/>
        </p:spPr>
        <p:txBody>
          <a:bodyPr>
            <a:spAutoFit/>
          </a:bodyPr>
          <a:lstStyle/>
          <a:p>
            <a:pPr marR="0" defTabSz="914400">
              <a:buClrTx/>
              <a:buSzTx/>
              <a:buFontTx/>
              <a:buNone/>
              <a:defRPr/>
            </a:pPr>
            <a:r>
              <a:rPr kumimoji="1" lang="en-US" altLang="zh-CN" sz="2000" kern="1200" cap="none" spc="0" normalizeH="0" baseline="0" noProof="0" dirty="0">
                <a:latin typeface="+mj-ea"/>
                <a:ea typeface="+mj-ea"/>
                <a:cs typeface="+mn-cs"/>
              </a:rPr>
              <a:t>Music Torrent</a:t>
            </a:r>
            <a:endParaRPr kumimoji="1" lang="zh-CN" altLang="en-US" sz="2000" kern="1200" cap="none" spc="0" normalizeH="0" baseline="0" noProof="0" dirty="0">
              <a:latin typeface="+mj-ea"/>
              <a:ea typeface="+mj-ea"/>
              <a:cs typeface="+mn-cs"/>
            </a:endParaRPr>
          </a:p>
        </p:txBody>
      </p:sp>
      <p:pic>
        <p:nvPicPr>
          <p:cNvPr id="30727" name="图片 2"/>
          <p:cNvPicPr>
            <a:picLocks noChangeAspect="1"/>
          </p:cNvPicPr>
          <p:nvPr/>
        </p:nvPicPr>
        <p:blipFill>
          <a:blip r:embed="rId1"/>
          <a:stretch>
            <a:fillRect/>
          </a:stretch>
        </p:blipFill>
        <p:spPr>
          <a:xfrm>
            <a:off x="2295525" y="4235450"/>
            <a:ext cx="4421188" cy="2433638"/>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0020"/>
                                        </p:tgtEl>
                                        <p:attrNameLst>
                                          <p:attrName>style.visibility</p:attrName>
                                        </p:attrNameLst>
                                      </p:cBhvr>
                                      <p:to>
                                        <p:strVal val="visible"/>
                                      </p:to>
                                    </p:set>
                                    <p:animEffect transition="in" filter="dissolve">
                                      <p:cBhvr>
                                        <p:cTn id="7" dur="500"/>
                                        <p:tgtEl>
                                          <p:spTgt spid="470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3" name="Rectangle 3"/>
          <p:cNvSpPr>
            <a:spLocks noGrp="1" noChangeArrowheads="1"/>
          </p:cNvSpPr>
          <p:nvPr>
            <p:ph idx="1"/>
          </p:nvPr>
        </p:nvSpPr>
        <p:spPr>
          <a:xfrm>
            <a:off x="325438" y="1517650"/>
            <a:ext cx="8361363" cy="5021263"/>
          </a:xfrm>
        </p:spPr>
        <p:txBody>
          <a:bodyPr vert="horz" wrap="square" lIns="91440" tIns="45720" rIns="91440" bIns="45720" numCol="1" anchor="t" anchorCtr="0" compatLnSpc="1"/>
          <a:lstStyle/>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p"/>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在</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机上运行一个</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P2P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文件共享应用软件</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对等方</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p"/>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通过</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ADSL</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间歇地与接入因特网（无固定</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p"/>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使用</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该应用程序搜索一首</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MP3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歌曲；</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p"/>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显示</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一张有该首歌曲的对等方列表</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a:t>
            </a:r>
            <a:endParaRPr kumimoji="0" lang="en-US" altLang="zh-CN" sz="2000" b="1" i="0" u="none" strike="noStrike" kern="1200" cap="none" spc="0" normalizeH="0" baseline="0" noProof="0" dirty="0" smtClean="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所有在线对等方，并愿意共享该首音乐的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MP3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拷贝</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对等方都是普通的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，是因特网用户。 </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列表中提供一些附加信息，如接入带宽和下载时间。</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p"/>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选择</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一个对等方（</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Bob</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）并向其请求该</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MP3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文件</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smtClean="0">
              <a:ln>
                <a:noFill/>
              </a:ln>
              <a:solidFill>
                <a:schemeClr val="tx1"/>
              </a:solidFill>
              <a:effectLst/>
              <a:uLnTx/>
              <a:uFillTx/>
              <a:latin typeface="+mj-ea"/>
              <a:ea typeface="+mj-ea"/>
              <a:cs typeface="+mn-cs"/>
              <a:sym typeface="Wingdings" panose="05000000000000000000" pitchFamily="2" charset="2"/>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 两个用户之间建立一个直接的</a:t>
            </a:r>
            <a:r>
              <a:rPr kumimoji="0" lang="en-US" altLang="zh-CN" sz="2000" b="1" i="0" u="none" strike="noStrike" kern="1200" cap="none" spc="0" normalizeH="0" baseline="0" noProof="0" dirty="0" smtClean="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连接；</a:t>
            </a:r>
            <a:endParaRPr kumimoji="0" lang="zh-CN" altLang="en-US" sz="2000" b="1" i="0" u="none" strike="noStrike" kern="1200" cap="none" spc="0" normalizeH="0" baseline="0" noProof="0" dirty="0" smtClean="0">
              <a:ln>
                <a:noFill/>
              </a:ln>
              <a:solidFill>
                <a:schemeClr val="tx1"/>
              </a:solidFill>
              <a:effectLst/>
              <a:uLnTx/>
              <a:uFillTx/>
              <a:latin typeface="+mj-ea"/>
              <a:ea typeface="+mj-ea"/>
              <a:cs typeface="+mn-cs"/>
              <a:sym typeface="Wingdings" panose="05000000000000000000" pitchFamily="2" charset="2"/>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 </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MP3</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文件从</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Bob</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机向</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Alice</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的</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发送；</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Wingdings" panose="05000000000000000000" pitchFamily="2" charset="2"/>
              <a:buChar char="ü"/>
              <a:tabLst>
                <a:tab pos="1079500" algn="l"/>
              </a:tabLst>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下载期间若偶然断开，可从其他对等方继续下载。</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71042" name="Rectangle 2"/>
          <p:cNvSpPr>
            <a:spLocks noGrp="1" noChangeArrowheads="1"/>
          </p:cNvSpPr>
          <p:nvPr>
            <p:ph type="title"/>
          </p:nvPr>
        </p:nvSpPr>
        <p:spPr>
          <a:xfrm>
            <a:off x="325438" y="8350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过程</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1748"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1043">
                                            <p:txEl>
                                              <p:charRg st="0" end="27"/>
                                            </p:txEl>
                                          </p:spTgt>
                                        </p:tgtEl>
                                        <p:attrNameLst>
                                          <p:attrName>style.visibility</p:attrName>
                                        </p:attrNameLst>
                                      </p:cBhvr>
                                      <p:to>
                                        <p:strVal val="visible"/>
                                      </p:to>
                                    </p:set>
                                    <p:animEffect transition="in" filter="wipe(down)">
                                      <p:cBhvr>
                                        <p:cTn id="7" dur="500"/>
                                        <p:tgtEl>
                                          <p:spTgt spid="471043">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1043">
                                            <p:txEl>
                                              <p:charRg st="27" end="52"/>
                                            </p:txEl>
                                          </p:spTgt>
                                        </p:tgtEl>
                                        <p:attrNameLst>
                                          <p:attrName>style.visibility</p:attrName>
                                        </p:attrNameLst>
                                      </p:cBhvr>
                                      <p:to>
                                        <p:strVal val="visible"/>
                                      </p:to>
                                    </p:set>
                                    <p:animEffect transition="in" filter="blinds(horizontal)">
                                      <p:cBhvr>
                                        <p:cTn id="12" dur="500"/>
                                        <p:tgtEl>
                                          <p:spTgt spid="471043">
                                            <p:txEl>
                                              <p:charRg st="27"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1043">
                                            <p:txEl>
                                              <p:charRg st="52" end="70"/>
                                            </p:txEl>
                                          </p:spTgt>
                                        </p:tgtEl>
                                        <p:attrNameLst>
                                          <p:attrName>style.visibility</p:attrName>
                                        </p:attrNameLst>
                                      </p:cBhvr>
                                      <p:to>
                                        <p:strVal val="visible"/>
                                      </p:to>
                                    </p:set>
                                    <p:animEffect transition="in" filter="blinds(horizontal)">
                                      <p:cBhvr>
                                        <p:cTn id="17" dur="500"/>
                                        <p:tgtEl>
                                          <p:spTgt spid="471043">
                                            <p:txEl>
                                              <p:charRg st="52"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71043">
                                            <p:txEl>
                                              <p:charRg st="70" end="87"/>
                                            </p:txEl>
                                          </p:spTgt>
                                        </p:tgtEl>
                                        <p:attrNameLst>
                                          <p:attrName>style.visibility</p:attrName>
                                        </p:attrNameLst>
                                      </p:cBhvr>
                                      <p:to>
                                        <p:strVal val="visible"/>
                                      </p:to>
                                    </p:set>
                                    <p:animEffect transition="in" filter="blinds(horizontal)">
                                      <p:cBhvr>
                                        <p:cTn id="22" dur="500"/>
                                        <p:tgtEl>
                                          <p:spTgt spid="471043">
                                            <p:txEl>
                                              <p:charRg st="70" end="8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1043">
                                            <p:txEl>
                                              <p:charRg st="87" end="111"/>
                                            </p:txEl>
                                          </p:spTgt>
                                        </p:tgtEl>
                                        <p:attrNameLst>
                                          <p:attrName>style.visibility</p:attrName>
                                        </p:attrNameLst>
                                      </p:cBhvr>
                                      <p:to>
                                        <p:strVal val="visible"/>
                                      </p:to>
                                    </p:set>
                                    <p:animEffect transition="in" filter="blinds(horizontal)">
                                      <p:cBhvr>
                                        <p:cTn id="27" dur="500"/>
                                        <p:tgtEl>
                                          <p:spTgt spid="471043">
                                            <p:txEl>
                                              <p:charRg st="87" end="11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71043">
                                            <p:txEl>
                                              <p:charRg st="111" end="131"/>
                                            </p:txEl>
                                          </p:spTgt>
                                        </p:tgtEl>
                                        <p:attrNameLst>
                                          <p:attrName>style.visibility</p:attrName>
                                        </p:attrNameLst>
                                      </p:cBhvr>
                                      <p:to>
                                        <p:strVal val="visible"/>
                                      </p:to>
                                    </p:set>
                                    <p:animEffect transition="in" filter="blinds(horizontal)">
                                      <p:cBhvr>
                                        <p:cTn id="32" dur="500"/>
                                        <p:tgtEl>
                                          <p:spTgt spid="471043">
                                            <p:txEl>
                                              <p:charRg st="111" end="13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71043">
                                            <p:txEl>
                                              <p:charRg st="131" end="155"/>
                                            </p:txEl>
                                          </p:spTgt>
                                        </p:tgtEl>
                                        <p:attrNameLst>
                                          <p:attrName>style.visibility</p:attrName>
                                        </p:attrNameLst>
                                      </p:cBhvr>
                                      <p:to>
                                        <p:strVal val="visible"/>
                                      </p:to>
                                    </p:set>
                                    <p:animEffect transition="in" filter="blinds(horizontal)">
                                      <p:cBhvr>
                                        <p:cTn id="37" dur="500"/>
                                        <p:tgtEl>
                                          <p:spTgt spid="471043">
                                            <p:txEl>
                                              <p:charRg st="131" end="15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71043">
                                            <p:txEl>
                                              <p:charRg st="155" end="180"/>
                                            </p:txEl>
                                          </p:spTgt>
                                        </p:tgtEl>
                                        <p:attrNameLst>
                                          <p:attrName>style.visibility</p:attrName>
                                        </p:attrNameLst>
                                      </p:cBhvr>
                                      <p:to>
                                        <p:strVal val="visible"/>
                                      </p:to>
                                    </p:set>
                                    <p:animEffect transition="in" filter="blinds(horizontal)">
                                      <p:cBhvr>
                                        <p:cTn id="42" dur="500"/>
                                        <p:tgtEl>
                                          <p:spTgt spid="471043">
                                            <p:txEl>
                                              <p:charRg st="155" end="18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471043">
                                            <p:txEl>
                                              <p:charRg st="180" end="201"/>
                                            </p:txEl>
                                          </p:spTgt>
                                        </p:tgtEl>
                                        <p:attrNameLst>
                                          <p:attrName>style.visibility</p:attrName>
                                        </p:attrNameLst>
                                      </p:cBhvr>
                                      <p:to>
                                        <p:strVal val="visible"/>
                                      </p:to>
                                    </p:set>
                                    <p:animEffect transition="in" filter="blinds(horizontal)">
                                      <p:cBhvr>
                                        <p:cTn id="45" dur="500"/>
                                        <p:tgtEl>
                                          <p:spTgt spid="471043">
                                            <p:txEl>
                                              <p:charRg st="180" end="20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471043">
                                            <p:txEl>
                                              <p:charRg st="201" end="228"/>
                                            </p:txEl>
                                          </p:spTgt>
                                        </p:tgtEl>
                                        <p:attrNameLst>
                                          <p:attrName>style.visibility</p:attrName>
                                        </p:attrNameLst>
                                      </p:cBhvr>
                                      <p:to>
                                        <p:strVal val="visible"/>
                                      </p:to>
                                    </p:set>
                                    <p:animEffect transition="in" filter="blinds(horizontal)">
                                      <p:cBhvr>
                                        <p:cTn id="48" dur="500"/>
                                        <p:tgtEl>
                                          <p:spTgt spid="471043">
                                            <p:txEl>
                                              <p:charRg st="201" end="228"/>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471043">
                                            <p:txEl>
                                              <p:charRg st="228" end="251"/>
                                            </p:txEl>
                                          </p:spTgt>
                                        </p:tgtEl>
                                        <p:attrNameLst>
                                          <p:attrName>style.visibility</p:attrName>
                                        </p:attrNameLst>
                                      </p:cBhvr>
                                      <p:to>
                                        <p:strVal val="visible"/>
                                      </p:to>
                                    </p:set>
                                    <p:animEffect transition="in" filter="blinds(horizontal)">
                                      <p:cBhvr>
                                        <p:cTn id="51" dur="500"/>
                                        <p:tgtEl>
                                          <p:spTgt spid="471043">
                                            <p:txEl>
                                              <p:charRg st="228" end="2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2067"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直接在对等方间传输：</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所有内容不经过第三方服务器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高度的可扩展能力：</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利用众多对等方集合中的资源去分发内容</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使用客户机</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服务器模式：</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请求的对等方是客户机，被选中的对等方是服务器。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服务器对等方使用文件传输协议向客户机对等方传送</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a:t>
            </a:r>
            <a:endParaRPr kumimoji="0" lang="en-US" altLang="zh-CN" sz="2000" b="1" i="0" u="none" strike="noStrike" kern="1200" cap="none" spc="0" normalizeH="0" baseline="0" noProof="0" dirty="0" smtClean="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通过</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传送“</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HTTP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请求”和“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HTTP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响应”报文进行。</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1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所有的对等方必须既能运行文件传输协议的客户机端程序，又能运行服务器端程序</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a:t>
            </a:r>
            <a:endParaRPr kumimoji="0" lang="en-US" altLang="zh-CN" sz="2000" b="1" i="0" u="none" strike="noStrike" kern="1200" cap="none" spc="0" normalizeH="0" baseline="0" noProof="0" dirty="0" smtClean="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15000"/>
              </a:lnSpc>
              <a:spcBef>
                <a:spcPts val="600"/>
              </a:spcBef>
              <a:spcAft>
                <a:spcPts val="600"/>
              </a:spcAft>
              <a:buClr>
                <a:schemeClr val="accent2"/>
              </a:buClr>
              <a:buSzTx/>
              <a:buFont typeface="Wingdings" panose="05000000000000000000" pitchFamily="2" charset="2"/>
              <a:buChar char="ü"/>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对等</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方既是一个客户机，又是一个瞬时</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Web</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7206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P2P</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文件共享特点</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2772"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b="1" dirty="0">
                <a:solidFill>
                  <a:srgbClr val="FFFFFF"/>
                </a:solidFill>
              </a:rPr>
            </a:fld>
            <a:endParaRPr lang="zh-CN" altLang="en-US" sz="1800" b="1"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2067">
                                            <p:txEl>
                                              <p:charRg st="24" end="52"/>
                                            </p:txEl>
                                          </p:spTgt>
                                        </p:tgtEl>
                                        <p:attrNameLst>
                                          <p:attrName>style.visibility</p:attrName>
                                        </p:attrNameLst>
                                      </p:cBhvr>
                                      <p:to>
                                        <p:strVal val="visible"/>
                                      </p:to>
                                    </p:set>
                                    <p:animEffect transition="in" filter="wipe(down)">
                                      <p:cBhvr>
                                        <p:cTn id="7" dur="500"/>
                                        <p:tgtEl>
                                          <p:spTgt spid="472067">
                                            <p:txEl>
                                              <p:charRg st="24"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2067">
                                            <p:txEl>
                                              <p:charRg st="52" end="88"/>
                                            </p:txEl>
                                          </p:spTgt>
                                        </p:tgtEl>
                                        <p:attrNameLst>
                                          <p:attrName>style.visibility</p:attrName>
                                        </p:attrNameLst>
                                      </p:cBhvr>
                                      <p:to>
                                        <p:strVal val="visible"/>
                                      </p:to>
                                    </p:set>
                                    <p:animEffect transition="in" filter="blinds(horizontal)">
                                      <p:cBhvr>
                                        <p:cTn id="12" dur="500"/>
                                        <p:tgtEl>
                                          <p:spTgt spid="472067">
                                            <p:txEl>
                                              <p:charRg st="52" end="8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72067">
                                            <p:txEl>
                                              <p:charRg st="88" end="113"/>
                                            </p:txEl>
                                          </p:spTgt>
                                        </p:tgtEl>
                                        <p:attrNameLst>
                                          <p:attrName>style.visibility</p:attrName>
                                        </p:attrNameLst>
                                      </p:cBhvr>
                                      <p:to>
                                        <p:strVal val="visible"/>
                                      </p:to>
                                    </p:set>
                                    <p:animEffect transition="in" filter="wipe(down)">
                                      <p:cBhvr>
                                        <p:cTn id="17" dur="500"/>
                                        <p:tgtEl>
                                          <p:spTgt spid="472067">
                                            <p:txEl>
                                              <p:charRg st="88" end="11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72067">
                                            <p:txEl>
                                              <p:charRg st="113" end="140"/>
                                            </p:txEl>
                                          </p:spTgt>
                                        </p:tgtEl>
                                        <p:attrNameLst>
                                          <p:attrName>style.visibility</p:attrName>
                                        </p:attrNameLst>
                                      </p:cBhvr>
                                      <p:to>
                                        <p:strVal val="visible"/>
                                      </p:to>
                                    </p:set>
                                    <p:animEffect transition="in" filter="wipe(down)">
                                      <p:cBhvr>
                                        <p:cTn id="22" dur="500"/>
                                        <p:tgtEl>
                                          <p:spTgt spid="472067">
                                            <p:txEl>
                                              <p:charRg st="113" end="14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2067">
                                            <p:txEl>
                                              <p:charRg st="140" end="178"/>
                                            </p:txEl>
                                          </p:spTgt>
                                        </p:tgtEl>
                                        <p:attrNameLst>
                                          <p:attrName>style.visibility</p:attrName>
                                        </p:attrNameLst>
                                      </p:cBhvr>
                                      <p:to>
                                        <p:strVal val="visible"/>
                                      </p:to>
                                    </p:set>
                                    <p:animEffect transition="in" filter="blinds(horizontal)">
                                      <p:cBhvr>
                                        <p:cTn id="27" dur="500"/>
                                        <p:tgtEl>
                                          <p:spTgt spid="472067">
                                            <p:txEl>
                                              <p:charRg st="140" end="1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72067">
                                            <p:txEl>
                                              <p:charRg st="178" end="203"/>
                                            </p:txEl>
                                          </p:spTgt>
                                        </p:tgtEl>
                                        <p:attrNameLst>
                                          <p:attrName>style.visibility</p:attrName>
                                        </p:attrNameLst>
                                      </p:cBhvr>
                                      <p:to>
                                        <p:strVal val="visible"/>
                                      </p:to>
                                    </p:set>
                                    <p:animEffect transition="in" filter="blinds(horizontal)">
                                      <p:cBhvr>
                                        <p:cTn id="32" dur="500"/>
                                        <p:tgtEl>
                                          <p:spTgt spid="472067">
                                            <p:txEl>
                                              <p:charRg st="178" end="2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6403"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5000"/>
              </a:lnSpc>
              <a:spcBef>
                <a:spcPct val="15000"/>
              </a:spcBef>
              <a:spcAft>
                <a:spcPts val="600"/>
              </a:spcAft>
              <a:buClr>
                <a:schemeClr val="bg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网络应用程序的核心：</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客户机程序和服务器程序。</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运行时，分别创建一个客户机进程和一个服务器进程，相互之间通过</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套接字读写数据</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进行通信。</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网络应用程序类型：</a:t>
            </a:r>
            <a:endParaRPr kumimoji="0" lang="zh-CN" altLang="en-US" sz="2000" b="1" i="0" u="none" strike="noStrike" kern="1200" cap="none" spc="0" normalizeH="0" baseline="0" noProof="0" dirty="0">
              <a:ln>
                <a:noFill/>
              </a:ln>
              <a:solidFill>
                <a:schemeClr val="accent2"/>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通用应用程序：</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通过</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RFC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文档所定义的标准协议来实现</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程序必须满足该</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RFC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所规定的规则；使用与协议相关的端口号。如</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Web</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应用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专用的应用程序：</a:t>
            </a:r>
            <a:endParaRPr kumimoji="0" lang="zh-CN" altLang="en-US" sz="2000" b="1" i="0" u="none" strike="noStrike" kern="1200" cap="none" spc="0" normalizeH="0" baseline="0" noProof="0" dirty="0">
              <a:ln>
                <a:noFill/>
              </a:ln>
              <a:solidFill>
                <a:schemeClr val="hlink"/>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chemeClr val="bg2"/>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程序不必符合</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RFC</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规则；开发者根据实际应用设计；</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不能使用</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RFC</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中定义的周知端口号</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accent2"/>
              </a:solidFill>
              <a:effectLst/>
              <a:uLnTx/>
              <a:uFillTx/>
              <a:latin typeface="+mj-ea"/>
              <a:ea typeface="+mj-ea"/>
              <a:cs typeface="+mn-cs"/>
            </a:endParaRPr>
          </a:p>
        </p:txBody>
      </p:sp>
      <p:sp>
        <p:nvSpPr>
          <p:cNvPr id="486402"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2.7   TCP</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套接字编程</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3796"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6403">
                                            <p:txEl>
                                              <p:charRg st="78" end="88"/>
                                            </p:txEl>
                                          </p:spTgt>
                                        </p:tgtEl>
                                        <p:attrNameLst>
                                          <p:attrName>style.visibility</p:attrName>
                                        </p:attrNameLst>
                                      </p:cBhvr>
                                      <p:to>
                                        <p:strVal val="visible"/>
                                      </p:to>
                                    </p:set>
                                    <p:animEffect transition="in" filter="blinds(horizontal)">
                                      <p:cBhvr>
                                        <p:cTn id="7" dur="500"/>
                                        <p:tgtEl>
                                          <p:spTgt spid="486403">
                                            <p:txEl>
                                              <p:charRg st="78" end="8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6403">
                                            <p:txEl>
                                              <p:charRg st="88" end="114"/>
                                            </p:txEl>
                                          </p:spTgt>
                                        </p:tgtEl>
                                        <p:attrNameLst>
                                          <p:attrName>style.visibility</p:attrName>
                                        </p:attrNameLst>
                                      </p:cBhvr>
                                      <p:to>
                                        <p:strVal val="visible"/>
                                      </p:to>
                                    </p:set>
                                    <p:animEffect transition="in" filter="blinds(horizontal)">
                                      <p:cBhvr>
                                        <p:cTn id="10" dur="500"/>
                                        <p:tgtEl>
                                          <p:spTgt spid="486403">
                                            <p:txEl>
                                              <p:charRg st="88" end="11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6403">
                                            <p:txEl>
                                              <p:charRg st="114" end="162"/>
                                            </p:txEl>
                                          </p:spTgt>
                                        </p:tgtEl>
                                        <p:attrNameLst>
                                          <p:attrName>style.visibility</p:attrName>
                                        </p:attrNameLst>
                                      </p:cBhvr>
                                      <p:to>
                                        <p:strVal val="visible"/>
                                      </p:to>
                                    </p:set>
                                    <p:animEffect transition="in" filter="blinds(horizontal)">
                                      <p:cBhvr>
                                        <p:cTn id="13" dur="500"/>
                                        <p:tgtEl>
                                          <p:spTgt spid="486403">
                                            <p:txEl>
                                              <p:charRg st="114" end="16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6403">
                                            <p:txEl>
                                              <p:charRg st="162" end="171"/>
                                            </p:txEl>
                                          </p:spTgt>
                                        </p:tgtEl>
                                        <p:attrNameLst>
                                          <p:attrName>style.visibility</p:attrName>
                                        </p:attrNameLst>
                                      </p:cBhvr>
                                      <p:to>
                                        <p:strVal val="visible"/>
                                      </p:to>
                                    </p:set>
                                    <p:animEffect transition="in" filter="blinds(horizontal)">
                                      <p:cBhvr>
                                        <p:cTn id="16" dur="500"/>
                                        <p:tgtEl>
                                          <p:spTgt spid="486403">
                                            <p:txEl>
                                              <p:charRg st="162" end="17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86403">
                                            <p:txEl>
                                              <p:charRg st="171" end="226"/>
                                            </p:txEl>
                                          </p:spTgt>
                                        </p:tgtEl>
                                        <p:attrNameLst>
                                          <p:attrName>style.visibility</p:attrName>
                                        </p:attrNameLst>
                                      </p:cBhvr>
                                      <p:to>
                                        <p:strVal val="visible"/>
                                      </p:to>
                                    </p:set>
                                    <p:animEffect transition="in" filter="blinds(horizontal)">
                                      <p:cBhvr>
                                        <p:cTn id="19" dur="500"/>
                                        <p:tgtEl>
                                          <p:spTgt spid="486403">
                                            <p:txEl>
                                              <p:charRg st="171" end="2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7427"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研发初期，先选择运输层协议：</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accent2"/>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accent2"/>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面向</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连接的，为两个端系统之间的数据流动提供</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可靠的字节流通道</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a:ln>
                  <a:noFill/>
                </a:ln>
                <a:solidFill>
                  <a:schemeClr val="accent2"/>
                </a:solidFill>
                <a:effectLst/>
                <a:uLnTx/>
                <a:uFillTx/>
                <a:latin typeface="+mj-ea"/>
                <a:ea typeface="+mj-ea"/>
                <a:cs typeface="+mn-cs"/>
              </a:rPr>
              <a:t>UDP</a:t>
            </a: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accent2"/>
              </a:solidFill>
              <a:effectLst/>
              <a:uLnTx/>
              <a:uFillTx/>
              <a:latin typeface="+mj-ea"/>
              <a:ea typeface="+mj-ea"/>
              <a:cs typeface="+mn-cs"/>
            </a:endParaRPr>
          </a:p>
          <a:p>
            <a:pPr marL="365125" marR="0" lvl="0" indent="-255905" algn="l" defTabSz="914400" rtl="0" eaLnBrk="1" fontAlgn="base" latinLnBrk="0" hangingPunct="1">
              <a:lnSpc>
                <a:spcPct val="125000"/>
              </a:lnSpc>
              <a:spcBef>
                <a:spcPts val="300"/>
              </a:spcBef>
              <a:spcAft>
                <a:spcPts val="600"/>
              </a:spcAft>
              <a:buClr>
                <a:srgbClr val="A04DA3"/>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无</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连接的，从一个端系统向另一个端系统</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发送独立的数据分组，不对交付提供任何保证。 </a:t>
            </a:r>
            <a:endParaRPr kumimoji="0" lang="zh-CN" altLang="en-US" sz="2000" b="1" i="0" u="none" strike="noStrike" kern="1200" cap="none" spc="0" normalizeH="0" baseline="0" noProof="0" dirty="0">
              <a:ln>
                <a:noFill/>
              </a:ln>
              <a:solidFill>
                <a:srgbClr val="FF3300"/>
              </a:solidFill>
              <a:effectLst/>
              <a:uLnTx/>
              <a:uFillTx/>
              <a:latin typeface="+mj-ea"/>
              <a:ea typeface="+mj-ea"/>
              <a:cs typeface="+mn-cs"/>
            </a:endParaRPr>
          </a:p>
        </p:txBody>
      </p:sp>
      <p:sp>
        <p:nvSpPr>
          <p:cNvPr id="48742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说明</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4820"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9475" name="Rectangle 3"/>
          <p:cNvSpPr>
            <a:spLocks noGrp="1" noChangeArrowheads="1"/>
          </p:cNvSpPr>
          <p:nvPr>
            <p:ph idx="1"/>
          </p:nvPr>
        </p:nvSpPr>
        <p:spPr>
          <a:xfrm>
            <a:off x="325438" y="1989138"/>
            <a:ext cx="8361363" cy="4679950"/>
          </a:xfrm>
          <a:ln>
            <a:solidFill>
              <a:srgbClr val="FF3300"/>
            </a:solidFill>
            <a:miter lim="800000"/>
          </a:ln>
        </p:spPr>
        <p:txBody>
          <a:bodyPr vert="horz" wrap="square" lIns="91440" tIns="45720" rIns="91440" bIns="45720" numCol="1" anchor="t" anchorCtr="0" compatLnSpc="1"/>
          <a:lstStyle/>
          <a:p>
            <a:pPr marL="365125" marR="0" lvl="0" indent="-255905"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zh-CN" sz="2000" b="1" i="0" u="none" strike="noStrike" kern="1200" cap="none" spc="0" normalizeH="0" baseline="0" noProof="0" dirty="0">
                <a:ln>
                  <a:noFill/>
                </a:ln>
                <a:solidFill>
                  <a:schemeClr val="tx1"/>
                </a:solidFill>
                <a:effectLst/>
                <a:uLnTx/>
                <a:uFillTx/>
                <a:latin typeface="+mj-ea"/>
                <a:ea typeface="+mj-ea"/>
                <a:cs typeface="+mn-cs"/>
              </a:rPr>
              <a:t>运行在不同机器上的</a:t>
            </a:r>
            <a:r>
              <a:rPr kumimoji="0" lang="zh-CN" altLang="zh-CN" sz="2000" b="1" i="0" u="none" strike="noStrike" kern="1200" cap="none" spc="0" normalizeH="0" baseline="0" noProof="0" dirty="0">
                <a:ln>
                  <a:noFill/>
                </a:ln>
                <a:solidFill>
                  <a:srgbClr val="FF3300"/>
                </a:solidFill>
                <a:effectLst/>
                <a:uLnTx/>
                <a:uFillTx/>
                <a:latin typeface="+mj-ea"/>
                <a:ea typeface="+mj-ea"/>
                <a:cs typeface="+mn-cs"/>
              </a:rPr>
              <a:t>进程彼此通过套接字传递报文</a:t>
            </a:r>
            <a:r>
              <a:rPr kumimoji="0" lang="zh-CN" altLang="zh-CN" sz="2000" b="1" i="0" u="none" strike="noStrike" kern="1200" cap="none" spc="0" normalizeH="0" baseline="0" noProof="0" dirty="0">
                <a:ln>
                  <a:noFill/>
                </a:ln>
                <a:solidFill>
                  <a:schemeClr val="tx1"/>
                </a:solidFill>
                <a:effectLst/>
                <a:uLnTx/>
                <a:uFillTx/>
                <a:latin typeface="+mj-ea"/>
                <a:ea typeface="+mj-ea"/>
                <a:cs typeface="+mn-cs"/>
              </a:rPr>
              <a:t>来进行通信。</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zh-CN" sz="2000" b="1" i="0" u="none" strike="noStrike" kern="1200" cap="none" spc="0" normalizeH="0" baseline="0" noProof="0" dirty="0">
                <a:ln>
                  <a:noFill/>
                </a:ln>
                <a:solidFill>
                  <a:srgbClr val="FF33CC"/>
                </a:solidFill>
                <a:effectLst/>
                <a:uLnTx/>
                <a:uFillTx/>
                <a:latin typeface="+mj-ea"/>
                <a:ea typeface="+mj-ea"/>
                <a:cs typeface="+mn-cs"/>
              </a:rPr>
              <a:t>进程</a:t>
            </a:r>
            <a:r>
              <a:rPr kumimoji="0" lang="en-US" altLang="zh-CN" sz="2000" b="1" i="0" u="none" strike="noStrike" kern="1200" cap="none" spc="0" normalizeH="0" baseline="0" noProof="0" dirty="0">
                <a:ln>
                  <a:noFill/>
                </a:ln>
                <a:solidFill>
                  <a:srgbClr val="FF33CC"/>
                </a:solidFill>
                <a:effectLst/>
                <a:uLnTx/>
                <a:uFillTx/>
                <a:latin typeface="+mj-ea"/>
                <a:ea typeface="+mj-ea"/>
                <a:cs typeface="+mn-cs"/>
              </a:rPr>
              <a:t>/</a:t>
            </a:r>
            <a:r>
              <a:rPr kumimoji="0" lang="zh-CN" altLang="en-US" sz="2000" b="1" i="0" u="none" strike="noStrike" kern="1200" cap="none" spc="0" normalizeH="0" baseline="0" noProof="0" dirty="0">
                <a:ln>
                  <a:noFill/>
                </a:ln>
                <a:solidFill>
                  <a:srgbClr val="FF33CC"/>
                </a:solidFill>
                <a:effectLst/>
                <a:uLnTx/>
                <a:uFillTx/>
                <a:latin typeface="+mj-ea"/>
                <a:ea typeface="+mj-ea"/>
                <a:cs typeface="+mn-cs"/>
              </a:rPr>
              <a:t>套接字：</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房子</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门户，即套接字是应用进程和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之间的门户。</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0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程序开发者可以控制应用层端所有东西；不能控制运输层端。</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 </a:t>
            </a:r>
            <a:r>
              <a:rPr kumimoji="0" lang="en-US" altLang="zh-CN" sz="2000" b="1" i="0" u="none" strike="noStrike" kern="1200" cap="none" spc="0" normalizeH="0" baseline="0" noProof="0" dirty="0">
                <a:ln>
                  <a:noFill/>
                </a:ln>
                <a:solidFill>
                  <a:srgbClr val="FF33CC"/>
                </a:solidFill>
                <a:effectLst/>
                <a:uLnTx/>
                <a:uFillTx/>
                <a:latin typeface="+mj-ea"/>
                <a:ea typeface="+mj-ea"/>
                <a:cs typeface="+mn-cs"/>
              </a:rPr>
              <a:t>TCP</a:t>
            </a:r>
            <a:r>
              <a:rPr kumimoji="0" lang="zh-CN" altLang="en-US" sz="2000" b="1" i="0" u="none" strike="noStrike" kern="1200" cap="none" spc="0" normalizeH="0" baseline="0" noProof="0" dirty="0">
                <a:ln>
                  <a:noFill/>
                </a:ln>
                <a:solidFill>
                  <a:srgbClr val="FF33CC"/>
                </a:solidFill>
                <a:effectLst/>
                <a:uLnTx/>
                <a:uFillTx/>
                <a:latin typeface="+mj-ea"/>
                <a:ea typeface="+mj-ea"/>
                <a:cs typeface="+mn-cs"/>
              </a:rPr>
              <a:t>服务</a:t>
            </a:r>
            <a:r>
              <a:rPr kumimoji="0" lang="en-US" altLang="zh-CN" sz="2000" b="1" i="0" u="none" strike="noStrike" kern="1200" cap="none" spc="0" normalizeH="0" baseline="0" noProof="0" dirty="0">
                <a:ln>
                  <a:noFill/>
                </a:ln>
                <a:solidFill>
                  <a:srgbClr val="FF33CC"/>
                </a:solidFill>
                <a:effectLst/>
                <a:uLnTx/>
                <a:uFillTx/>
                <a:latin typeface="+mj-ea"/>
                <a:ea typeface="+mj-ea"/>
                <a:cs typeface="+mn-cs"/>
              </a:rPr>
              <a:t>:</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从一个进程到另一个进程的</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可靠字节传输</a:t>
            </a:r>
            <a:endParaRPr kumimoji="0" lang="en-US" altLang="zh-CN" sz="2000" b="1" i="0" u="none" strike="noStrike" kern="1200" cap="none" spc="0" normalizeH="0" baseline="0" noProof="0" dirty="0">
              <a:ln>
                <a:noFill/>
              </a:ln>
              <a:solidFill>
                <a:srgbClr val="FF3300"/>
              </a:solidFill>
              <a:effectLst/>
              <a:uLnTx/>
              <a:uFillTx/>
              <a:latin typeface="+mj-ea"/>
              <a:ea typeface="+mj-ea"/>
              <a:cs typeface="+mn-cs"/>
            </a:endParaRPr>
          </a:p>
        </p:txBody>
      </p:sp>
      <p:sp>
        <p:nvSpPr>
          <p:cNvPr id="489474"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2.7.1 TCP</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套接字编程</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5844"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35845" name="Group 39"/>
          <p:cNvGrpSpPr/>
          <p:nvPr/>
        </p:nvGrpSpPr>
        <p:grpSpPr>
          <a:xfrm>
            <a:off x="325438" y="4068763"/>
            <a:ext cx="8404225" cy="2563812"/>
            <a:chOff x="205" y="2451"/>
            <a:chExt cx="5294" cy="1728"/>
          </a:xfrm>
        </p:grpSpPr>
        <p:sp>
          <p:nvSpPr>
            <p:cNvPr id="35846" name="Text Box 15"/>
            <p:cNvSpPr txBox="1"/>
            <p:nvPr/>
          </p:nvSpPr>
          <p:spPr>
            <a:xfrm>
              <a:off x="205" y="3292"/>
              <a:ext cx="1012" cy="227"/>
            </a:xfrm>
            <a:prstGeom prst="rect">
              <a:avLst/>
            </a:prstGeom>
            <a:noFill/>
            <a:ln w="9525">
              <a:noFill/>
            </a:ln>
          </p:spPr>
          <p:txBody>
            <a:bodyPr wrap="none" anchor="ctr" anchorCtr="0">
              <a:spAutoFit/>
            </a:bodyPr>
            <a:p>
              <a:pPr algn="r"/>
              <a:r>
                <a:rPr lang="zh-CN" altLang="en-US" sz="1600" dirty="0">
                  <a:latin typeface="Times New Roman" panose="02020603050405020304" pitchFamily="18" charset="0"/>
                  <a:ea typeface="宋体" panose="02010600030101010101" pitchFamily="2" charset="-122"/>
                </a:rPr>
                <a:t>由操作系统控制</a:t>
              </a:r>
              <a:endParaRPr lang="en-US" altLang="zh-CN" dirty="0">
                <a:latin typeface="Times New Roman" panose="02020603050405020304" pitchFamily="18" charset="0"/>
                <a:ea typeface="宋体" panose="02010600030101010101" pitchFamily="2" charset="-122"/>
              </a:endParaRPr>
            </a:p>
          </p:txBody>
        </p:sp>
        <p:grpSp>
          <p:nvGrpSpPr>
            <p:cNvPr id="35847" name="Group 38"/>
            <p:cNvGrpSpPr/>
            <p:nvPr/>
          </p:nvGrpSpPr>
          <p:grpSpPr>
            <a:xfrm>
              <a:off x="422" y="2451"/>
              <a:ext cx="5077" cy="1728"/>
              <a:chOff x="422" y="2451"/>
              <a:chExt cx="5077" cy="1728"/>
            </a:xfrm>
          </p:grpSpPr>
          <p:graphicFrame>
            <p:nvGraphicFramePr>
              <p:cNvPr id="35848" name="Object 19"/>
              <p:cNvGraphicFramePr>
                <a:graphicFrameLocks noChangeAspect="1"/>
              </p:cNvGraphicFramePr>
              <p:nvPr/>
            </p:nvGraphicFramePr>
            <p:xfrm>
              <a:off x="3634" y="2451"/>
              <a:ext cx="708" cy="562"/>
            </p:xfrm>
            <a:graphic>
              <a:graphicData uri="http://schemas.openxmlformats.org/presentationml/2006/ole">
                <mc:AlternateContent xmlns:mc="http://schemas.openxmlformats.org/markup-compatibility/2006">
                  <mc:Choice xmlns:v="urn:schemas-microsoft-com:vml" Requires="v">
                    <p:oleObj spid="_x0000_s3076" name="" r:id="rId1" imgW="1307465" imgH="1083945" progId="MS_ClipArt_Gallery.2">
                      <p:embed/>
                    </p:oleObj>
                  </mc:Choice>
                  <mc:Fallback>
                    <p:oleObj name="" r:id="rId1" imgW="1307465" imgH="1083945" progId="MS_ClipArt_Gallery.2">
                      <p:embed/>
                      <p:pic>
                        <p:nvPicPr>
                          <p:cNvPr id="0" name="图片 3075"/>
                          <p:cNvPicPr/>
                          <p:nvPr/>
                        </p:nvPicPr>
                        <p:blipFill>
                          <a:blip r:embed="rId2"/>
                          <a:stretch>
                            <a:fillRect/>
                          </a:stretch>
                        </p:blipFill>
                        <p:spPr>
                          <a:xfrm>
                            <a:off x="3634" y="2451"/>
                            <a:ext cx="708" cy="562"/>
                          </a:xfrm>
                          <a:prstGeom prst="rect">
                            <a:avLst/>
                          </a:prstGeom>
                          <a:noFill/>
                          <a:ln w="38100">
                            <a:noFill/>
                            <a:miter/>
                          </a:ln>
                        </p:spPr>
                      </p:pic>
                    </p:oleObj>
                  </mc:Fallback>
                </mc:AlternateContent>
              </a:graphicData>
            </a:graphic>
          </p:graphicFrame>
          <p:grpSp>
            <p:nvGrpSpPr>
              <p:cNvPr id="35849" name="Group 37"/>
              <p:cNvGrpSpPr/>
              <p:nvPr/>
            </p:nvGrpSpPr>
            <p:grpSpPr>
              <a:xfrm>
                <a:off x="422" y="2509"/>
                <a:ext cx="5077" cy="1670"/>
                <a:chOff x="422" y="2213"/>
                <a:chExt cx="5077" cy="1670"/>
              </a:xfrm>
            </p:grpSpPr>
            <p:graphicFrame>
              <p:nvGraphicFramePr>
                <p:cNvPr id="35850" name="Object 4"/>
                <p:cNvGraphicFramePr>
                  <a:graphicFrameLocks noChangeAspect="1"/>
                </p:cNvGraphicFramePr>
                <p:nvPr/>
              </p:nvGraphicFramePr>
              <p:xfrm>
                <a:off x="1306" y="2213"/>
                <a:ext cx="708" cy="562"/>
              </p:xfrm>
              <a:graphic>
                <a:graphicData uri="http://schemas.openxmlformats.org/presentationml/2006/ole">
                  <mc:AlternateContent xmlns:mc="http://schemas.openxmlformats.org/markup-compatibility/2006">
                    <mc:Choice xmlns:v="urn:schemas-microsoft-com:vml" Requires="v">
                      <p:oleObj spid="_x0000_s3077" name="" r:id="rId3" imgW="1307465" imgH="1083945" progId="MS_ClipArt_Gallery.2">
                        <p:embed/>
                      </p:oleObj>
                    </mc:Choice>
                    <mc:Fallback>
                      <p:oleObj name="" r:id="rId3" imgW="1307465" imgH="1083945" progId="MS_ClipArt_Gallery.2">
                        <p:embed/>
                        <p:pic>
                          <p:nvPicPr>
                            <p:cNvPr id="0" name="图片 3076"/>
                            <p:cNvPicPr/>
                            <p:nvPr/>
                          </p:nvPicPr>
                          <p:blipFill>
                            <a:blip r:embed="rId2"/>
                            <a:stretch>
                              <a:fillRect/>
                            </a:stretch>
                          </p:blipFill>
                          <p:spPr>
                            <a:xfrm>
                              <a:off x="1306" y="2213"/>
                              <a:ext cx="708" cy="562"/>
                            </a:xfrm>
                            <a:prstGeom prst="rect">
                              <a:avLst/>
                            </a:prstGeom>
                            <a:noFill/>
                            <a:ln w="38100">
                              <a:noFill/>
                              <a:miter/>
                            </a:ln>
                          </p:spPr>
                        </p:pic>
                      </p:oleObj>
                    </mc:Fallback>
                  </mc:AlternateContent>
                </a:graphicData>
              </a:graphic>
            </p:graphicFrame>
            <p:grpSp>
              <p:nvGrpSpPr>
                <p:cNvPr id="35851" name="Group 5"/>
                <p:cNvGrpSpPr/>
                <p:nvPr/>
              </p:nvGrpSpPr>
              <p:grpSpPr>
                <a:xfrm>
                  <a:off x="1252" y="2421"/>
                  <a:ext cx="879" cy="1021"/>
                  <a:chOff x="568" y="2253"/>
                  <a:chExt cx="879" cy="1021"/>
                </a:xfrm>
              </p:grpSpPr>
              <p:sp>
                <p:nvSpPr>
                  <p:cNvPr id="35873" name="Rectangle 6"/>
                  <p:cNvSpPr/>
                  <p:nvPr/>
                </p:nvSpPr>
                <p:spPr>
                  <a:xfrm>
                    <a:off x="678" y="2280"/>
                    <a:ext cx="642" cy="288"/>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35874" name="Text Box 7"/>
                  <p:cNvSpPr txBox="1"/>
                  <p:nvPr/>
                </p:nvSpPr>
                <p:spPr>
                  <a:xfrm>
                    <a:off x="807" y="2253"/>
                    <a:ext cx="404" cy="247"/>
                  </a:xfrm>
                  <a:prstGeom prst="rect">
                    <a:avLst/>
                  </a:prstGeom>
                  <a:noFill/>
                  <a:ln w="9525">
                    <a:noFill/>
                  </a:ln>
                </p:spPr>
                <p:txBody>
                  <a:bodyPr wrap="none" anchor="ctr" anchorCtr="0">
                    <a:spAutoFit/>
                  </a:bodyPr>
                  <a:p>
                    <a:r>
                      <a:rPr lang="zh-CN" altLang="en-US" sz="1800" dirty="0">
                        <a:latin typeface="Times New Roman" panose="02020603050405020304" pitchFamily="18" charset="0"/>
                        <a:ea typeface="宋体" panose="02010600030101010101" pitchFamily="2" charset="-122"/>
                      </a:rPr>
                      <a:t>进程</a:t>
                    </a:r>
                    <a:endParaRPr lang="zh-CN" altLang="en-US" sz="1800" dirty="0">
                      <a:latin typeface="Times New Roman" panose="02020603050405020304" pitchFamily="18" charset="0"/>
                      <a:ea typeface="宋体" panose="02010600030101010101" pitchFamily="2" charset="-122"/>
                    </a:endParaRPr>
                  </a:p>
                </p:txBody>
              </p:sp>
              <p:grpSp>
                <p:nvGrpSpPr>
                  <p:cNvPr id="35875" name="Group 8"/>
                  <p:cNvGrpSpPr/>
                  <p:nvPr/>
                </p:nvGrpSpPr>
                <p:grpSpPr>
                  <a:xfrm>
                    <a:off x="568" y="2628"/>
                    <a:ext cx="879" cy="646"/>
                    <a:chOff x="556" y="2610"/>
                    <a:chExt cx="879" cy="646"/>
                  </a:xfrm>
                </p:grpSpPr>
                <p:sp>
                  <p:nvSpPr>
                    <p:cNvPr id="35879" name="Text Box 9"/>
                    <p:cNvSpPr txBox="1"/>
                    <p:nvPr/>
                  </p:nvSpPr>
                  <p:spPr>
                    <a:xfrm>
                      <a:off x="556" y="2639"/>
                      <a:ext cx="879" cy="617"/>
                    </a:xfrm>
                    <a:prstGeom prst="rect">
                      <a:avLst/>
                    </a:prstGeom>
                    <a:noFill/>
                    <a:ln w="9525">
                      <a:noFill/>
                    </a:ln>
                  </p:spPr>
                  <p:txBody>
                    <a:bodyPr wrap="none" anchor="ctr" anchorCtr="0">
                      <a:spAutoFit/>
                    </a:bodyPr>
                    <a:p>
                      <a:r>
                        <a:rPr lang="zh-CN" altLang="en-US" sz="1800" dirty="0">
                          <a:latin typeface="Times New Roman" panose="02020603050405020304" pitchFamily="18" charset="0"/>
                          <a:ea typeface="宋体" panose="02010600030101010101" pitchFamily="2" charset="-122"/>
                        </a:rPr>
                        <a:t> 具有缓存，</a:t>
                      </a:r>
                      <a:endParaRPr lang="zh-CN" altLang="en-US" sz="1800" dirty="0">
                        <a:latin typeface="Times New Roman" panose="02020603050405020304" pitchFamily="18" charset="0"/>
                        <a:ea typeface="宋体" panose="02010600030101010101" pitchFamily="2" charset="-122"/>
                      </a:endParaRPr>
                    </a:p>
                    <a:p>
                      <a:r>
                        <a:rPr lang="zh-CN" altLang="en-US" sz="1800" dirty="0">
                          <a:latin typeface="Times New Roman" panose="02020603050405020304" pitchFamily="18" charset="0"/>
                          <a:ea typeface="宋体" panose="02010600030101010101" pitchFamily="2" charset="-122"/>
                        </a:rPr>
                        <a:t>变量的</a:t>
                      </a:r>
                      <a:endParaRPr lang="zh-CN" altLang="en-US" sz="1800" dirty="0">
                        <a:latin typeface="Times New Roman" panose="02020603050405020304" pitchFamily="18" charset="0"/>
                        <a:ea typeface="宋体" panose="02010600030101010101" pitchFamily="2" charset="-122"/>
                      </a:endParaRPr>
                    </a:p>
                    <a:p>
                      <a:r>
                        <a:rPr lang="en-US" altLang="zh-CN" sz="1800" dirty="0">
                          <a:latin typeface="Times New Roman" panose="02020603050405020304" pitchFamily="18" charset="0"/>
                          <a:ea typeface="宋体" panose="02010600030101010101" pitchFamily="2" charset="-122"/>
                        </a:rPr>
                        <a:t>TCP</a:t>
                      </a:r>
                      <a:endParaRPr lang="en-US" altLang="zh-CN" sz="1800" dirty="0">
                        <a:latin typeface="Times New Roman" panose="02020603050405020304" pitchFamily="18" charset="0"/>
                        <a:ea typeface="宋体" panose="02010600030101010101" pitchFamily="2" charset="-122"/>
                      </a:endParaRPr>
                    </a:p>
                  </p:txBody>
                </p:sp>
                <p:sp>
                  <p:nvSpPr>
                    <p:cNvPr id="35880" name="Rectangle 10"/>
                    <p:cNvSpPr/>
                    <p:nvPr/>
                  </p:nvSpPr>
                  <p:spPr>
                    <a:xfrm>
                      <a:off x="672" y="2610"/>
                      <a:ext cx="642" cy="630"/>
                    </a:xfrm>
                    <a:prstGeom prst="rect">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grpSp>
                <p:nvGrpSpPr>
                  <p:cNvPr id="35876" name="Group 11"/>
                  <p:cNvGrpSpPr/>
                  <p:nvPr/>
                </p:nvGrpSpPr>
                <p:grpSpPr>
                  <a:xfrm>
                    <a:off x="747" y="2493"/>
                    <a:ext cx="548" cy="247"/>
                    <a:chOff x="903" y="3729"/>
                    <a:chExt cx="548" cy="247"/>
                  </a:xfrm>
                </p:grpSpPr>
                <p:sp>
                  <p:nvSpPr>
                    <p:cNvPr id="35877" name="Rectangle 12"/>
                    <p:cNvSpPr/>
                    <p:nvPr/>
                  </p:nvSpPr>
                  <p:spPr>
                    <a:xfrm>
                      <a:off x="924" y="3774"/>
                      <a:ext cx="492" cy="156"/>
                    </a:xfrm>
                    <a:prstGeom prst="rect">
                      <a:avLst/>
                    </a:prstGeom>
                    <a:solidFill>
                      <a:srgbClr val="FF0000"/>
                    </a:solidFill>
                    <a:ln w="9525">
                      <a:noFill/>
                    </a:ln>
                  </p:spPr>
                  <p:txBody>
                    <a:bodyPr wrap="none" anchor="ctr" anchorCtr="0"/>
                    <a:p>
                      <a:endParaRPr lang="zh-CN" altLang="en-US" dirty="0">
                        <a:latin typeface="Times New Roman" panose="02020603050405020304" pitchFamily="18" charset="0"/>
                      </a:endParaRPr>
                    </a:p>
                  </p:txBody>
                </p:sp>
                <p:sp>
                  <p:nvSpPr>
                    <p:cNvPr id="35878" name="Text Box 13"/>
                    <p:cNvSpPr txBox="1"/>
                    <p:nvPr/>
                  </p:nvSpPr>
                  <p:spPr>
                    <a:xfrm>
                      <a:off x="903" y="3729"/>
                      <a:ext cx="548" cy="247"/>
                    </a:xfrm>
                    <a:prstGeom prst="rect">
                      <a:avLst/>
                    </a:prstGeom>
                    <a:noFill/>
                    <a:ln w="9525">
                      <a:noFill/>
                    </a:ln>
                  </p:spPr>
                  <p:txBody>
                    <a:bodyPr wrap="none" anchor="ctr" anchorCtr="0">
                      <a:spAutoFit/>
                    </a:bodyPr>
                    <a:p>
                      <a:r>
                        <a:rPr lang="zh-CN" altLang="en-US" sz="1800" dirty="0">
                          <a:solidFill>
                            <a:schemeClr val="bg1"/>
                          </a:solidFill>
                          <a:latin typeface="Times New Roman" panose="02020603050405020304" pitchFamily="18" charset="0"/>
                          <a:ea typeface="宋体" panose="02010600030101010101" pitchFamily="2" charset="-122"/>
                        </a:rPr>
                        <a:t>套接字</a:t>
                      </a:r>
                      <a:endParaRPr lang="zh-CN" altLang="en-US" dirty="0">
                        <a:latin typeface="Times New Roman" panose="02020603050405020304" pitchFamily="18" charset="0"/>
                        <a:ea typeface="宋体" panose="02010600030101010101" pitchFamily="2" charset="-122"/>
                      </a:endParaRPr>
                    </a:p>
                  </p:txBody>
                </p:sp>
              </p:grpSp>
            </p:grpSp>
            <p:sp>
              <p:nvSpPr>
                <p:cNvPr id="35852" name="Text Box 14"/>
                <p:cNvSpPr txBox="1"/>
                <p:nvPr/>
              </p:nvSpPr>
              <p:spPr>
                <a:xfrm>
                  <a:off x="422" y="2425"/>
                  <a:ext cx="767" cy="391"/>
                </a:xfrm>
                <a:prstGeom prst="rect">
                  <a:avLst/>
                </a:prstGeom>
                <a:noFill/>
                <a:ln w="9525">
                  <a:noFill/>
                </a:ln>
              </p:spPr>
              <p:txBody>
                <a:bodyPr anchor="ctr" anchorCtr="0">
                  <a:spAutoFit/>
                </a:bodyPr>
                <a:p>
                  <a:pPr algn="r"/>
                  <a:r>
                    <a:rPr lang="zh-CN" altLang="en-US" sz="1600" dirty="0">
                      <a:latin typeface="Times New Roman" panose="02020603050405020304" pitchFamily="18" charset="0"/>
                      <a:ea typeface="宋体" panose="02010600030101010101" pitchFamily="2" charset="-122"/>
                    </a:rPr>
                    <a:t>由应用程序研发者控制</a:t>
                  </a:r>
                  <a:endParaRPr lang="en-US" altLang="zh-CN" dirty="0">
                    <a:latin typeface="Times New Roman" panose="02020603050405020304" pitchFamily="18" charset="0"/>
                    <a:ea typeface="宋体" panose="02010600030101010101" pitchFamily="2" charset="-122"/>
                  </a:endParaRPr>
                </a:p>
              </p:txBody>
            </p:sp>
            <p:sp>
              <p:nvSpPr>
                <p:cNvPr id="35853" name="Line 16"/>
                <p:cNvSpPr/>
                <p:nvPr/>
              </p:nvSpPr>
              <p:spPr>
                <a:xfrm flipV="1">
                  <a:off x="1224" y="2454"/>
                  <a:ext cx="0" cy="306"/>
                </a:xfrm>
                <a:prstGeom prst="line">
                  <a:avLst/>
                </a:prstGeom>
                <a:ln w="28575" cap="flat" cmpd="sng">
                  <a:solidFill>
                    <a:schemeClr val="tx1"/>
                  </a:solidFill>
                  <a:prstDash val="solid"/>
                  <a:headEnd type="triangle" w="med" len="med"/>
                  <a:tailEnd type="triangle" w="med" len="med"/>
                </a:ln>
              </p:spPr>
            </p:sp>
            <p:sp>
              <p:nvSpPr>
                <p:cNvPr id="35854" name="Line 17"/>
                <p:cNvSpPr/>
                <p:nvPr/>
              </p:nvSpPr>
              <p:spPr>
                <a:xfrm flipH="1" flipV="1">
                  <a:off x="1218" y="2820"/>
                  <a:ext cx="0" cy="630"/>
                </a:xfrm>
                <a:prstGeom prst="line">
                  <a:avLst/>
                </a:prstGeom>
                <a:ln w="28575" cap="flat" cmpd="sng">
                  <a:solidFill>
                    <a:schemeClr val="tx1"/>
                  </a:solidFill>
                  <a:prstDash val="solid"/>
                  <a:headEnd type="triangle" w="med" len="med"/>
                  <a:tailEnd type="triangle" w="med" len="med"/>
                </a:ln>
              </p:spPr>
            </p:sp>
            <p:sp>
              <p:nvSpPr>
                <p:cNvPr id="35855" name="Text Box 18"/>
                <p:cNvSpPr txBox="1"/>
                <p:nvPr/>
              </p:nvSpPr>
              <p:spPr>
                <a:xfrm>
                  <a:off x="1148" y="3615"/>
                  <a:ext cx="1076" cy="268"/>
                </a:xfrm>
                <a:prstGeom prst="rect">
                  <a:avLst/>
                </a:prstGeom>
                <a:noFill/>
                <a:ln w="9525">
                  <a:noFill/>
                </a:ln>
              </p:spPr>
              <p:txBody>
                <a:bodyPr wrap="none" anchor="ctr" anchorCtr="0">
                  <a:spAutoFit/>
                </a:bodyPr>
                <a:p>
                  <a:r>
                    <a:rPr lang="zh-CN" altLang="en-US" sz="2000" dirty="0">
                      <a:latin typeface="Times New Roman" panose="02020603050405020304" pitchFamily="18" charset="0"/>
                      <a:ea typeface="宋体" panose="02010600030101010101" pitchFamily="2" charset="-122"/>
                    </a:rPr>
                    <a:t>主机或服务器</a:t>
                  </a:r>
                  <a:endParaRPr lang="en-US" altLang="zh-CN" sz="2000" dirty="0">
                    <a:latin typeface="Times New Roman" panose="02020603050405020304" pitchFamily="18" charset="0"/>
                    <a:ea typeface="宋体" panose="02010600030101010101" pitchFamily="2" charset="-122"/>
                  </a:endParaRPr>
                </a:p>
              </p:txBody>
            </p:sp>
            <p:grpSp>
              <p:nvGrpSpPr>
                <p:cNvPr id="35856" name="Group 20"/>
                <p:cNvGrpSpPr/>
                <p:nvPr/>
              </p:nvGrpSpPr>
              <p:grpSpPr>
                <a:xfrm>
                  <a:off x="3556" y="2355"/>
                  <a:ext cx="879" cy="1057"/>
                  <a:chOff x="568" y="2253"/>
                  <a:chExt cx="879" cy="1057"/>
                </a:xfrm>
              </p:grpSpPr>
              <p:sp>
                <p:nvSpPr>
                  <p:cNvPr id="35865" name="Rectangle 21"/>
                  <p:cNvSpPr/>
                  <p:nvPr/>
                </p:nvSpPr>
                <p:spPr>
                  <a:xfrm>
                    <a:off x="678" y="2280"/>
                    <a:ext cx="642" cy="288"/>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35866" name="Text Box 22"/>
                  <p:cNvSpPr txBox="1"/>
                  <p:nvPr/>
                </p:nvSpPr>
                <p:spPr>
                  <a:xfrm>
                    <a:off x="807" y="2253"/>
                    <a:ext cx="404" cy="247"/>
                  </a:xfrm>
                  <a:prstGeom prst="rect">
                    <a:avLst/>
                  </a:prstGeom>
                  <a:noFill/>
                  <a:ln w="9525">
                    <a:noFill/>
                  </a:ln>
                </p:spPr>
                <p:txBody>
                  <a:bodyPr wrap="none" anchor="ctr" anchorCtr="0">
                    <a:spAutoFit/>
                  </a:bodyPr>
                  <a:p>
                    <a:r>
                      <a:rPr lang="zh-CN" altLang="en-US" sz="1800" dirty="0">
                        <a:latin typeface="Times New Roman" panose="02020603050405020304" pitchFamily="18" charset="0"/>
                        <a:ea typeface="宋体" panose="02010600030101010101" pitchFamily="2" charset="-122"/>
                      </a:rPr>
                      <a:t>进程</a:t>
                    </a:r>
                    <a:endParaRPr lang="zh-CN" altLang="en-US" sz="1800" dirty="0">
                      <a:latin typeface="Times New Roman" panose="02020603050405020304" pitchFamily="18" charset="0"/>
                      <a:ea typeface="宋体" panose="02010600030101010101" pitchFamily="2" charset="-122"/>
                    </a:endParaRPr>
                  </a:p>
                </p:txBody>
              </p:sp>
              <p:grpSp>
                <p:nvGrpSpPr>
                  <p:cNvPr id="35867" name="Group 23"/>
                  <p:cNvGrpSpPr/>
                  <p:nvPr/>
                </p:nvGrpSpPr>
                <p:grpSpPr>
                  <a:xfrm>
                    <a:off x="568" y="2618"/>
                    <a:ext cx="879" cy="692"/>
                    <a:chOff x="556" y="2600"/>
                    <a:chExt cx="879" cy="692"/>
                  </a:xfrm>
                </p:grpSpPr>
                <p:sp>
                  <p:nvSpPr>
                    <p:cNvPr id="35871" name="Text Box 24"/>
                    <p:cNvSpPr txBox="1"/>
                    <p:nvPr/>
                  </p:nvSpPr>
                  <p:spPr>
                    <a:xfrm>
                      <a:off x="556" y="2600"/>
                      <a:ext cx="879" cy="692"/>
                    </a:xfrm>
                    <a:prstGeom prst="rect">
                      <a:avLst/>
                    </a:prstGeom>
                    <a:noFill/>
                    <a:ln w="9525">
                      <a:noFill/>
                    </a:ln>
                  </p:spPr>
                  <p:txBody>
                    <a:bodyPr wrap="none" anchor="ctr" anchorCtr="0">
                      <a:spAutoFit/>
                    </a:bodyPr>
                    <a:p>
                      <a:r>
                        <a:rPr lang="zh-CN" altLang="en-US" sz="1800" dirty="0">
                          <a:latin typeface="Times New Roman" panose="02020603050405020304" pitchFamily="18" charset="0"/>
                          <a:ea typeface="宋体" panose="02010600030101010101" pitchFamily="2" charset="-122"/>
                        </a:rPr>
                        <a:t> 具有缓存，</a:t>
                      </a:r>
                      <a:endParaRPr lang="zh-CN" altLang="en-US" sz="1800" dirty="0">
                        <a:latin typeface="Times New Roman" panose="02020603050405020304" pitchFamily="18" charset="0"/>
                        <a:ea typeface="宋体" panose="02010600030101010101" pitchFamily="2" charset="-122"/>
                      </a:endParaRPr>
                    </a:p>
                    <a:p>
                      <a:r>
                        <a:rPr lang="zh-CN" altLang="en-US" sz="1800" dirty="0">
                          <a:latin typeface="Times New Roman" panose="02020603050405020304" pitchFamily="18" charset="0"/>
                          <a:ea typeface="宋体" panose="02010600030101010101" pitchFamily="2" charset="-122"/>
                        </a:rPr>
                        <a:t>变量的</a:t>
                      </a:r>
                      <a:endParaRPr lang="zh-CN" altLang="en-US" sz="1800" dirty="0">
                        <a:latin typeface="Times New Roman" panose="02020603050405020304" pitchFamily="18" charset="0"/>
                        <a:ea typeface="宋体" panose="02010600030101010101" pitchFamily="2" charset="-122"/>
                      </a:endParaRPr>
                    </a:p>
                    <a:p>
                      <a:r>
                        <a:rPr lang="en-US" altLang="zh-CN" sz="1800" dirty="0">
                          <a:latin typeface="Times New Roman" panose="02020603050405020304" pitchFamily="18" charset="0"/>
                          <a:ea typeface="宋体" panose="02010600030101010101" pitchFamily="2" charset="-122"/>
                        </a:rPr>
                        <a:t>TCP</a:t>
                      </a:r>
                      <a:endParaRPr lang="en-US" altLang="zh-CN" sz="1800" dirty="0">
                        <a:latin typeface="Times New Roman" panose="02020603050405020304" pitchFamily="18" charset="0"/>
                        <a:ea typeface="宋体" panose="02010600030101010101" pitchFamily="2" charset="-122"/>
                      </a:endParaRPr>
                    </a:p>
                  </p:txBody>
                </p:sp>
                <p:sp>
                  <p:nvSpPr>
                    <p:cNvPr id="35872" name="Rectangle 25"/>
                    <p:cNvSpPr/>
                    <p:nvPr/>
                  </p:nvSpPr>
                  <p:spPr>
                    <a:xfrm>
                      <a:off x="672" y="2610"/>
                      <a:ext cx="642" cy="630"/>
                    </a:xfrm>
                    <a:prstGeom prst="rect">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grpSp>
                <p:nvGrpSpPr>
                  <p:cNvPr id="35868" name="Group 26"/>
                  <p:cNvGrpSpPr/>
                  <p:nvPr/>
                </p:nvGrpSpPr>
                <p:grpSpPr>
                  <a:xfrm>
                    <a:off x="747" y="2493"/>
                    <a:ext cx="548" cy="247"/>
                    <a:chOff x="903" y="3729"/>
                    <a:chExt cx="548" cy="247"/>
                  </a:xfrm>
                </p:grpSpPr>
                <p:sp>
                  <p:nvSpPr>
                    <p:cNvPr id="35869" name="Rectangle 27"/>
                    <p:cNvSpPr/>
                    <p:nvPr/>
                  </p:nvSpPr>
                  <p:spPr>
                    <a:xfrm>
                      <a:off x="924" y="3774"/>
                      <a:ext cx="492" cy="156"/>
                    </a:xfrm>
                    <a:prstGeom prst="rect">
                      <a:avLst/>
                    </a:prstGeom>
                    <a:solidFill>
                      <a:srgbClr val="FF0000"/>
                    </a:solidFill>
                    <a:ln w="9525">
                      <a:noFill/>
                    </a:ln>
                  </p:spPr>
                  <p:txBody>
                    <a:bodyPr wrap="none" anchor="ctr" anchorCtr="0"/>
                    <a:p>
                      <a:endParaRPr lang="zh-CN" altLang="en-US" dirty="0">
                        <a:latin typeface="Times New Roman" panose="02020603050405020304" pitchFamily="18" charset="0"/>
                      </a:endParaRPr>
                    </a:p>
                  </p:txBody>
                </p:sp>
                <p:sp>
                  <p:nvSpPr>
                    <p:cNvPr id="35870" name="Text Box 28"/>
                    <p:cNvSpPr txBox="1"/>
                    <p:nvPr/>
                  </p:nvSpPr>
                  <p:spPr>
                    <a:xfrm>
                      <a:off x="903" y="3729"/>
                      <a:ext cx="548" cy="247"/>
                    </a:xfrm>
                    <a:prstGeom prst="rect">
                      <a:avLst/>
                    </a:prstGeom>
                    <a:noFill/>
                    <a:ln w="9525">
                      <a:noFill/>
                    </a:ln>
                  </p:spPr>
                  <p:txBody>
                    <a:bodyPr wrap="none" anchor="ctr" anchorCtr="0">
                      <a:spAutoFit/>
                    </a:bodyPr>
                    <a:p>
                      <a:r>
                        <a:rPr lang="zh-CN" altLang="en-US" sz="1800" dirty="0">
                          <a:solidFill>
                            <a:schemeClr val="bg1"/>
                          </a:solidFill>
                          <a:latin typeface="Times New Roman" panose="02020603050405020304" pitchFamily="18" charset="0"/>
                          <a:ea typeface="宋体" panose="02010600030101010101" pitchFamily="2" charset="-122"/>
                        </a:rPr>
                        <a:t>套接字</a:t>
                      </a:r>
                      <a:endParaRPr lang="zh-CN" altLang="en-US" dirty="0">
                        <a:latin typeface="Times New Roman" panose="02020603050405020304" pitchFamily="18" charset="0"/>
                        <a:ea typeface="宋体" panose="02010600030101010101" pitchFamily="2" charset="-122"/>
                      </a:endParaRPr>
                    </a:p>
                  </p:txBody>
                </p:sp>
              </p:grpSp>
            </p:grpSp>
            <p:sp>
              <p:nvSpPr>
                <p:cNvPr id="35857" name="Text Box 29"/>
                <p:cNvSpPr txBox="1"/>
                <p:nvPr/>
              </p:nvSpPr>
              <p:spPr>
                <a:xfrm>
                  <a:off x="4487" y="2939"/>
                  <a:ext cx="1012" cy="227"/>
                </a:xfrm>
                <a:prstGeom prst="rect">
                  <a:avLst/>
                </a:prstGeom>
                <a:noFill/>
                <a:ln w="9525">
                  <a:noFill/>
                </a:ln>
              </p:spPr>
              <p:txBody>
                <a:bodyPr wrap="none" anchor="ctr" anchorCtr="0">
                  <a:spAutoFit/>
                </a:bodyPr>
                <a:p>
                  <a:r>
                    <a:rPr lang="zh-CN" altLang="en-US" sz="1600" dirty="0">
                      <a:latin typeface="Times New Roman" panose="02020603050405020304" pitchFamily="18" charset="0"/>
                      <a:ea typeface="宋体" panose="02010600030101010101" pitchFamily="2" charset="-122"/>
                    </a:rPr>
                    <a:t>由操作系统控制</a:t>
                  </a:r>
                  <a:endParaRPr lang="en-US" altLang="zh-CN" sz="1600" dirty="0">
                    <a:latin typeface="Times New Roman" panose="02020603050405020304" pitchFamily="18" charset="0"/>
                    <a:ea typeface="宋体" panose="02010600030101010101" pitchFamily="2" charset="-122"/>
                  </a:endParaRPr>
                </a:p>
              </p:txBody>
            </p:sp>
            <p:sp>
              <p:nvSpPr>
                <p:cNvPr id="35858" name="Line 30"/>
                <p:cNvSpPr/>
                <p:nvPr/>
              </p:nvSpPr>
              <p:spPr>
                <a:xfrm flipV="1">
                  <a:off x="4428" y="2370"/>
                  <a:ext cx="0" cy="306"/>
                </a:xfrm>
                <a:prstGeom prst="line">
                  <a:avLst/>
                </a:prstGeom>
                <a:ln w="28575" cap="flat" cmpd="sng">
                  <a:solidFill>
                    <a:schemeClr val="tx1"/>
                  </a:solidFill>
                  <a:prstDash val="solid"/>
                  <a:headEnd type="triangle" w="med" len="med"/>
                  <a:tailEnd type="triangle" w="med" len="med"/>
                </a:ln>
              </p:spPr>
            </p:sp>
            <p:sp>
              <p:nvSpPr>
                <p:cNvPr id="35859" name="Line 31"/>
                <p:cNvSpPr/>
                <p:nvPr/>
              </p:nvSpPr>
              <p:spPr>
                <a:xfrm flipH="1" flipV="1">
                  <a:off x="4422" y="2736"/>
                  <a:ext cx="0" cy="630"/>
                </a:xfrm>
                <a:prstGeom prst="line">
                  <a:avLst/>
                </a:prstGeom>
                <a:ln w="28575" cap="flat" cmpd="sng">
                  <a:solidFill>
                    <a:schemeClr val="tx1"/>
                  </a:solidFill>
                  <a:prstDash val="solid"/>
                  <a:headEnd type="triangle" w="med" len="med"/>
                  <a:tailEnd type="triangle" w="med" len="med"/>
                </a:ln>
              </p:spPr>
            </p:sp>
            <p:sp>
              <p:nvSpPr>
                <p:cNvPr id="35860" name="Text Box 32"/>
                <p:cNvSpPr txBox="1"/>
                <p:nvPr/>
              </p:nvSpPr>
              <p:spPr>
                <a:xfrm>
                  <a:off x="3452" y="3550"/>
                  <a:ext cx="1076" cy="267"/>
                </a:xfrm>
                <a:prstGeom prst="rect">
                  <a:avLst/>
                </a:prstGeom>
                <a:noFill/>
                <a:ln w="9525">
                  <a:noFill/>
                </a:ln>
              </p:spPr>
              <p:txBody>
                <a:bodyPr wrap="none" anchor="ctr" anchorCtr="0">
                  <a:spAutoFit/>
                </a:bodyPr>
                <a:p>
                  <a:r>
                    <a:rPr lang="zh-CN" altLang="en-US" sz="2000" dirty="0">
                      <a:latin typeface="Times New Roman" panose="02020603050405020304" pitchFamily="18" charset="0"/>
                      <a:ea typeface="宋体" panose="02010600030101010101" pitchFamily="2" charset="-122"/>
                    </a:rPr>
                    <a:t>主机或服务器</a:t>
                  </a:r>
                  <a:endParaRPr lang="en-US" altLang="zh-CN" dirty="0">
                    <a:latin typeface="Times New Roman" panose="02020603050405020304" pitchFamily="18" charset="0"/>
                    <a:ea typeface="宋体" panose="02010600030101010101" pitchFamily="2" charset="-122"/>
                  </a:endParaRPr>
                </a:p>
              </p:txBody>
            </p:sp>
            <p:sp>
              <p:nvSpPr>
                <p:cNvPr id="35861" name="Freeform 33"/>
                <p:cNvSpPr/>
                <p:nvPr/>
              </p:nvSpPr>
              <p:spPr>
                <a:xfrm>
                  <a:off x="2266" y="2664"/>
                  <a:ext cx="1133" cy="1055"/>
                </a:xfrm>
                <a:custGeom>
                  <a:avLst/>
                  <a:gdLst/>
                  <a:ahLst/>
                  <a:cxnLst>
                    <a:cxn ang="0">
                      <a:pos x="84" y="3"/>
                    </a:cxn>
                    <a:cxn ang="0">
                      <a:pos x="12" y="39"/>
                    </a:cxn>
                    <a:cxn ang="0">
                      <a:pos x="10" y="130"/>
                    </a:cxn>
                    <a:cxn ang="0">
                      <a:pos x="18" y="207"/>
                    </a:cxn>
                    <a:cxn ang="0">
                      <a:pos x="86" y="218"/>
                    </a:cxn>
                    <a:cxn ang="0">
                      <a:pos x="226" y="282"/>
                    </a:cxn>
                    <a:cxn ang="0">
                      <a:pos x="348" y="309"/>
                    </a:cxn>
                    <a:cxn ang="0">
                      <a:pos x="419" y="255"/>
                    </a:cxn>
                    <a:cxn ang="0">
                      <a:pos x="445" y="111"/>
                    </a:cxn>
                    <a:cxn ang="0">
                      <a:pos x="422" y="52"/>
                    </a:cxn>
                    <a:cxn ang="0">
                      <a:pos x="261" y="29"/>
                    </a:cxn>
                    <a:cxn ang="0">
                      <a:pos x="84" y="3"/>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alpha val="100000"/>
                  </a:srgbClr>
                </a:solidFill>
                <a:ln w="9525">
                  <a:noFill/>
                </a:ln>
              </p:spPr>
              <p:txBody>
                <a:bodyPr/>
                <a:p>
                  <a:endParaRPr lang="zh-CN" altLang="en-US"/>
                </a:p>
              </p:txBody>
            </p:sp>
            <p:sp>
              <p:nvSpPr>
                <p:cNvPr id="35862" name="Text Box 34"/>
                <p:cNvSpPr txBox="1"/>
                <p:nvPr/>
              </p:nvSpPr>
              <p:spPr>
                <a:xfrm>
                  <a:off x="2479" y="3040"/>
                  <a:ext cx="732" cy="267"/>
                </a:xfrm>
                <a:prstGeom prst="rect">
                  <a:avLst/>
                </a:prstGeom>
                <a:noFill/>
                <a:ln w="9525">
                  <a:noFill/>
                </a:ln>
              </p:spPr>
              <p:txBody>
                <a:bodyPr wrap="none" anchor="ctr" anchorCtr="0">
                  <a:spAutoFit/>
                </a:bodyPr>
                <a:p>
                  <a:r>
                    <a:rPr lang="en-US" altLang="zh-CN" sz="2000" dirty="0">
                      <a:latin typeface="Times New Roman" panose="02020603050405020304" pitchFamily="18" charset="0"/>
                      <a:ea typeface="宋体" panose="02010600030101010101" pitchFamily="2" charset="-122"/>
                    </a:rPr>
                    <a:t>internet</a:t>
                  </a:r>
                  <a:endParaRPr lang="en-US" altLang="zh-CN" dirty="0">
                    <a:latin typeface="Times New Roman" panose="02020603050405020304" pitchFamily="18" charset="0"/>
                    <a:ea typeface="宋体" panose="02010600030101010101" pitchFamily="2" charset="-122"/>
                  </a:endParaRPr>
                </a:p>
              </p:txBody>
            </p:sp>
            <p:sp>
              <p:nvSpPr>
                <p:cNvPr id="35863" name="Line 35"/>
                <p:cNvSpPr/>
                <p:nvPr/>
              </p:nvSpPr>
              <p:spPr>
                <a:xfrm flipH="1">
                  <a:off x="2034" y="2982"/>
                  <a:ext cx="1596" cy="6"/>
                </a:xfrm>
                <a:prstGeom prst="line">
                  <a:avLst/>
                </a:prstGeom>
                <a:ln w="38100" cap="flat" cmpd="sng">
                  <a:solidFill>
                    <a:srgbClr val="FF0000"/>
                  </a:solidFill>
                  <a:prstDash val="solid"/>
                  <a:headEnd type="triangle" w="med" len="med"/>
                  <a:tailEnd type="triangle" w="med" len="med"/>
                </a:ln>
              </p:spPr>
            </p:sp>
            <p:sp>
              <p:nvSpPr>
                <p:cNvPr id="35864" name="Text Box 36"/>
                <p:cNvSpPr txBox="1"/>
                <p:nvPr/>
              </p:nvSpPr>
              <p:spPr>
                <a:xfrm>
                  <a:off x="4465" y="2289"/>
                  <a:ext cx="767" cy="391"/>
                </a:xfrm>
                <a:prstGeom prst="rect">
                  <a:avLst/>
                </a:prstGeom>
                <a:noFill/>
                <a:ln w="9525">
                  <a:noFill/>
                </a:ln>
              </p:spPr>
              <p:txBody>
                <a:bodyPr anchor="ctr" anchorCtr="0">
                  <a:spAutoFit/>
                </a:bodyPr>
                <a:p>
                  <a:pPr algn="r"/>
                  <a:r>
                    <a:rPr lang="zh-CN" altLang="en-US" sz="1600" dirty="0">
                      <a:latin typeface="Times New Roman" panose="02020603050405020304" pitchFamily="18" charset="0"/>
                      <a:ea typeface="宋体" panose="02010600030101010101" pitchFamily="2" charset="-122"/>
                    </a:rPr>
                    <a:t>由应用程序研发者控制</a:t>
                  </a:r>
                  <a:endParaRPr lang="en-US" altLang="zh-CN" dirty="0">
                    <a:latin typeface="Times New Roman" panose="02020603050405020304" pitchFamily="18" charset="0"/>
                    <a:ea typeface="宋体" panose="02010600030101010101" pitchFamily="2" charset="-122"/>
                  </a:endParaRPr>
                </a:p>
              </p:txBody>
            </p:sp>
          </p:grpSp>
        </p:grpSp>
      </p:gr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8451"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0000"/>
              </a:lnSpc>
              <a:spcBef>
                <a:spcPts val="300"/>
              </a:spcBef>
              <a:spcAft>
                <a:spcPts val="600"/>
              </a:spcAft>
              <a:buClr>
                <a:schemeClr val="bg2"/>
              </a:buClr>
              <a:buSzTx/>
              <a:buFont typeface="ZapfDingbats" pitchFamily="82" charset="2"/>
              <a:buNone/>
              <a:defRPr/>
            </a:pPr>
            <a:r>
              <a:rPr kumimoji="0" lang="zh-CN" altLang="en-US" sz="2000" b="1" i="0" u="none" strike="noStrike" kern="1200" cap="none" spc="0" normalizeH="0" baseline="0" noProof="0" dirty="0">
                <a:ln>
                  <a:noFill/>
                </a:ln>
                <a:solidFill>
                  <a:schemeClr val="accent2"/>
                </a:solidFill>
                <a:effectLst/>
                <a:uLnTx/>
                <a:uFillTx/>
                <a:latin typeface="+mj-ea"/>
                <a:ea typeface="+mj-ea"/>
                <a:cs typeface="+mn-cs"/>
              </a:rPr>
              <a:t>   </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先建立</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TCP</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连接，再进行数据传输。</a:t>
            </a:r>
            <a:endParaRPr kumimoji="0" lang="zh-CN" altLang="en-US" sz="2000" b="1" i="0" u="none" strike="noStrike" kern="1200" cap="none" spc="0" normalizeH="0" baseline="0" noProof="0" dirty="0">
              <a:ln>
                <a:noFill/>
              </a:ln>
              <a:solidFill>
                <a:srgbClr val="FF3300"/>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客户机程序是连接的发起方；</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sym typeface="Wingdings" panose="05000000000000000000" pitchFamily="2" charset="2"/>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服务器必须先准备好，对客户机程序发起的连接做出响应：</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a:t>
            </a:r>
            <a:r>
              <a:rPr kumimoji="0" lang="en-US" altLang="zh-CN" sz="2000" b="1" i="0" u="none" strike="noStrike" kern="1200" cap="none" spc="0" normalizeH="0" baseline="0" noProof="0" dirty="0" smtClean="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服务器程序事先已经在系统中运行；</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ZapfDingbats" pitchFamily="82" charset="2"/>
              <a:buNone/>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a:t>
            </a:r>
            <a:r>
              <a:rPr kumimoji="0" lang="en-US" altLang="zh-CN" sz="2000" b="1" i="0" u="none" strike="noStrike" kern="1200" cap="none" spc="0" normalizeH="0" baseline="0" noProof="0" dirty="0" smtClean="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服务器程序的</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一个套接字（欢迎套接字）已经打开</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，准备接收客户机程序发起的连接（敲门）。 </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ZapfDingbats" pitchFamily="82" charset="2"/>
              <a:buNone/>
              <a:defRPr/>
            </a:pP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smtClean="0">
                <a:ln>
                  <a:noFill/>
                </a:ln>
                <a:solidFill>
                  <a:schemeClr val="tx1"/>
                </a:solidFill>
                <a:effectLst/>
                <a:uLnTx/>
                <a:uFillTx/>
                <a:latin typeface="+mj-ea"/>
                <a:ea typeface="+mj-ea"/>
                <a:cs typeface="+mn-cs"/>
              </a:rPr>
              <a:t>具体</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过程：</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88450"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客户机和服务器程序之间的交互</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7892"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8451">
                                            <p:txEl>
                                              <p:charRg st="21" end="35"/>
                                            </p:txEl>
                                          </p:spTgt>
                                        </p:tgtEl>
                                        <p:attrNameLst>
                                          <p:attrName>style.visibility</p:attrName>
                                        </p:attrNameLst>
                                      </p:cBhvr>
                                      <p:to>
                                        <p:strVal val="visible"/>
                                      </p:to>
                                    </p:set>
                                    <p:animEffect transition="in" filter="blinds(horizontal)">
                                      <p:cBhvr>
                                        <p:cTn id="7" dur="500"/>
                                        <p:tgtEl>
                                          <p:spTgt spid="488451">
                                            <p:txEl>
                                              <p:charRg st="21" end="3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8451">
                                            <p:txEl>
                                              <p:charRg st="35" end="62"/>
                                            </p:txEl>
                                          </p:spTgt>
                                        </p:tgtEl>
                                        <p:attrNameLst>
                                          <p:attrName>style.visibility</p:attrName>
                                        </p:attrNameLst>
                                      </p:cBhvr>
                                      <p:to>
                                        <p:strVal val="visible"/>
                                      </p:to>
                                    </p:set>
                                    <p:animEffect transition="in" filter="blinds(horizontal)">
                                      <p:cBhvr>
                                        <p:cTn id="10" dur="500"/>
                                        <p:tgtEl>
                                          <p:spTgt spid="488451">
                                            <p:txEl>
                                              <p:charRg st="35" end="6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8451">
                                            <p:txEl>
                                              <p:charRg st="62" end="83"/>
                                            </p:txEl>
                                          </p:spTgt>
                                        </p:tgtEl>
                                        <p:attrNameLst>
                                          <p:attrName>style.visibility</p:attrName>
                                        </p:attrNameLst>
                                      </p:cBhvr>
                                      <p:to>
                                        <p:strVal val="visible"/>
                                      </p:to>
                                    </p:set>
                                    <p:animEffect transition="in" filter="blinds(horizontal)">
                                      <p:cBhvr>
                                        <p:cTn id="13" dur="500"/>
                                        <p:tgtEl>
                                          <p:spTgt spid="488451">
                                            <p:txEl>
                                              <p:charRg st="62" end="8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8451">
                                            <p:txEl>
                                              <p:charRg st="83" end="131"/>
                                            </p:txEl>
                                          </p:spTgt>
                                        </p:tgtEl>
                                        <p:attrNameLst>
                                          <p:attrName>style.visibility</p:attrName>
                                        </p:attrNameLst>
                                      </p:cBhvr>
                                      <p:to>
                                        <p:strVal val="visible"/>
                                      </p:to>
                                    </p:set>
                                    <p:animEffect transition="in" filter="blinds(horizontal)">
                                      <p:cBhvr>
                                        <p:cTn id="16" dur="500"/>
                                        <p:tgtEl>
                                          <p:spTgt spid="488451">
                                            <p:txEl>
                                              <p:charRg st="83" end="13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88451">
                                            <p:txEl>
                                              <p:charRg st="132" end="138"/>
                                            </p:txEl>
                                          </p:spTgt>
                                        </p:tgtEl>
                                        <p:attrNameLst>
                                          <p:attrName>style.visibility</p:attrName>
                                        </p:attrNameLst>
                                      </p:cBhvr>
                                      <p:to>
                                        <p:strVal val="visible"/>
                                      </p:to>
                                    </p:set>
                                    <p:animEffect transition="in" filter="blinds(horizontal)">
                                      <p:cBhvr>
                                        <p:cTn id="19" dur="500"/>
                                        <p:tgtEl>
                                          <p:spTgt spid="488451">
                                            <p:txEl>
                                              <p:charRg st="132" end="1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23" name="Rectangle 3"/>
          <p:cNvSpPr>
            <a:spLocks noGrp="1" noChangeArrowheads="1"/>
          </p:cNvSpPr>
          <p:nvPr>
            <p:ph idx="1"/>
          </p:nvPr>
        </p:nvSpPr>
        <p:spPr>
          <a:xfrm>
            <a:off x="325438" y="1268413"/>
            <a:ext cx="8361363" cy="5149850"/>
          </a:xfrm>
        </p:spPr>
        <p:txBody>
          <a:bodyPr vert="horz" wrap="square" lIns="91440" tIns="45720" rIns="91440" bIns="45720" numCol="1" anchor="t" anchorCtr="0" compatLnSpc="1"/>
          <a:lstStyle/>
          <a:p>
            <a:pPr marL="365125" marR="0" lvl="0" indent="-255905" algn="l" defTabSz="914400" rtl="0" eaLnBrk="1" fontAlgn="base" latinLnBrk="0" hangingPunct="1">
              <a:lnSpc>
                <a:spcPct val="150000"/>
              </a:lnSpc>
              <a:spcBef>
                <a:spcPct val="150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客户机进程向服务器发起一个</a:t>
            </a:r>
            <a:r>
              <a:rPr kumimoji="0" lang="en-US" altLang="zh-CN" sz="2000" b="1" i="0" u="none" strike="noStrike" kern="1200" cap="none" spc="0" normalizeH="0" baseline="0" noProof="0" dirty="0">
                <a:ln>
                  <a:noFill/>
                </a:ln>
                <a:solidFill>
                  <a:schemeClr val="hlink"/>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连接：</a:t>
            </a:r>
            <a:endParaRPr kumimoji="0" lang="zh-CN" altLang="en-US" sz="2000" b="1" i="0" u="none" strike="noStrike" kern="1200" cap="none" spc="0" normalizeH="0" baseline="0" noProof="0" dirty="0">
              <a:ln>
                <a:noFill/>
              </a:ln>
              <a:solidFill>
                <a:schemeClr val="hlink"/>
              </a:solidFill>
              <a:effectLst/>
              <a:uLnTx/>
              <a:uFillTx/>
              <a:latin typeface="+mj-ea"/>
              <a:ea typeface="+mj-ea"/>
              <a:cs typeface="+mn-cs"/>
            </a:endParaRPr>
          </a:p>
          <a:p>
            <a:pPr marL="365125" marR="0" lvl="0" indent="-255905" algn="l" defTabSz="914400" rtl="0" eaLnBrk="1" fontAlgn="base" latinLnBrk="0" hangingPunct="1">
              <a:lnSpc>
                <a:spcPct val="150000"/>
              </a:lnSpc>
              <a:spcBef>
                <a:spcPct val="150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创建一个本地套接字</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，指定相应服务器进程的地址（</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IP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地址和端口号）。</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50000"/>
              </a:lnSpc>
              <a:spcBef>
                <a:spcPct val="150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建立一个</a:t>
            </a:r>
            <a:r>
              <a:rPr kumimoji="0" lang="en-US" altLang="zh-CN" sz="2000" b="1" i="0" u="none" strike="noStrike" kern="1200" cap="none" spc="0" normalizeH="0" baseline="0" noProof="0" dirty="0">
                <a:ln>
                  <a:noFill/>
                </a:ln>
                <a:solidFill>
                  <a:schemeClr val="hlink"/>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hlink"/>
                </a:solidFill>
                <a:effectLst/>
                <a:uLnTx/>
                <a:uFillTx/>
                <a:latin typeface="+mj-ea"/>
                <a:ea typeface="+mj-ea"/>
                <a:cs typeface="+mn-cs"/>
              </a:rPr>
              <a:t>连接：  </a:t>
            </a:r>
            <a:endParaRPr kumimoji="0" lang="zh-CN" altLang="en-US" sz="2000" b="1" i="0" u="none" strike="noStrike" kern="1200" cap="none" spc="0" normalizeH="0" baseline="0" noProof="0" dirty="0">
              <a:ln>
                <a:noFill/>
              </a:ln>
              <a:solidFill>
                <a:schemeClr val="hlink"/>
              </a:solidFill>
              <a:effectLst/>
              <a:uLnTx/>
              <a:uFillTx/>
              <a:latin typeface="+mj-ea"/>
              <a:ea typeface="+mj-ea"/>
              <a:cs typeface="+mn-cs"/>
            </a:endParaRPr>
          </a:p>
          <a:p>
            <a:pPr marL="0" marR="0" lvl="0" indent="0" algn="l" defTabSz="914400" rtl="0" eaLnBrk="1" fontAlgn="base" latinLnBrk="0" hangingPunct="1">
              <a:lnSpc>
                <a:spcPct val="150000"/>
              </a:lnSpc>
              <a:spcBef>
                <a:spcPct val="150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当服务器听到客户机的连接请求（敲门）时，</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创建一个新套接字，</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经过“</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三次握手</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”，客户机套接字和服务器套接字之间建立一个</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连接（直接的虚拟管道）。</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491522" name="Rectangle 2"/>
          <p:cNvSpPr>
            <a:spLocks noGrp="1" noChangeArrowheads="1"/>
          </p:cNvSpPr>
          <p:nvPr>
            <p:ph type="title"/>
          </p:nvPr>
        </p:nvSpPr>
        <p:spPr>
          <a:xfrm>
            <a:off x="325438" y="693738"/>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sym typeface="Wingdings 2" panose="05020102010507070707" pitchFamily="18" charset="2"/>
              </a:rPr>
              <a:t></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建立</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TCP</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连接</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8916"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pic>
        <p:nvPicPr>
          <p:cNvPr id="38917" name="Picture 4"/>
          <p:cNvPicPr>
            <a:picLocks noChangeAspect="1"/>
          </p:cNvPicPr>
          <p:nvPr/>
        </p:nvPicPr>
        <p:blipFill>
          <a:blip r:embed="rId1"/>
          <a:stretch>
            <a:fillRect/>
          </a:stretch>
        </p:blipFill>
        <p:spPr>
          <a:xfrm>
            <a:off x="3646488" y="4097338"/>
            <a:ext cx="4908550" cy="2574925"/>
          </a:xfrm>
          <a:prstGeom prst="rect">
            <a:avLst/>
          </a:prstGeom>
          <a:noFill/>
          <a:ln w="9525">
            <a:noFill/>
          </a:ln>
        </p:spPr>
      </p:pic>
      <p:sp>
        <p:nvSpPr>
          <p:cNvPr id="491525" name="Line 5"/>
          <p:cNvSpPr/>
          <p:nvPr/>
        </p:nvSpPr>
        <p:spPr>
          <a:xfrm flipV="1">
            <a:off x="5376863" y="5278438"/>
            <a:ext cx="1447800" cy="622300"/>
          </a:xfrm>
          <a:prstGeom prst="line">
            <a:avLst/>
          </a:prstGeom>
          <a:ln w="38100" cap="flat" cmpd="sng">
            <a:solidFill>
              <a:srgbClr val="FF3300"/>
            </a:solidFill>
            <a:prstDash val="solid"/>
            <a:headEnd type="triangle" w="med" len="med"/>
            <a:tailEnd type="triangle" w="med" len="med"/>
          </a:ln>
        </p:spPr>
      </p:sp>
      <p:sp>
        <p:nvSpPr>
          <p:cNvPr id="491526" name="Line 6"/>
          <p:cNvSpPr/>
          <p:nvPr/>
        </p:nvSpPr>
        <p:spPr>
          <a:xfrm>
            <a:off x="5376863" y="6105525"/>
            <a:ext cx="1485900" cy="38100"/>
          </a:xfrm>
          <a:prstGeom prst="line">
            <a:avLst/>
          </a:prstGeom>
          <a:ln w="38100" cap="flat" cmpd="sng">
            <a:solidFill>
              <a:srgbClr val="FF3300"/>
            </a:solidFill>
            <a:prstDash val="solid"/>
            <a:headEnd type="triangl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23">
                                            <p:txEl>
                                              <p:charRg st="54" end="67"/>
                                            </p:txEl>
                                          </p:spTgt>
                                        </p:tgtEl>
                                        <p:attrNameLst>
                                          <p:attrName>style.visibility</p:attrName>
                                        </p:attrNameLst>
                                      </p:cBhvr>
                                      <p:to>
                                        <p:strVal val="visible"/>
                                      </p:to>
                                    </p:set>
                                    <p:animEffect transition="in" filter="blinds(horizontal)">
                                      <p:cBhvr>
                                        <p:cTn id="7" dur="500"/>
                                        <p:tgtEl>
                                          <p:spTgt spid="491523">
                                            <p:txEl>
                                              <p:charRg st="54" end="6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23">
                                            <p:txEl>
                                              <p:charRg st="67" end="140"/>
                                            </p:txEl>
                                          </p:spTgt>
                                        </p:tgtEl>
                                        <p:attrNameLst>
                                          <p:attrName>style.visibility</p:attrName>
                                        </p:attrNameLst>
                                      </p:cBhvr>
                                      <p:to>
                                        <p:strVal val="visible"/>
                                      </p:to>
                                    </p:set>
                                    <p:animEffect transition="in" filter="blinds(horizontal)">
                                      <p:cBhvr>
                                        <p:cTn id="10" dur="500"/>
                                        <p:tgtEl>
                                          <p:spTgt spid="491523">
                                            <p:txEl>
                                              <p:charRg st="67" end="14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91525"/>
                                        </p:tgtEl>
                                        <p:attrNameLst>
                                          <p:attrName>style.visibility</p:attrName>
                                        </p:attrNameLst>
                                      </p:cBhvr>
                                      <p:to>
                                        <p:strVal val="visible"/>
                                      </p:to>
                                    </p:set>
                                    <p:animEffect transition="in" filter="wipe(down)">
                                      <p:cBhvr>
                                        <p:cTn id="15" dur="500"/>
                                        <p:tgtEl>
                                          <p:spTgt spid="49152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1526"/>
                                        </p:tgtEl>
                                        <p:attrNameLst>
                                          <p:attrName>style.visibility</p:attrName>
                                        </p:attrNameLst>
                                      </p:cBhvr>
                                      <p:to>
                                        <p:strVal val="visible"/>
                                      </p:to>
                                    </p:set>
                                    <p:animEffect transition="in" filter="wipe(left)">
                                      <p:cBhvr>
                                        <p:cTn id="20" dur="500"/>
                                        <p:tgtEl>
                                          <p:spTgt spid="491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2547"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30000"/>
              </a:lnSpc>
              <a:spcBef>
                <a:spcPts val="300"/>
              </a:spcBef>
              <a:spcAft>
                <a:spcPts val="600"/>
              </a:spcAft>
              <a:buClr>
                <a:srgbClr val="A04DA3"/>
              </a:buClr>
              <a:buSzTx/>
              <a:buFont typeface="Georgia" panose="02040502050405020303" pitchFamily="18" charset="0"/>
              <a:buChar char="•"/>
              <a:defRPr/>
            </a:pPr>
            <a:r>
              <a:rPr kumimoji="0" lang="en-US" altLang="zh-CN" sz="2000" b="1" i="0" u="none" strike="noStrike" kern="1200" cap="none" spc="0" normalizeH="0" baseline="0" noProof="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a:ln>
                  <a:noFill/>
                </a:ln>
                <a:solidFill>
                  <a:schemeClr val="tx1"/>
                </a:solidFill>
                <a:effectLst/>
                <a:uLnTx/>
                <a:uFillTx/>
                <a:latin typeface="+mj-ea"/>
                <a:ea typeface="+mj-ea"/>
                <a:cs typeface="+mn-cs"/>
              </a:rPr>
              <a:t>连接为客户机和服务器了一个直接的传输管道。</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可靠的</a:t>
            </a:r>
            <a:r>
              <a:rPr kumimoji="0" lang="en-US" altLang="zh-CN" sz="2000" b="1" i="0" u="none" strike="noStrike" kern="1200" cap="none" spc="0" normalizeH="0" baseline="0" noProof="0">
                <a:ln>
                  <a:noFill/>
                </a:ln>
                <a:solidFill>
                  <a:schemeClr val="tx1"/>
                </a:solidFill>
                <a:effectLst/>
                <a:uLnTx/>
                <a:uFillTx/>
                <a:latin typeface="+mj-ea"/>
                <a:ea typeface="+mj-ea"/>
                <a:cs typeface="+mn-cs"/>
              </a:rPr>
              <a:t>, </a:t>
            </a:r>
            <a:r>
              <a:rPr kumimoji="0" lang="zh-CN" altLang="en-US" sz="2000" b="1" i="0" u="none" strike="noStrike" kern="1200" cap="none" spc="0" normalizeH="0" baseline="0" noProof="0">
                <a:ln>
                  <a:noFill/>
                </a:ln>
                <a:solidFill>
                  <a:schemeClr val="tx1"/>
                </a:solidFill>
                <a:effectLst/>
                <a:uLnTx/>
                <a:uFillTx/>
                <a:latin typeface="+mj-ea"/>
                <a:ea typeface="+mj-ea"/>
                <a:cs typeface="+mn-cs"/>
              </a:rPr>
              <a:t>顺序的</a:t>
            </a:r>
            <a:r>
              <a:rPr kumimoji="0" lang="en-US" altLang="zh-CN" sz="2000" b="1" i="0" u="none" strike="noStrike" kern="1200" cap="none" spc="0" normalizeH="0" baseline="0" noProof="0">
                <a:ln>
                  <a:noFill/>
                </a:ln>
                <a:solidFill>
                  <a:schemeClr val="tx1"/>
                </a:solidFill>
                <a:effectLst/>
                <a:uLnTx/>
                <a:uFillTx/>
                <a:latin typeface="+mj-ea"/>
                <a:ea typeface="+mj-ea"/>
                <a:cs typeface="+mn-cs"/>
              </a:rPr>
              <a:t>,</a:t>
            </a:r>
            <a:r>
              <a:rPr kumimoji="0" lang="zh-CN" altLang="en-US" sz="2000" b="1" i="0" u="none" strike="noStrike" kern="1200" cap="none" spc="0" normalizeH="0" baseline="0" noProof="0">
                <a:ln>
                  <a:noFill/>
                </a:ln>
                <a:solidFill>
                  <a:schemeClr val="tx1"/>
                </a:solidFill>
                <a:effectLst/>
                <a:uLnTx/>
                <a:uFillTx/>
                <a:latin typeface="+mj-ea"/>
                <a:ea typeface="+mj-ea"/>
                <a:cs typeface="+mn-cs"/>
              </a:rPr>
              <a:t>字节流的传输</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p:txBody>
      </p:sp>
      <p:sp>
        <p:nvSpPr>
          <p:cNvPr id="49254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sym typeface="Wingdings 2" panose="05020102010507070707" pitchFamily="18" charset="2"/>
              </a:rPr>
              <a:t></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传送数据</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39940"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pic>
        <p:nvPicPr>
          <p:cNvPr id="39941" name="Picture 4"/>
          <p:cNvPicPr>
            <a:picLocks noChangeAspect="1"/>
          </p:cNvPicPr>
          <p:nvPr/>
        </p:nvPicPr>
        <p:blipFill>
          <a:blip r:embed="rId1"/>
          <a:stretch>
            <a:fillRect/>
          </a:stretch>
        </p:blipFill>
        <p:spPr>
          <a:xfrm>
            <a:off x="2082800" y="3976688"/>
            <a:ext cx="4908550" cy="2728912"/>
          </a:xfrm>
          <a:prstGeom prst="rect">
            <a:avLst/>
          </a:prstGeom>
          <a:noFill/>
          <a:ln w="9525">
            <a:noFill/>
          </a:ln>
        </p:spPr>
      </p:pic>
      <p:sp>
        <p:nvSpPr>
          <p:cNvPr id="492549" name="Line 5"/>
          <p:cNvSpPr/>
          <p:nvPr/>
        </p:nvSpPr>
        <p:spPr>
          <a:xfrm>
            <a:off x="3733800" y="6108700"/>
            <a:ext cx="1447800" cy="25400"/>
          </a:xfrm>
          <a:prstGeom prst="line">
            <a:avLst/>
          </a:prstGeom>
          <a:ln w="76200" cap="flat" cmpd="sng">
            <a:solidFill>
              <a:srgbClr val="FF3300"/>
            </a:solidFill>
            <a:prstDash val="solid"/>
            <a:headEnd type="triangl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2549"/>
                                        </p:tgtEl>
                                        <p:attrNameLst>
                                          <p:attrName>style.visibility</p:attrName>
                                        </p:attrNameLst>
                                      </p:cBhvr>
                                      <p:to>
                                        <p:strVal val="visible"/>
                                      </p:to>
                                    </p:set>
                                    <p:animEffect transition="in" filter="wipe(down)">
                                      <p:cBhvr>
                                        <p:cTn id="7" dur="500"/>
                                        <p:tgtEl>
                                          <p:spTgt spid="492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1027"/>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FF0000"/>
                </a:solidFill>
                <a:effectLst/>
                <a:uLnTx/>
                <a:uFillTx/>
                <a:latin typeface="+mj-ea"/>
                <a:ea typeface="+mj-ea"/>
                <a:cs typeface="+mn-cs"/>
              </a:rPr>
              <a:t>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流入或流出某进程的一串字符序列。</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zh-CN" sz="2000" b="1" i="0" u="none" strike="noStrike" kern="1200" cap="none" spc="0" normalizeH="0" baseline="0" noProof="0" dirty="0">
                <a:ln>
                  <a:noFill/>
                </a:ln>
                <a:solidFill>
                  <a:srgbClr val="FF3300"/>
                </a:solidFill>
                <a:effectLst/>
                <a:uLnTx/>
                <a:uFillTx/>
                <a:latin typeface="+mj-ea"/>
                <a:ea typeface="+mj-ea"/>
                <a:cs typeface="+mn-cs"/>
              </a:rPr>
              <a:t>输入流：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来自某个输入源（如键盘）、或某个套接字（因特网的数据流入套接字）。</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输出流：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到某个输出源（如显示器）、或某个套接字（数据通过套接字流向因特网）。</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131074" name="Rectangle 1026"/>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术语</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40964" name="灯片编号占位符 6"/>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1075">
                                            <p:txEl>
                                              <p:charRg st="19" end="57"/>
                                            </p:txEl>
                                          </p:spTgt>
                                        </p:tgtEl>
                                        <p:attrNameLst>
                                          <p:attrName>style.visibility</p:attrName>
                                        </p:attrNameLst>
                                      </p:cBhvr>
                                      <p:to>
                                        <p:strVal val="visible"/>
                                      </p:to>
                                    </p:set>
                                    <p:animEffect transition="in" filter="blinds(horizontal)">
                                      <p:cBhvr>
                                        <p:cTn id="7" dur="500"/>
                                        <p:tgtEl>
                                          <p:spTgt spid="131075">
                                            <p:txEl>
                                              <p:charRg st="19" end="5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1075">
                                            <p:txEl>
                                              <p:charRg st="57" end="96"/>
                                            </p:txEl>
                                          </p:spTgt>
                                        </p:tgtEl>
                                        <p:attrNameLst>
                                          <p:attrName>style.visibility</p:attrName>
                                        </p:attrNameLst>
                                      </p:cBhvr>
                                      <p:to>
                                        <p:strVal val="visible"/>
                                      </p:to>
                                    </p:set>
                                    <p:animEffect transition="in" filter="blinds(horizontal)">
                                      <p:cBhvr>
                                        <p:cTn id="12" dur="500"/>
                                        <p:tgtEl>
                                          <p:spTgt spid="131075">
                                            <p:txEl>
                                              <p:charRg st="57"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3571"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30000"/>
              </a:lnSpc>
              <a:spcBef>
                <a:spcPts val="300"/>
              </a:spcBef>
              <a:spcAft>
                <a:spcPts val="600"/>
              </a:spcAft>
              <a:buClr>
                <a:srgbClr val="A04DA3"/>
              </a:buClr>
              <a:buSzTx/>
              <a:buFont typeface="ZapfDingbats" pitchFamily="82" charset="2"/>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   客户机和服务器经</a:t>
            </a:r>
            <a:r>
              <a:rPr kumimoji="0" lang="en-US" altLang="zh-CN" sz="2000" b="1" i="0" u="none" strike="noStrike" kern="1200" cap="none" spc="0" normalizeH="0" baseline="0" noProof="0">
                <a:ln>
                  <a:noFill/>
                </a:ln>
                <a:solidFill>
                  <a:schemeClr val="tx1"/>
                </a:solidFill>
                <a:effectLst/>
                <a:uLnTx/>
                <a:uFillTx/>
                <a:latin typeface="+mj-ea"/>
                <a:ea typeface="+mj-ea"/>
                <a:cs typeface="+mn-cs"/>
              </a:rPr>
              <a:t>TCP</a:t>
            </a:r>
            <a:r>
              <a:rPr kumimoji="0" lang="zh-CN" altLang="en-US" sz="2000" b="1" i="0" u="none" strike="noStrike" kern="1200" cap="none" spc="0" normalizeH="0" baseline="0" noProof="0">
                <a:ln>
                  <a:noFill/>
                </a:ln>
                <a:solidFill>
                  <a:schemeClr val="tx1"/>
                </a:solidFill>
                <a:effectLst/>
                <a:uLnTx/>
                <a:uFillTx/>
                <a:latin typeface="+mj-ea"/>
                <a:ea typeface="+mj-ea"/>
                <a:cs typeface="+mn-cs"/>
              </a:rPr>
              <a:t>连接进行通信。</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客户机从</a:t>
            </a:r>
            <a:r>
              <a:rPr kumimoji="0" lang="zh-CN" altLang="en-US" sz="2000" b="1" i="0" u="none" strike="noStrike" kern="1200" cap="none" spc="0" normalizeH="0" baseline="0" noProof="0">
                <a:ln>
                  <a:noFill/>
                </a:ln>
                <a:solidFill>
                  <a:srgbClr val="FF3300"/>
                </a:solidFill>
                <a:effectLst/>
                <a:uLnTx/>
                <a:uFillTx/>
                <a:latin typeface="+mj-ea"/>
                <a:ea typeface="+mj-ea"/>
                <a:cs typeface="+mn-cs"/>
              </a:rPr>
              <a:t>键盘读</a:t>
            </a:r>
            <a:r>
              <a:rPr kumimoji="0" lang="zh-CN" altLang="en-US" sz="2000" b="1" i="0" u="none" strike="noStrike" kern="1200" cap="none" spc="0" normalizeH="0" baseline="0" noProof="0">
                <a:ln>
                  <a:noFill/>
                </a:ln>
                <a:solidFill>
                  <a:schemeClr val="tx1"/>
                </a:solidFill>
                <a:effectLst/>
                <a:uLnTx/>
                <a:uFillTx/>
                <a:latin typeface="+mj-ea"/>
                <a:ea typeface="+mj-ea"/>
                <a:cs typeface="+mn-cs"/>
              </a:rPr>
              <a:t>一行字符，通过套接字向服务器发送</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rgbClr val="FF3300"/>
                </a:solidFill>
                <a:effectLst/>
                <a:uLnTx/>
                <a:uFillTx/>
                <a:latin typeface="+mj-ea"/>
                <a:ea typeface="+mj-ea"/>
                <a:cs typeface="+mn-cs"/>
              </a:rPr>
              <a:t>服务器</a:t>
            </a:r>
            <a:r>
              <a:rPr kumimoji="0" lang="zh-CN" altLang="en-US" sz="2000" b="1" i="0" u="none" strike="noStrike" kern="1200" cap="none" spc="0" normalizeH="0" baseline="0" noProof="0">
                <a:ln>
                  <a:noFill/>
                </a:ln>
                <a:solidFill>
                  <a:schemeClr val="tx1"/>
                </a:solidFill>
                <a:effectLst/>
                <a:uLnTx/>
                <a:uFillTx/>
                <a:latin typeface="+mj-ea"/>
                <a:ea typeface="+mj-ea"/>
                <a:cs typeface="+mn-cs"/>
              </a:rPr>
              <a:t>从套接字读取数据；	</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rgbClr val="FF3300"/>
                </a:solidFill>
                <a:effectLst/>
                <a:uLnTx/>
                <a:uFillTx/>
                <a:latin typeface="+mj-ea"/>
                <a:ea typeface="+mj-ea"/>
                <a:cs typeface="+mn-cs"/>
              </a:rPr>
              <a:t>将该行字符转换成大写</a:t>
            </a:r>
            <a:r>
              <a:rPr kumimoji="0" lang="zh-CN" altLang="en-US" sz="2000" b="1" i="0" u="none" strike="noStrike" kern="1200" cap="none" spc="0" normalizeH="0" baseline="0" noProof="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将修改的行通过其连接套接字再回发给客户机。</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rgbClr val="FF3300"/>
                </a:solidFill>
                <a:effectLst/>
                <a:uLnTx/>
                <a:uFillTx/>
                <a:latin typeface="+mj-ea"/>
                <a:ea typeface="+mj-ea"/>
                <a:cs typeface="+mn-cs"/>
              </a:rPr>
              <a:t>客户机</a:t>
            </a:r>
            <a:r>
              <a:rPr kumimoji="0" lang="zh-CN" altLang="en-US" sz="2000" b="1" i="0" u="none" strike="noStrike" kern="1200" cap="none" spc="0" normalizeH="0" baseline="0" noProof="0">
                <a:ln>
                  <a:noFill/>
                </a:ln>
                <a:solidFill>
                  <a:schemeClr val="tx1"/>
                </a:solidFill>
                <a:effectLst/>
                <a:uLnTx/>
                <a:uFillTx/>
                <a:latin typeface="+mj-ea"/>
                <a:ea typeface="+mj-ea"/>
                <a:cs typeface="+mn-cs"/>
              </a:rPr>
              <a:t>从其套接字中读取修改的行，并将该行在显示器</a:t>
            </a:r>
            <a:r>
              <a:rPr kumimoji="0" lang="zh-CN" altLang="en-US" sz="2000" b="1" i="0" u="none" strike="noStrike" kern="1200" cap="none" spc="0" normalizeH="0" baseline="0" noProof="0">
                <a:ln>
                  <a:noFill/>
                </a:ln>
                <a:solidFill>
                  <a:srgbClr val="FF3300"/>
                </a:solidFill>
                <a:effectLst/>
                <a:uLnTx/>
                <a:uFillTx/>
                <a:latin typeface="+mj-ea"/>
                <a:ea typeface="+mj-ea"/>
                <a:cs typeface="+mn-cs"/>
              </a:rPr>
              <a:t>上显示</a:t>
            </a:r>
            <a:r>
              <a:rPr kumimoji="0" lang="zh-CN" altLang="en-US" sz="2000" b="1" i="0" u="none" strike="noStrike" kern="1200" cap="none" spc="0" normalizeH="0" baseline="0" noProof="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p:txBody>
      </p:sp>
      <p:sp>
        <p:nvSpPr>
          <p:cNvPr id="493570"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2.7.2  Java</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应用程序示例</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43012"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3571">
                                            <p:txEl>
                                              <p:charRg st="22" end="46"/>
                                            </p:txEl>
                                          </p:spTgt>
                                        </p:tgtEl>
                                        <p:attrNameLst>
                                          <p:attrName>style.visibility</p:attrName>
                                        </p:attrNameLst>
                                      </p:cBhvr>
                                      <p:to>
                                        <p:strVal val="visible"/>
                                      </p:to>
                                    </p:set>
                                    <p:animEffect transition="in" filter="blinds(horizontal)">
                                      <p:cBhvr>
                                        <p:cTn id="7" dur="500"/>
                                        <p:tgtEl>
                                          <p:spTgt spid="493571">
                                            <p:txEl>
                                              <p:charRg st="22" end="4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3571">
                                            <p:txEl>
                                              <p:charRg st="46" end="60"/>
                                            </p:txEl>
                                          </p:spTgt>
                                        </p:tgtEl>
                                        <p:attrNameLst>
                                          <p:attrName>style.visibility</p:attrName>
                                        </p:attrNameLst>
                                      </p:cBhvr>
                                      <p:to>
                                        <p:strVal val="visible"/>
                                      </p:to>
                                    </p:set>
                                    <p:animEffect transition="in" filter="blinds(horizontal)">
                                      <p:cBhvr>
                                        <p:cTn id="10" dur="500"/>
                                        <p:tgtEl>
                                          <p:spTgt spid="493571">
                                            <p:txEl>
                                              <p:charRg st="46" end="6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93571">
                                            <p:txEl>
                                              <p:charRg st="60" end="72"/>
                                            </p:txEl>
                                          </p:spTgt>
                                        </p:tgtEl>
                                        <p:attrNameLst>
                                          <p:attrName>style.visibility</p:attrName>
                                        </p:attrNameLst>
                                      </p:cBhvr>
                                      <p:to>
                                        <p:strVal val="visible"/>
                                      </p:to>
                                    </p:set>
                                    <p:animEffect transition="in" filter="blinds(horizontal)">
                                      <p:cBhvr>
                                        <p:cTn id="13" dur="500"/>
                                        <p:tgtEl>
                                          <p:spTgt spid="493571">
                                            <p:txEl>
                                              <p:charRg st="60" end="7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93571">
                                            <p:txEl>
                                              <p:charRg st="72" end="94"/>
                                            </p:txEl>
                                          </p:spTgt>
                                        </p:tgtEl>
                                        <p:attrNameLst>
                                          <p:attrName>style.visibility</p:attrName>
                                        </p:attrNameLst>
                                      </p:cBhvr>
                                      <p:to>
                                        <p:strVal val="visible"/>
                                      </p:to>
                                    </p:set>
                                    <p:animEffect transition="in" filter="blinds(horizontal)">
                                      <p:cBhvr>
                                        <p:cTn id="16" dur="500"/>
                                        <p:tgtEl>
                                          <p:spTgt spid="493571">
                                            <p:txEl>
                                              <p:charRg st="72" end="9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93571">
                                            <p:txEl>
                                              <p:charRg st="94" end="123"/>
                                            </p:txEl>
                                          </p:spTgt>
                                        </p:tgtEl>
                                        <p:attrNameLst>
                                          <p:attrName>style.visibility</p:attrName>
                                        </p:attrNameLst>
                                      </p:cBhvr>
                                      <p:to>
                                        <p:strVal val="visible"/>
                                      </p:to>
                                    </p:set>
                                    <p:animEffect transition="in" filter="blinds(horizontal)">
                                      <p:cBhvr>
                                        <p:cTn id="19" dur="500"/>
                                        <p:tgtEl>
                                          <p:spTgt spid="493571">
                                            <p:txEl>
                                              <p:charRg st="94" end="1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4594" name="Rectangle 2"/>
          <p:cNvSpPr>
            <a:spLocks noGrp="1" noChangeArrowheads="1"/>
          </p:cNvSpPr>
          <p:nvPr>
            <p:ph type="title"/>
          </p:nvPr>
        </p:nvSpPr>
        <p:spPr>
          <a:xfrm>
            <a:off x="285750" y="693738"/>
            <a:ext cx="8229600" cy="8064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服务器程序交互</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44035"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494595" name="Group 3"/>
          <p:cNvGrpSpPr/>
          <p:nvPr/>
        </p:nvGrpSpPr>
        <p:grpSpPr>
          <a:xfrm>
            <a:off x="1312863" y="3324225"/>
            <a:ext cx="2243137" cy="820738"/>
            <a:chOff x="827" y="2094"/>
            <a:chExt cx="1413" cy="517"/>
          </a:xfrm>
        </p:grpSpPr>
        <p:sp>
          <p:nvSpPr>
            <p:cNvPr id="44071" name="Text Box 4"/>
            <p:cNvSpPr txBox="1"/>
            <p:nvPr/>
          </p:nvSpPr>
          <p:spPr>
            <a:xfrm>
              <a:off x="827" y="2094"/>
              <a:ext cx="900" cy="192"/>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等待入连接请求</a:t>
              </a:r>
              <a:endParaRPr lang="en-US" altLang="zh-CN" dirty="0">
                <a:latin typeface="Times New Roman" panose="02020603050405020304" pitchFamily="18" charset="0"/>
                <a:ea typeface="宋体" panose="02010600030101010101" pitchFamily="2" charset="-122"/>
              </a:endParaRPr>
            </a:p>
          </p:txBody>
        </p:sp>
        <p:sp>
          <p:nvSpPr>
            <p:cNvPr id="44072" name="Text Box 5"/>
            <p:cNvSpPr txBox="1"/>
            <p:nvPr/>
          </p:nvSpPr>
          <p:spPr>
            <a:xfrm>
              <a:off x="828" y="2285"/>
              <a:ext cx="1412" cy="326"/>
            </a:xfrm>
            <a:prstGeom prst="rect">
              <a:avLst/>
            </a:prstGeom>
            <a:noFill/>
            <a:ln w="9525">
              <a:noFill/>
            </a:ln>
          </p:spPr>
          <p:txBody>
            <a:bodyPr wrap="none" anchor="ctr" anchorCtr="0">
              <a:spAutoFit/>
            </a:bodyPr>
            <a:p>
              <a:r>
                <a:rPr lang="en-US" altLang="zh-CN" sz="1400" dirty="0">
                  <a:solidFill>
                    <a:srgbClr val="FF0000"/>
                  </a:solidFill>
                  <a:latin typeface="Arial" panose="020B0604020202020204" pitchFamily="34" charset="0"/>
                  <a:ea typeface="宋体" panose="02010600030101010101" pitchFamily="2" charset="-122"/>
                </a:rPr>
                <a:t>connectionSocket =</a:t>
              </a:r>
              <a:endParaRPr lang="en-US" altLang="zh-CN" sz="1400" dirty="0">
                <a:solidFill>
                  <a:srgbClr val="FF0000"/>
                </a:solidFill>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welcomeSocket.accept()</a:t>
              </a:r>
              <a:endParaRPr lang="en-US" altLang="zh-CN" dirty="0">
                <a:latin typeface="Times New Roman" panose="02020603050405020304" pitchFamily="18" charset="0"/>
                <a:ea typeface="宋体" panose="02010600030101010101" pitchFamily="2" charset="-122"/>
              </a:endParaRPr>
            </a:p>
          </p:txBody>
        </p:sp>
      </p:grpSp>
      <p:grpSp>
        <p:nvGrpSpPr>
          <p:cNvPr id="494598" name="Group 6"/>
          <p:cNvGrpSpPr/>
          <p:nvPr/>
        </p:nvGrpSpPr>
        <p:grpSpPr>
          <a:xfrm>
            <a:off x="1222375" y="1987550"/>
            <a:ext cx="1716088" cy="1308100"/>
            <a:chOff x="770" y="1252"/>
            <a:chExt cx="1081" cy="824"/>
          </a:xfrm>
        </p:grpSpPr>
        <p:grpSp>
          <p:nvGrpSpPr>
            <p:cNvPr id="44067" name="Group 7"/>
            <p:cNvGrpSpPr/>
            <p:nvPr/>
          </p:nvGrpSpPr>
          <p:grpSpPr>
            <a:xfrm>
              <a:off x="770" y="1252"/>
              <a:ext cx="1081" cy="645"/>
              <a:chOff x="278" y="1276"/>
              <a:chExt cx="1081" cy="645"/>
            </a:xfrm>
          </p:grpSpPr>
          <p:sp>
            <p:nvSpPr>
              <p:cNvPr id="44069" name="Text Box 8"/>
              <p:cNvSpPr txBox="1"/>
              <p:nvPr/>
            </p:nvSpPr>
            <p:spPr>
              <a:xfrm>
                <a:off x="329" y="1276"/>
                <a:ext cx="931"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生成欢迎套接字</a:t>
                </a:r>
                <a:r>
                  <a:rPr lang="en-US" altLang="zh-CN"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a:p>
                <a:r>
                  <a:rPr lang="en-US" altLang="zh-CN" sz="1400" dirty="0">
                    <a:latin typeface="Arial" panose="020B0604020202020204" pitchFamily="34" charset="0"/>
                    <a:ea typeface="宋体" panose="02010600030101010101" pitchFamily="2" charset="-122"/>
                  </a:rPr>
                  <a:t>port=</a:t>
                </a:r>
                <a:r>
                  <a:rPr lang="en-US" altLang="zh-CN" sz="1400" dirty="0">
                    <a:latin typeface="Courier New" panose="02070309020205020404" pitchFamily="49" charset="0"/>
                    <a:ea typeface="宋体" panose="02010600030101010101" pitchFamily="2" charset="-122"/>
                  </a:rPr>
                  <a:t>x</a:t>
                </a:r>
                <a:endParaRPr lang="en-US" altLang="zh-CN" dirty="0">
                  <a:latin typeface="Times New Roman" panose="02020603050405020304" pitchFamily="18" charset="0"/>
                  <a:ea typeface="宋体" panose="02010600030101010101" pitchFamily="2" charset="-122"/>
                </a:endParaRPr>
              </a:p>
            </p:txBody>
          </p:sp>
          <p:sp>
            <p:nvSpPr>
              <p:cNvPr id="44070" name="Text Box 9"/>
              <p:cNvSpPr txBox="1"/>
              <p:nvPr/>
            </p:nvSpPr>
            <p:spPr>
              <a:xfrm>
                <a:off x="278" y="1595"/>
                <a:ext cx="1081" cy="326"/>
              </a:xfrm>
              <a:prstGeom prst="rect">
                <a:avLst/>
              </a:prstGeom>
              <a:noFill/>
              <a:ln w="9525">
                <a:noFill/>
              </a:ln>
            </p:spPr>
            <p:txBody>
              <a:bodyPr wrap="none" anchor="ctr" anchorCtr="0">
                <a:spAutoFit/>
              </a:bodyPr>
              <a:p>
                <a:pPr algn="r"/>
                <a:r>
                  <a:rPr lang="en-US" altLang="zh-CN" sz="1400" dirty="0">
                    <a:solidFill>
                      <a:srgbClr val="FF0000"/>
                    </a:solidFill>
                    <a:latin typeface="Arial" panose="020B0604020202020204" pitchFamily="34" charset="0"/>
                    <a:ea typeface="宋体" panose="02010600030101010101" pitchFamily="2" charset="-122"/>
                  </a:rPr>
                  <a:t>welcomeSocket = </a:t>
                </a:r>
                <a:endParaRPr lang="en-US" altLang="zh-CN" sz="1400" dirty="0">
                  <a:solidFill>
                    <a:srgbClr val="FF0000"/>
                  </a:solidFill>
                  <a:latin typeface="Arial" panose="020B0604020202020204" pitchFamily="34" charset="0"/>
                  <a:ea typeface="宋体" panose="02010600030101010101" pitchFamily="2" charset="-122"/>
                </a:endParaRPr>
              </a:p>
              <a:p>
                <a:pPr algn="r"/>
                <a:r>
                  <a:rPr lang="en-US" altLang="zh-CN" sz="1400" dirty="0">
                    <a:solidFill>
                      <a:srgbClr val="FF0000"/>
                    </a:solidFill>
                    <a:latin typeface="Arial" panose="020B0604020202020204" pitchFamily="34" charset="0"/>
                    <a:ea typeface="宋体" panose="02010600030101010101" pitchFamily="2" charset="-122"/>
                  </a:rPr>
                  <a:t>ServerSocket()</a:t>
                </a:r>
                <a:endParaRPr lang="en-US" altLang="zh-CN" dirty="0">
                  <a:latin typeface="Times New Roman" panose="02020603050405020304" pitchFamily="18" charset="0"/>
                  <a:ea typeface="宋体" panose="02010600030101010101" pitchFamily="2" charset="-122"/>
                </a:endParaRPr>
              </a:p>
            </p:txBody>
          </p:sp>
        </p:grpSp>
        <p:sp>
          <p:nvSpPr>
            <p:cNvPr id="44068" name="Line 10"/>
            <p:cNvSpPr/>
            <p:nvPr/>
          </p:nvSpPr>
          <p:spPr>
            <a:xfrm>
              <a:off x="1284" y="1872"/>
              <a:ext cx="0" cy="204"/>
            </a:xfrm>
            <a:prstGeom prst="line">
              <a:avLst/>
            </a:prstGeom>
            <a:ln w="28575" cap="flat" cmpd="sng">
              <a:solidFill>
                <a:schemeClr val="accent2"/>
              </a:solidFill>
              <a:prstDash val="solid"/>
              <a:headEnd type="none" w="med" len="med"/>
              <a:tailEnd type="triangle" w="med" len="med"/>
            </a:ln>
          </p:spPr>
        </p:sp>
      </p:grpSp>
      <p:grpSp>
        <p:nvGrpSpPr>
          <p:cNvPr id="494603" name="Group 11"/>
          <p:cNvGrpSpPr/>
          <p:nvPr/>
        </p:nvGrpSpPr>
        <p:grpSpPr>
          <a:xfrm>
            <a:off x="4975225" y="3149600"/>
            <a:ext cx="2176463" cy="909638"/>
            <a:chOff x="3260" y="1156"/>
            <a:chExt cx="1371" cy="573"/>
          </a:xfrm>
        </p:grpSpPr>
        <p:sp>
          <p:nvSpPr>
            <p:cNvPr id="44065" name="Text Box 12"/>
            <p:cNvSpPr txBox="1"/>
            <p:nvPr/>
          </p:nvSpPr>
          <p:spPr>
            <a:xfrm>
              <a:off x="3335" y="1156"/>
              <a:ext cx="1296"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生成套接字</a:t>
              </a:r>
              <a:r>
                <a:rPr lang="en-US" altLang="zh-CN"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a:p>
              <a:r>
                <a:rPr lang="zh-CN" altLang="en-US" sz="1400" dirty="0">
                  <a:latin typeface="Arial" panose="020B0604020202020204" pitchFamily="34" charset="0"/>
                  <a:ea typeface="宋体" panose="02010600030101010101" pitchFamily="2" charset="-122"/>
                </a:rPr>
                <a:t>与 </a:t>
              </a:r>
              <a:r>
                <a:rPr lang="en-US" altLang="zh-CN" sz="1400" dirty="0">
                  <a:latin typeface="Courier New" panose="02070309020205020404" pitchFamily="49" charset="0"/>
                  <a:ea typeface="宋体" panose="02010600030101010101" pitchFamily="2" charset="-122"/>
                </a:rPr>
                <a:t>hostid</a:t>
              </a:r>
              <a:r>
                <a:rPr lang="zh-CN" altLang="en-US" sz="1400" dirty="0">
                  <a:latin typeface="Courier New" panose="02070309020205020404" pitchFamily="49" charset="0"/>
                  <a:ea typeface="宋体" panose="02010600030101010101" pitchFamily="2" charset="-122"/>
                </a:rPr>
                <a:t>连接</a:t>
              </a:r>
              <a:r>
                <a:rPr lang="en-US" altLang="zh-CN" sz="1400" dirty="0">
                  <a:latin typeface="Arial" panose="020B0604020202020204" pitchFamily="34" charset="0"/>
                  <a:ea typeface="宋体" panose="02010600030101010101" pitchFamily="2" charset="-122"/>
                </a:rPr>
                <a:t>, port=</a:t>
              </a:r>
              <a:r>
                <a:rPr lang="en-US" altLang="zh-CN" sz="1400" dirty="0">
                  <a:latin typeface="Courier New" panose="02070309020205020404" pitchFamily="49" charset="0"/>
                  <a:ea typeface="宋体" panose="02010600030101010101" pitchFamily="2" charset="-122"/>
                </a:rPr>
                <a:t>x</a:t>
              </a:r>
              <a:endParaRPr lang="en-US" altLang="zh-CN" dirty="0">
                <a:latin typeface="Times New Roman" panose="02020603050405020304" pitchFamily="18" charset="0"/>
                <a:ea typeface="宋体" panose="02010600030101010101" pitchFamily="2" charset="-122"/>
              </a:endParaRPr>
            </a:p>
          </p:txBody>
        </p:sp>
        <p:sp>
          <p:nvSpPr>
            <p:cNvPr id="44066" name="Text Box 13"/>
            <p:cNvSpPr txBox="1"/>
            <p:nvPr/>
          </p:nvSpPr>
          <p:spPr>
            <a:xfrm>
              <a:off x="3260" y="1403"/>
              <a:ext cx="919" cy="326"/>
            </a:xfrm>
            <a:prstGeom prst="rect">
              <a:avLst/>
            </a:prstGeom>
            <a:noFill/>
            <a:ln w="9525">
              <a:noFill/>
            </a:ln>
          </p:spPr>
          <p:txBody>
            <a:bodyPr wrap="none" anchor="ctr" anchorCtr="0">
              <a:spAutoFit/>
            </a:bodyPr>
            <a:p>
              <a:pPr algn="r"/>
              <a:r>
                <a:rPr lang="en-US" altLang="zh-CN" sz="1400" dirty="0">
                  <a:solidFill>
                    <a:srgbClr val="FF0000"/>
                  </a:solidFill>
                  <a:latin typeface="Arial" panose="020B0604020202020204" pitchFamily="34" charset="0"/>
                  <a:ea typeface="宋体" panose="02010600030101010101" pitchFamily="2" charset="-122"/>
                </a:rPr>
                <a:t>ClientSocket = </a:t>
              </a:r>
              <a:endParaRPr lang="en-US" altLang="zh-CN" sz="1400" dirty="0">
                <a:solidFill>
                  <a:srgbClr val="FF0000"/>
                </a:solidFill>
                <a:latin typeface="Arial" panose="020B0604020202020204" pitchFamily="34" charset="0"/>
                <a:ea typeface="宋体" panose="02010600030101010101" pitchFamily="2" charset="-122"/>
              </a:endParaRPr>
            </a:p>
            <a:p>
              <a:pPr algn="r"/>
              <a:r>
                <a:rPr lang="en-US" altLang="zh-CN" sz="1400" dirty="0">
                  <a:solidFill>
                    <a:srgbClr val="FF0000"/>
                  </a:solidFill>
                  <a:latin typeface="Arial" panose="020B0604020202020204" pitchFamily="34" charset="0"/>
                  <a:ea typeface="宋体" panose="02010600030101010101" pitchFamily="2" charset="-122"/>
                </a:rPr>
                <a:t>Socket()</a:t>
              </a:r>
              <a:endParaRPr lang="en-US" altLang="zh-CN" dirty="0">
                <a:latin typeface="Times New Roman" panose="02020603050405020304" pitchFamily="18" charset="0"/>
                <a:ea typeface="宋体" panose="02010600030101010101" pitchFamily="2" charset="-122"/>
              </a:endParaRPr>
            </a:p>
          </p:txBody>
        </p:sp>
      </p:grpSp>
      <p:grpSp>
        <p:nvGrpSpPr>
          <p:cNvPr id="494606" name="Group 14"/>
          <p:cNvGrpSpPr/>
          <p:nvPr/>
        </p:nvGrpSpPr>
        <p:grpSpPr>
          <a:xfrm>
            <a:off x="1276350" y="3124200"/>
            <a:ext cx="5360988" cy="3352800"/>
            <a:chOff x="804" y="1968"/>
            <a:chExt cx="3377" cy="2112"/>
          </a:xfrm>
        </p:grpSpPr>
        <p:sp>
          <p:nvSpPr>
            <p:cNvPr id="44058" name="Text Box 15"/>
            <p:cNvSpPr txBox="1"/>
            <p:nvPr/>
          </p:nvSpPr>
          <p:spPr>
            <a:xfrm>
              <a:off x="839" y="3641"/>
              <a:ext cx="1076"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关闭</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connectionSocket</a:t>
              </a:r>
              <a:endParaRPr lang="en-US" altLang="zh-CN" dirty="0">
                <a:latin typeface="Times New Roman" panose="02020603050405020304" pitchFamily="18" charset="0"/>
                <a:ea typeface="宋体" panose="02010600030101010101" pitchFamily="2" charset="-122"/>
              </a:endParaRPr>
            </a:p>
          </p:txBody>
        </p:sp>
        <p:sp>
          <p:nvSpPr>
            <p:cNvPr id="44059" name="Line 16"/>
            <p:cNvSpPr/>
            <p:nvPr/>
          </p:nvSpPr>
          <p:spPr>
            <a:xfrm>
              <a:off x="1290" y="3564"/>
              <a:ext cx="0" cy="204"/>
            </a:xfrm>
            <a:prstGeom prst="line">
              <a:avLst/>
            </a:prstGeom>
            <a:ln w="28575" cap="flat" cmpd="sng">
              <a:solidFill>
                <a:schemeClr val="accent2"/>
              </a:solidFill>
              <a:prstDash val="solid"/>
              <a:headEnd type="none" w="med" len="med"/>
              <a:tailEnd type="triangle" w="med" len="med"/>
            </a:ln>
          </p:spPr>
        </p:sp>
        <p:sp>
          <p:nvSpPr>
            <p:cNvPr id="44060" name="Freeform 17"/>
            <p:cNvSpPr/>
            <p:nvPr/>
          </p:nvSpPr>
          <p:spPr>
            <a:xfrm>
              <a:off x="804" y="1968"/>
              <a:ext cx="492" cy="2112"/>
            </a:xfrm>
            <a:custGeom>
              <a:avLst/>
              <a:gdLst/>
              <a:ahLst/>
              <a:cxnLst>
                <a:cxn ang="0">
                  <a:pos x="492" y="1968"/>
                </a:cxn>
                <a:cxn ang="0">
                  <a:pos x="492" y="2112"/>
                </a:cxn>
                <a:cxn ang="0">
                  <a:pos x="0" y="2112"/>
                </a:cxn>
                <a:cxn ang="0">
                  <a:pos x="0" y="0"/>
                </a:cxn>
                <a:cxn ang="0">
                  <a:pos x="402" y="0"/>
                </a:cxn>
              </a:cxnLst>
              <a:pathLst>
                <a:path w="492" h="2112">
                  <a:moveTo>
                    <a:pt x="492" y="1968"/>
                  </a:moveTo>
                  <a:lnTo>
                    <a:pt x="492" y="2112"/>
                  </a:lnTo>
                  <a:lnTo>
                    <a:pt x="0" y="2112"/>
                  </a:lnTo>
                  <a:lnTo>
                    <a:pt x="0" y="0"/>
                  </a:lnTo>
                  <a:lnTo>
                    <a:pt x="402" y="0"/>
                  </a:lnTo>
                </a:path>
              </a:pathLst>
            </a:custGeom>
            <a:noFill/>
            <a:ln w="28575" cap="flat" cmpd="sng">
              <a:solidFill>
                <a:schemeClr val="accent2">
                  <a:alpha val="100000"/>
                </a:schemeClr>
              </a:solidFill>
              <a:prstDash val="solid"/>
              <a:round/>
              <a:headEnd type="none" w="med" len="med"/>
              <a:tailEnd type="triangle" w="med" len="med"/>
            </a:ln>
          </p:spPr>
          <p:txBody>
            <a:bodyPr/>
            <a:p>
              <a:endParaRPr lang="zh-CN" altLang="en-US"/>
            </a:p>
          </p:txBody>
        </p:sp>
        <p:grpSp>
          <p:nvGrpSpPr>
            <p:cNvPr id="44061" name="Group 18"/>
            <p:cNvGrpSpPr/>
            <p:nvPr/>
          </p:nvGrpSpPr>
          <p:grpSpPr>
            <a:xfrm>
              <a:off x="3365" y="3377"/>
              <a:ext cx="816" cy="692"/>
              <a:chOff x="3365" y="3377"/>
              <a:chExt cx="816" cy="692"/>
            </a:xfrm>
          </p:grpSpPr>
          <p:sp>
            <p:nvSpPr>
              <p:cNvPr id="44062" name="Text Box 19"/>
              <p:cNvSpPr txBox="1"/>
              <p:nvPr/>
            </p:nvSpPr>
            <p:spPr>
              <a:xfrm>
                <a:off x="3365" y="3377"/>
                <a:ext cx="792"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读回答</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ClientSocket</a:t>
                </a:r>
                <a:endParaRPr lang="zh-CN" altLang="en-US" sz="1400" dirty="0">
                  <a:solidFill>
                    <a:srgbClr val="FF0000"/>
                  </a:solidFill>
                  <a:latin typeface="Arial" panose="020B0604020202020204" pitchFamily="34" charset="0"/>
                  <a:ea typeface="宋体" panose="02010600030101010101" pitchFamily="2" charset="-122"/>
                </a:endParaRPr>
              </a:p>
            </p:txBody>
          </p:sp>
          <p:sp>
            <p:nvSpPr>
              <p:cNvPr id="44063" name="Text Box 20"/>
              <p:cNvSpPr txBox="1"/>
              <p:nvPr/>
            </p:nvSpPr>
            <p:spPr>
              <a:xfrm>
                <a:off x="3389" y="3743"/>
                <a:ext cx="792"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关闭</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ClientSocket</a:t>
                </a:r>
                <a:endParaRPr lang="zh-CN" altLang="en-US" sz="1400" dirty="0">
                  <a:solidFill>
                    <a:srgbClr val="FF0000"/>
                  </a:solidFill>
                  <a:latin typeface="Arial" panose="020B0604020202020204" pitchFamily="34" charset="0"/>
                  <a:ea typeface="宋体" panose="02010600030101010101" pitchFamily="2" charset="-122"/>
                </a:endParaRPr>
              </a:p>
            </p:txBody>
          </p:sp>
          <p:sp>
            <p:nvSpPr>
              <p:cNvPr id="44064" name="Line 21"/>
              <p:cNvSpPr/>
              <p:nvPr/>
            </p:nvSpPr>
            <p:spPr>
              <a:xfrm>
                <a:off x="3816" y="3690"/>
                <a:ext cx="0" cy="204"/>
              </a:xfrm>
              <a:prstGeom prst="line">
                <a:avLst/>
              </a:prstGeom>
              <a:ln w="28575" cap="flat" cmpd="sng">
                <a:solidFill>
                  <a:schemeClr val="accent2"/>
                </a:solidFill>
                <a:prstDash val="solid"/>
                <a:headEnd type="none" w="med" len="med"/>
                <a:tailEnd type="triangle" w="med" len="med"/>
              </a:ln>
            </p:spPr>
          </p:sp>
        </p:grpSp>
      </p:grpSp>
      <p:sp>
        <p:nvSpPr>
          <p:cNvPr id="44040" name="Text Box 22"/>
          <p:cNvSpPr txBox="1"/>
          <p:nvPr/>
        </p:nvSpPr>
        <p:spPr>
          <a:xfrm>
            <a:off x="701675" y="1489075"/>
            <a:ext cx="3160713" cy="457200"/>
          </a:xfrm>
          <a:prstGeom prst="rect">
            <a:avLst/>
          </a:prstGeom>
          <a:noFill/>
          <a:ln w="9525">
            <a:noFill/>
          </a:ln>
        </p:spPr>
        <p:txBody>
          <a:bodyPr wrap="none" anchor="ctr" anchorCtr="0">
            <a:spAutoFit/>
          </a:bodyPr>
          <a:p>
            <a:pPr>
              <a:spcBef>
                <a:spcPct val="50000"/>
              </a:spcBef>
            </a:pPr>
            <a:r>
              <a:rPr lang="zh-CN" altLang="en-US" u="sng" dirty="0">
                <a:solidFill>
                  <a:schemeClr val="hlink"/>
                </a:solidFill>
                <a:latin typeface="Times New Roman" panose="02020603050405020304" pitchFamily="18" charset="0"/>
                <a:ea typeface="华文中宋" panose="02010600040101010101" pitchFamily="2" charset="-122"/>
              </a:rPr>
              <a:t>服务器</a:t>
            </a:r>
            <a:r>
              <a:rPr lang="zh-CN" altLang="en-US"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运行在 </a:t>
            </a:r>
            <a:r>
              <a:rPr lang="en-US" altLang="zh-CN" sz="1800" dirty="0">
                <a:latin typeface="Courier New" panose="02070309020205020404" pitchFamily="49" charset="0"/>
                <a:ea typeface="宋体" panose="02010600030101010101" pitchFamily="2" charset="-122"/>
              </a:rPr>
              <a:t>hostid</a:t>
            </a:r>
            <a:r>
              <a:rPr lang="zh-CN" altLang="en-US" sz="1800" dirty="0">
                <a:latin typeface="Courier New" panose="02070309020205020404" pitchFamily="49" charset="0"/>
                <a:ea typeface="宋体" panose="02010600030101010101" pitchFamily="2" charset="-122"/>
              </a:rPr>
              <a:t>上</a:t>
            </a:r>
            <a:r>
              <a:rPr lang="en-US" altLang="zh-CN" sz="1800"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44041" name="Text Box 23"/>
          <p:cNvSpPr txBox="1"/>
          <p:nvPr/>
        </p:nvSpPr>
        <p:spPr>
          <a:xfrm>
            <a:off x="5211763" y="1508125"/>
            <a:ext cx="1098550" cy="457200"/>
          </a:xfrm>
          <a:prstGeom prst="rect">
            <a:avLst/>
          </a:prstGeom>
          <a:noFill/>
          <a:ln w="9525">
            <a:noFill/>
          </a:ln>
        </p:spPr>
        <p:txBody>
          <a:bodyPr wrap="none" anchor="ctr" anchorCtr="0">
            <a:spAutoFit/>
          </a:bodyPr>
          <a:p>
            <a:pPr>
              <a:spcBef>
                <a:spcPct val="50000"/>
              </a:spcBef>
            </a:pPr>
            <a:r>
              <a:rPr lang="zh-CN" altLang="en-US" u="sng" dirty="0">
                <a:solidFill>
                  <a:schemeClr val="hlink"/>
                </a:solidFill>
                <a:latin typeface="Times New Roman" panose="02020603050405020304" pitchFamily="18" charset="0"/>
                <a:ea typeface="华文中宋" panose="02010600040101010101" pitchFamily="2" charset="-122"/>
              </a:rPr>
              <a:t>客户机</a:t>
            </a:r>
            <a:endParaRPr lang="zh-CN" altLang="en-US" u="sng" dirty="0">
              <a:solidFill>
                <a:schemeClr val="hlink"/>
              </a:solidFill>
              <a:latin typeface="Times New Roman" panose="02020603050405020304" pitchFamily="18" charset="0"/>
              <a:ea typeface="华文中宋" panose="02010600040101010101" pitchFamily="2" charset="-122"/>
            </a:endParaRPr>
          </a:p>
        </p:txBody>
      </p:sp>
      <p:grpSp>
        <p:nvGrpSpPr>
          <p:cNvPr id="494616" name="Group 24"/>
          <p:cNvGrpSpPr/>
          <p:nvPr/>
        </p:nvGrpSpPr>
        <p:grpSpPr>
          <a:xfrm>
            <a:off x="2933700" y="4010025"/>
            <a:ext cx="3617913" cy="1371600"/>
            <a:chOff x="1848" y="2526"/>
            <a:chExt cx="2279" cy="864"/>
          </a:xfrm>
        </p:grpSpPr>
        <p:sp>
          <p:nvSpPr>
            <p:cNvPr id="44053" name="Line 25"/>
            <p:cNvSpPr/>
            <p:nvPr/>
          </p:nvSpPr>
          <p:spPr>
            <a:xfrm flipH="1">
              <a:off x="3792" y="2964"/>
              <a:ext cx="6" cy="426"/>
            </a:xfrm>
            <a:prstGeom prst="line">
              <a:avLst/>
            </a:prstGeom>
            <a:ln w="28575" cap="flat" cmpd="sng">
              <a:solidFill>
                <a:schemeClr val="accent2"/>
              </a:solidFill>
              <a:prstDash val="solid"/>
              <a:headEnd type="none" w="med" len="med"/>
              <a:tailEnd type="triangle" w="med" len="med"/>
            </a:ln>
          </p:spPr>
        </p:sp>
        <p:grpSp>
          <p:nvGrpSpPr>
            <p:cNvPr id="44054" name="Group 26"/>
            <p:cNvGrpSpPr/>
            <p:nvPr/>
          </p:nvGrpSpPr>
          <p:grpSpPr>
            <a:xfrm>
              <a:off x="1848" y="2526"/>
              <a:ext cx="2279" cy="516"/>
              <a:chOff x="1848" y="2526"/>
              <a:chExt cx="2279" cy="516"/>
            </a:xfrm>
          </p:grpSpPr>
          <p:sp>
            <p:nvSpPr>
              <p:cNvPr id="44055" name="Text Box 27"/>
              <p:cNvSpPr txBox="1"/>
              <p:nvPr/>
            </p:nvSpPr>
            <p:spPr>
              <a:xfrm>
                <a:off x="3335" y="2675"/>
                <a:ext cx="792"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发送请求</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ClientSocket</a:t>
                </a:r>
                <a:endParaRPr lang="zh-CN" altLang="en-US" sz="1400" dirty="0">
                  <a:solidFill>
                    <a:srgbClr val="FF0000"/>
                  </a:solidFill>
                  <a:latin typeface="Arial" panose="020B0604020202020204" pitchFamily="34" charset="0"/>
                  <a:ea typeface="宋体" panose="02010600030101010101" pitchFamily="2" charset="-122"/>
                </a:endParaRPr>
              </a:p>
            </p:txBody>
          </p:sp>
          <p:sp>
            <p:nvSpPr>
              <p:cNvPr id="44056" name="Line 28"/>
              <p:cNvSpPr/>
              <p:nvPr/>
            </p:nvSpPr>
            <p:spPr>
              <a:xfrm>
                <a:off x="3792" y="2526"/>
                <a:ext cx="0" cy="204"/>
              </a:xfrm>
              <a:prstGeom prst="line">
                <a:avLst/>
              </a:prstGeom>
              <a:ln w="28575" cap="flat" cmpd="sng">
                <a:solidFill>
                  <a:schemeClr val="accent2"/>
                </a:solidFill>
                <a:prstDash val="solid"/>
                <a:headEnd type="none" w="med" len="med"/>
                <a:tailEnd type="triangle" w="med" len="med"/>
              </a:ln>
            </p:spPr>
          </p:sp>
          <p:sp>
            <p:nvSpPr>
              <p:cNvPr id="44057" name="Line 29"/>
              <p:cNvSpPr/>
              <p:nvPr/>
            </p:nvSpPr>
            <p:spPr>
              <a:xfrm flipH="1">
                <a:off x="1848" y="2790"/>
                <a:ext cx="1518" cy="252"/>
              </a:xfrm>
              <a:prstGeom prst="line">
                <a:avLst/>
              </a:prstGeom>
              <a:ln w="28575" cap="flat" cmpd="sng">
                <a:solidFill>
                  <a:srgbClr val="FF0000"/>
                </a:solidFill>
                <a:prstDash val="solid"/>
                <a:headEnd type="none" w="med" len="med"/>
                <a:tailEnd type="triangle" w="med" len="med"/>
              </a:ln>
            </p:spPr>
          </p:sp>
        </p:grpSp>
      </p:grpSp>
      <p:grpSp>
        <p:nvGrpSpPr>
          <p:cNvPr id="494622" name="Group 30"/>
          <p:cNvGrpSpPr/>
          <p:nvPr/>
        </p:nvGrpSpPr>
        <p:grpSpPr>
          <a:xfrm>
            <a:off x="1303338" y="4105275"/>
            <a:ext cx="4097337" cy="1487488"/>
            <a:chOff x="821" y="2586"/>
            <a:chExt cx="2581" cy="937"/>
          </a:xfrm>
        </p:grpSpPr>
        <p:sp>
          <p:nvSpPr>
            <p:cNvPr id="44048" name="Text Box 31"/>
            <p:cNvSpPr txBox="1"/>
            <p:nvPr/>
          </p:nvSpPr>
          <p:spPr>
            <a:xfrm>
              <a:off x="821" y="2789"/>
              <a:ext cx="1076"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读请求</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connectionSocket</a:t>
              </a:r>
              <a:endParaRPr lang="en-US" altLang="zh-CN" dirty="0">
                <a:latin typeface="Times New Roman" panose="02020603050405020304" pitchFamily="18" charset="0"/>
                <a:ea typeface="宋体" panose="02010600030101010101" pitchFamily="2" charset="-122"/>
              </a:endParaRPr>
            </a:p>
          </p:txBody>
        </p:sp>
        <p:sp>
          <p:nvSpPr>
            <p:cNvPr id="44049" name="Text Box 32"/>
            <p:cNvSpPr txBox="1"/>
            <p:nvPr/>
          </p:nvSpPr>
          <p:spPr>
            <a:xfrm>
              <a:off x="851" y="3197"/>
              <a:ext cx="1076"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写回答</a:t>
              </a:r>
              <a:endParaRPr lang="en-US" altLang="zh-CN"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connectionSocket</a:t>
              </a:r>
              <a:endParaRPr lang="en-US" altLang="zh-CN" dirty="0">
                <a:latin typeface="Times New Roman" panose="02020603050405020304" pitchFamily="18" charset="0"/>
                <a:ea typeface="宋体" panose="02010600030101010101" pitchFamily="2" charset="-122"/>
              </a:endParaRPr>
            </a:p>
          </p:txBody>
        </p:sp>
        <p:sp>
          <p:nvSpPr>
            <p:cNvPr id="44050" name="Line 33"/>
            <p:cNvSpPr/>
            <p:nvPr/>
          </p:nvSpPr>
          <p:spPr>
            <a:xfrm>
              <a:off x="1278" y="2586"/>
              <a:ext cx="0" cy="240"/>
            </a:xfrm>
            <a:prstGeom prst="line">
              <a:avLst/>
            </a:prstGeom>
            <a:ln w="28575" cap="flat" cmpd="sng">
              <a:solidFill>
                <a:schemeClr val="accent2"/>
              </a:solidFill>
              <a:prstDash val="solid"/>
              <a:headEnd type="none" w="med" len="med"/>
              <a:tailEnd type="triangle" w="med" len="med"/>
            </a:ln>
          </p:spPr>
        </p:sp>
        <p:sp>
          <p:nvSpPr>
            <p:cNvPr id="44051" name="Line 34"/>
            <p:cNvSpPr/>
            <p:nvPr/>
          </p:nvSpPr>
          <p:spPr>
            <a:xfrm flipH="1">
              <a:off x="1284" y="3090"/>
              <a:ext cx="6" cy="156"/>
            </a:xfrm>
            <a:prstGeom prst="line">
              <a:avLst/>
            </a:prstGeom>
            <a:ln w="28575" cap="flat" cmpd="sng">
              <a:solidFill>
                <a:schemeClr val="accent2"/>
              </a:solidFill>
              <a:prstDash val="solid"/>
              <a:headEnd type="none" w="med" len="med"/>
              <a:tailEnd type="triangle" w="med" len="med"/>
            </a:ln>
          </p:spPr>
        </p:sp>
        <p:sp>
          <p:nvSpPr>
            <p:cNvPr id="44052" name="Line 35"/>
            <p:cNvSpPr/>
            <p:nvPr/>
          </p:nvSpPr>
          <p:spPr>
            <a:xfrm>
              <a:off x="1866" y="3306"/>
              <a:ext cx="1536" cy="180"/>
            </a:xfrm>
            <a:prstGeom prst="line">
              <a:avLst/>
            </a:prstGeom>
            <a:ln w="28575" cap="flat" cmpd="sng">
              <a:solidFill>
                <a:srgbClr val="FF0000"/>
              </a:solidFill>
              <a:prstDash val="solid"/>
              <a:headEnd type="none" w="med" len="med"/>
              <a:tailEnd type="triangle" w="med" len="med"/>
            </a:ln>
          </p:spPr>
        </p:sp>
      </p:grpSp>
      <p:grpSp>
        <p:nvGrpSpPr>
          <p:cNvPr id="494628" name="Group 36"/>
          <p:cNvGrpSpPr/>
          <p:nvPr/>
        </p:nvGrpSpPr>
        <p:grpSpPr>
          <a:xfrm>
            <a:off x="2924175" y="3041650"/>
            <a:ext cx="2200275" cy="641350"/>
            <a:chOff x="1842" y="1916"/>
            <a:chExt cx="1386" cy="404"/>
          </a:xfrm>
        </p:grpSpPr>
        <p:sp>
          <p:nvSpPr>
            <p:cNvPr id="44046" name="Line 37"/>
            <p:cNvSpPr/>
            <p:nvPr/>
          </p:nvSpPr>
          <p:spPr>
            <a:xfrm>
              <a:off x="1842" y="2130"/>
              <a:ext cx="1386" cy="0"/>
            </a:xfrm>
            <a:prstGeom prst="line">
              <a:avLst/>
            </a:prstGeom>
            <a:ln w="38100" cap="flat" cmpd="sng">
              <a:solidFill>
                <a:srgbClr val="FF0000"/>
              </a:solidFill>
              <a:prstDash val="dash"/>
              <a:headEnd type="triangle" w="med" len="med"/>
              <a:tailEnd type="triangle" w="med" len="med"/>
            </a:ln>
          </p:spPr>
        </p:sp>
        <p:sp>
          <p:nvSpPr>
            <p:cNvPr id="44047" name="Text Box 38"/>
            <p:cNvSpPr txBox="1"/>
            <p:nvPr/>
          </p:nvSpPr>
          <p:spPr>
            <a:xfrm>
              <a:off x="1876" y="1916"/>
              <a:ext cx="1263" cy="404"/>
            </a:xfrm>
            <a:prstGeom prst="rect">
              <a:avLst/>
            </a:prstGeom>
            <a:noFill/>
            <a:ln w="9525">
              <a:noFill/>
            </a:ln>
          </p:spPr>
          <p:txBody>
            <a:bodyPr wrap="none" anchor="ctr" anchorCtr="0">
              <a:spAutoFit/>
            </a:bodyPr>
            <a:p>
              <a:r>
                <a:rPr lang="en-US" altLang="zh-CN" sz="1800" dirty="0">
                  <a:solidFill>
                    <a:srgbClr val="FF0000"/>
                  </a:solidFill>
                  <a:latin typeface="Times New Roman" panose="02020603050405020304" pitchFamily="18" charset="0"/>
                  <a:ea typeface="宋体" panose="02010600030101010101" pitchFamily="2" charset="-122"/>
                </a:rPr>
                <a:t>TCP </a:t>
              </a:r>
              <a:endParaRPr lang="en-US" altLang="zh-CN" sz="1800" dirty="0">
                <a:solidFill>
                  <a:srgbClr val="FF0000"/>
                </a:solidFill>
                <a:latin typeface="Times New Roman" panose="02020603050405020304" pitchFamily="18" charset="0"/>
                <a:ea typeface="宋体" panose="02010600030101010101" pitchFamily="2" charset="-122"/>
              </a:endParaRPr>
            </a:p>
            <a:p>
              <a:r>
                <a:rPr lang="en-US" altLang="zh-CN" sz="1800" dirty="0">
                  <a:solidFill>
                    <a:srgbClr val="FF0000"/>
                  </a:solidFill>
                  <a:latin typeface="Times New Roman" panose="02020603050405020304" pitchFamily="18" charset="0"/>
                  <a:ea typeface="宋体" panose="02010600030101010101" pitchFamily="2" charset="-122"/>
                </a:rPr>
                <a:t>connection setup</a:t>
              </a:r>
              <a:endParaRPr lang="en-US" altLang="zh-CN" dirty="0">
                <a:latin typeface="Times New Roman" panose="02020603050405020304" pitchFamily="18" charset="0"/>
                <a:ea typeface="宋体" panose="02010600030101010101" pitchFamily="2" charset="-122"/>
              </a:endParaRPr>
            </a:p>
          </p:txBody>
        </p:sp>
      </p:grpSp>
      <p:sp>
        <p:nvSpPr>
          <p:cNvPr id="44045" name="AutoShape 39">
            <a:hlinkClick r:id="" action="ppaction://hlinkshowjump?jump=nextslide"/>
          </p:cNvPr>
          <p:cNvSpPr/>
          <p:nvPr/>
        </p:nvSpPr>
        <p:spPr>
          <a:xfrm>
            <a:off x="6934200" y="6413500"/>
            <a:ext cx="431800" cy="279400"/>
          </a:xfrm>
          <a:prstGeom prst="actionButtonForwardNext">
            <a:avLst/>
          </a:prstGeom>
          <a:solidFill>
            <a:srgbClr val="008000"/>
          </a:solidFill>
          <a:ln w="9525">
            <a:noFill/>
          </a:ln>
        </p:spPr>
        <p:txBody>
          <a:bodyPr wrap="none" anchor="ctr" anchorCtr="0"/>
          <a:p>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4598"/>
                                        </p:tgtEl>
                                        <p:attrNameLst>
                                          <p:attrName>style.visibility</p:attrName>
                                        </p:attrNameLst>
                                      </p:cBhvr>
                                      <p:to>
                                        <p:strVal val="visible"/>
                                      </p:to>
                                    </p:set>
                                    <p:animEffect transition="in" filter="dissolve">
                                      <p:cBhvr>
                                        <p:cTn id="7" dur="500"/>
                                        <p:tgtEl>
                                          <p:spTgt spid="4945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4595"/>
                                        </p:tgtEl>
                                        <p:attrNameLst>
                                          <p:attrName>style.visibility</p:attrName>
                                        </p:attrNameLst>
                                      </p:cBhvr>
                                      <p:to>
                                        <p:strVal val="visible"/>
                                      </p:to>
                                    </p:set>
                                    <p:animEffect transition="in" filter="dissolve">
                                      <p:cBhvr>
                                        <p:cTn id="12" dur="500"/>
                                        <p:tgtEl>
                                          <p:spTgt spid="49459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94603"/>
                                        </p:tgtEl>
                                        <p:attrNameLst>
                                          <p:attrName>style.visibility</p:attrName>
                                        </p:attrNameLst>
                                      </p:cBhvr>
                                      <p:to>
                                        <p:strVal val="visible"/>
                                      </p:to>
                                    </p:set>
                                    <p:animEffect transition="in" filter="dissolve">
                                      <p:cBhvr>
                                        <p:cTn id="17" dur="500"/>
                                        <p:tgtEl>
                                          <p:spTgt spid="49460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94628"/>
                                        </p:tgtEl>
                                        <p:attrNameLst>
                                          <p:attrName>style.visibility</p:attrName>
                                        </p:attrNameLst>
                                      </p:cBhvr>
                                      <p:to>
                                        <p:strVal val="visible"/>
                                      </p:to>
                                    </p:set>
                                    <p:animEffect transition="in" filter="dissolve">
                                      <p:cBhvr>
                                        <p:cTn id="22" dur="500"/>
                                        <p:tgtEl>
                                          <p:spTgt spid="4946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94616"/>
                                        </p:tgtEl>
                                        <p:attrNameLst>
                                          <p:attrName>style.visibility</p:attrName>
                                        </p:attrNameLst>
                                      </p:cBhvr>
                                      <p:to>
                                        <p:strVal val="visible"/>
                                      </p:to>
                                    </p:set>
                                    <p:animEffect transition="in" filter="dissolve">
                                      <p:cBhvr>
                                        <p:cTn id="27" dur="500"/>
                                        <p:tgtEl>
                                          <p:spTgt spid="4946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94622"/>
                                        </p:tgtEl>
                                        <p:attrNameLst>
                                          <p:attrName>style.visibility</p:attrName>
                                        </p:attrNameLst>
                                      </p:cBhvr>
                                      <p:to>
                                        <p:strVal val="visible"/>
                                      </p:to>
                                    </p:set>
                                    <p:animEffect transition="in" filter="dissolve">
                                      <p:cBhvr>
                                        <p:cTn id="32" dur="500"/>
                                        <p:tgtEl>
                                          <p:spTgt spid="49462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94606"/>
                                        </p:tgtEl>
                                        <p:attrNameLst>
                                          <p:attrName>style.visibility</p:attrName>
                                        </p:attrNameLst>
                                      </p:cBhvr>
                                      <p:to>
                                        <p:strVal val="visible"/>
                                      </p:to>
                                    </p:set>
                                    <p:animEffect transition="in" filter="dissolve">
                                      <p:cBhvr>
                                        <p:cTn id="37" dur="500"/>
                                        <p:tgtEl>
                                          <p:spTgt spid="494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5" name="Rectangle 3"/>
          <p:cNvSpPr>
            <a:spLocks noGrp="1" noChangeArrowheads="1"/>
          </p:cNvSpPr>
          <p:nvPr>
            <p:ph idx="1"/>
          </p:nvPr>
        </p:nvSpPr>
        <p:spPr>
          <a:xfrm>
            <a:off x="325438" y="1989138"/>
            <a:ext cx="4343400"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25000"/>
              </a:lnSpc>
              <a:spcBef>
                <a:spcPct val="15000"/>
              </a:spcBef>
              <a:spcAft>
                <a:spcPts val="600"/>
              </a:spcAft>
              <a:buClr>
                <a:srgbClr val="A04DA3"/>
              </a:buClr>
              <a:buSzTx/>
              <a:buFont typeface="Georgia" panose="02040502050405020303" pitchFamily="18" charset="0"/>
              <a:buChar char="•"/>
              <a:defRPr/>
            </a:pPr>
            <a:r>
              <a:rPr kumimoji="0" lang="zh-CN" altLang="zh-CN" sz="2000" b="1" i="0" u="none" strike="noStrike" kern="1200" cap="none" spc="0" normalizeH="0" baseline="0" noProof="0" dirty="0">
                <a:ln>
                  <a:noFill/>
                </a:ln>
                <a:solidFill>
                  <a:schemeClr val="tx1"/>
                </a:solidFill>
                <a:effectLst/>
                <a:uLnTx/>
                <a:uFillTx/>
                <a:latin typeface="+mj-ea"/>
                <a:ea typeface="+mj-ea"/>
                <a:cs typeface="+mn-cs"/>
              </a:rPr>
              <a:t>创建了三个流和一个套接字，如图</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所示。</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套接字：</a:t>
            </a:r>
            <a:r>
              <a:rPr kumimoji="0" lang="en-US" altLang="zh-CN" sz="2000" b="1" i="0" u="none" strike="noStrike" kern="1200" cap="none" spc="0" normalizeH="0" baseline="0" noProof="0" dirty="0" err="1">
                <a:ln>
                  <a:noFill/>
                </a:ln>
                <a:solidFill>
                  <a:schemeClr val="tx1"/>
                </a:solidFill>
                <a:effectLst/>
                <a:uLnTx/>
                <a:uFillTx/>
                <a:latin typeface="+mj-ea"/>
                <a:ea typeface="+mj-ea"/>
                <a:cs typeface="+mn-cs"/>
              </a:rPr>
              <a:t>clientSocket</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err="1">
                <a:ln>
                  <a:noFill/>
                </a:ln>
                <a:solidFill>
                  <a:srgbClr val="FF3300"/>
                </a:solidFill>
                <a:effectLst/>
                <a:uLnTx/>
                <a:uFillTx/>
                <a:latin typeface="+mj-ea"/>
                <a:ea typeface="+mj-ea"/>
                <a:cs typeface="+mn-cs"/>
              </a:rPr>
              <a:t>InFromUser</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输入流：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连接到键盘；</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err="1">
                <a:ln>
                  <a:noFill/>
                </a:ln>
                <a:solidFill>
                  <a:srgbClr val="FF3300"/>
                </a:solidFill>
                <a:effectLst/>
                <a:uLnTx/>
                <a:uFillTx/>
                <a:latin typeface="+mj-ea"/>
                <a:ea typeface="+mj-ea"/>
                <a:cs typeface="+mn-cs"/>
              </a:rPr>
              <a:t>InFromServers</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输入流：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与套接字连接。从网络来的字符</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25000"/>
              </a:lnSpc>
              <a:spcBef>
                <a:spcPct val="150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dirty="0" err="1">
                <a:ln>
                  <a:noFill/>
                </a:ln>
                <a:solidFill>
                  <a:srgbClr val="FF3300"/>
                </a:solidFill>
                <a:effectLst/>
                <a:uLnTx/>
                <a:uFillTx/>
                <a:latin typeface="+mj-ea"/>
                <a:ea typeface="+mj-ea"/>
                <a:cs typeface="+mn-cs"/>
              </a:rPr>
              <a:t>outToServers</a:t>
            </a: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输出流：</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与套接字连接，客户机发送到网络的字符。</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90114"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dirty="0">
                <a:ln>
                  <a:noFill/>
                </a:ln>
                <a:solidFill>
                  <a:srgbClr val="339933"/>
                </a:solidFill>
                <a:effectLst/>
                <a:uLnTx/>
                <a:uFillTx/>
                <a:latin typeface="+mj-ea"/>
                <a:ea typeface="+mj-ea"/>
                <a:cs typeface="+mj-cs"/>
              </a:rPr>
              <a:t>客户机端</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46084" name="灯片编号占位符 6"/>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46085" name="Rectangle 16"/>
          <p:cNvSpPr/>
          <p:nvPr/>
        </p:nvSpPr>
        <p:spPr>
          <a:xfrm>
            <a:off x="0" y="1395413"/>
            <a:ext cx="9144000" cy="0"/>
          </a:xfrm>
          <a:prstGeom prst="rect">
            <a:avLst/>
          </a:prstGeom>
          <a:noFill/>
          <a:ln w="9525">
            <a:noFill/>
          </a:ln>
        </p:spPr>
        <p:txBody>
          <a:bodyPr wrap="none" anchor="ctr" anchorCtr="0">
            <a:spAutoFit/>
          </a:bodyPr>
          <a:p>
            <a:endParaRPr lang="zh-CN" altLang="en-US" dirty="0">
              <a:latin typeface="Times New Roman" panose="02020603050405020304" pitchFamily="18" charset="0"/>
            </a:endParaRPr>
          </a:p>
        </p:txBody>
      </p:sp>
      <p:sp>
        <p:nvSpPr>
          <p:cNvPr id="46086" name="Text Box 24"/>
          <p:cNvSpPr txBox="1"/>
          <p:nvPr/>
        </p:nvSpPr>
        <p:spPr>
          <a:xfrm>
            <a:off x="5305425" y="2608263"/>
            <a:ext cx="1206500" cy="762000"/>
          </a:xfrm>
          <a:prstGeom prst="rect">
            <a:avLst/>
          </a:prstGeom>
          <a:solidFill>
            <a:schemeClr val="bg1"/>
          </a:solidFill>
          <a:ln w="9525">
            <a:noFill/>
          </a:ln>
        </p:spPr>
        <p:txBody>
          <a:bodyPr>
            <a:spAutoFit/>
          </a:bodyPr>
          <a:p>
            <a:r>
              <a:rPr lang="zh-CN" altLang="en-US" sz="2000" dirty="0">
                <a:solidFill>
                  <a:schemeClr val="accent2"/>
                </a:solidFill>
                <a:latin typeface="Times New Roman" panose="02020603050405020304" pitchFamily="18" charset="0"/>
                <a:ea typeface="宋体" panose="02010600030101010101" pitchFamily="2" charset="-122"/>
              </a:rPr>
              <a:t>客户机</a:t>
            </a:r>
            <a:endParaRPr lang="zh-CN" altLang="en-US" sz="2000" dirty="0">
              <a:solidFill>
                <a:schemeClr val="accent2"/>
              </a:solidFill>
              <a:latin typeface="Times New Roman" panose="02020603050405020304" pitchFamily="18" charset="0"/>
              <a:ea typeface="宋体" panose="02010600030101010101" pitchFamily="2" charset="-122"/>
            </a:endParaRPr>
          </a:p>
          <a:p>
            <a:r>
              <a:rPr lang="en-US" altLang="zh-CN" sz="2000" dirty="0">
                <a:solidFill>
                  <a:schemeClr val="accent2"/>
                </a:solidFill>
                <a:latin typeface="Times New Roman" panose="02020603050405020304" pitchFamily="18" charset="0"/>
                <a:ea typeface="宋体" panose="02010600030101010101" pitchFamily="2" charset="-122"/>
              </a:rPr>
              <a:t>process</a:t>
            </a:r>
            <a:endParaRPr lang="en-US" altLang="zh-CN" sz="2000" dirty="0">
              <a:solidFill>
                <a:schemeClr val="accent2"/>
              </a:solidFill>
              <a:latin typeface="Times New Roman" panose="02020603050405020304" pitchFamily="18" charset="0"/>
              <a:ea typeface="宋体" panose="02010600030101010101" pitchFamily="2" charset="-122"/>
            </a:endParaRPr>
          </a:p>
        </p:txBody>
      </p:sp>
      <p:sp>
        <p:nvSpPr>
          <p:cNvPr id="46087" name="AutoShape 2"/>
          <p:cNvSpPr>
            <a:spLocks noChangeAspect="1" noTextEdit="1"/>
          </p:cNvSpPr>
          <p:nvPr/>
        </p:nvSpPr>
        <p:spPr>
          <a:xfrm>
            <a:off x="4906963" y="1358900"/>
            <a:ext cx="3670300" cy="4791075"/>
          </a:xfrm>
          <a:prstGeom prst="rect">
            <a:avLst/>
          </a:prstGeom>
          <a:noFill/>
          <a:ln w="9525">
            <a:noFill/>
          </a:ln>
        </p:spPr>
        <p:txBody>
          <a:bodyPr/>
          <a:p>
            <a:endParaRPr lang="zh-CN" altLang="en-US"/>
          </a:p>
        </p:txBody>
      </p:sp>
      <p:sp>
        <p:nvSpPr>
          <p:cNvPr id="46088" name="Freeform 4"/>
          <p:cNvSpPr/>
          <p:nvPr/>
        </p:nvSpPr>
        <p:spPr>
          <a:xfrm>
            <a:off x="5087938" y="2006600"/>
            <a:ext cx="3446462" cy="33353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171" h="2101">
                <a:moveTo>
                  <a:pt x="635" y="2101"/>
                </a:moveTo>
                <a:lnTo>
                  <a:pt x="1536" y="2101"/>
                </a:lnTo>
                <a:lnTo>
                  <a:pt x="1594" y="2098"/>
                </a:lnTo>
                <a:lnTo>
                  <a:pt x="1652" y="2088"/>
                </a:lnTo>
                <a:lnTo>
                  <a:pt x="1710" y="2072"/>
                </a:lnTo>
                <a:lnTo>
                  <a:pt x="1765" y="2051"/>
                </a:lnTo>
                <a:lnTo>
                  <a:pt x="1818" y="2023"/>
                </a:lnTo>
                <a:lnTo>
                  <a:pt x="1869" y="1991"/>
                </a:lnTo>
                <a:lnTo>
                  <a:pt x="1919" y="1954"/>
                </a:lnTo>
                <a:lnTo>
                  <a:pt x="1964" y="1910"/>
                </a:lnTo>
                <a:lnTo>
                  <a:pt x="2005" y="1863"/>
                </a:lnTo>
                <a:lnTo>
                  <a:pt x="2043" y="1811"/>
                </a:lnTo>
                <a:lnTo>
                  <a:pt x="2075" y="1756"/>
                </a:lnTo>
                <a:lnTo>
                  <a:pt x="2103" y="1696"/>
                </a:lnTo>
                <a:lnTo>
                  <a:pt x="2127" y="1634"/>
                </a:lnTo>
                <a:lnTo>
                  <a:pt x="2146" y="1571"/>
                </a:lnTo>
                <a:lnTo>
                  <a:pt x="2160" y="1505"/>
                </a:lnTo>
                <a:lnTo>
                  <a:pt x="2168" y="1438"/>
                </a:lnTo>
                <a:lnTo>
                  <a:pt x="2171" y="1372"/>
                </a:lnTo>
                <a:lnTo>
                  <a:pt x="2171" y="730"/>
                </a:lnTo>
                <a:lnTo>
                  <a:pt x="2168" y="663"/>
                </a:lnTo>
                <a:lnTo>
                  <a:pt x="2160" y="597"/>
                </a:lnTo>
                <a:lnTo>
                  <a:pt x="2146" y="530"/>
                </a:lnTo>
                <a:lnTo>
                  <a:pt x="2127" y="467"/>
                </a:lnTo>
                <a:lnTo>
                  <a:pt x="2103" y="406"/>
                </a:lnTo>
                <a:lnTo>
                  <a:pt x="2075" y="346"/>
                </a:lnTo>
                <a:lnTo>
                  <a:pt x="2043" y="291"/>
                </a:lnTo>
                <a:lnTo>
                  <a:pt x="2005" y="239"/>
                </a:lnTo>
                <a:lnTo>
                  <a:pt x="1964" y="192"/>
                </a:lnTo>
                <a:lnTo>
                  <a:pt x="1919" y="148"/>
                </a:lnTo>
                <a:lnTo>
                  <a:pt x="1869" y="111"/>
                </a:lnTo>
                <a:lnTo>
                  <a:pt x="1818" y="77"/>
                </a:lnTo>
                <a:lnTo>
                  <a:pt x="1765" y="51"/>
                </a:lnTo>
                <a:lnTo>
                  <a:pt x="1710" y="28"/>
                </a:lnTo>
                <a:lnTo>
                  <a:pt x="1652" y="13"/>
                </a:lnTo>
                <a:lnTo>
                  <a:pt x="1594" y="4"/>
                </a:lnTo>
                <a:lnTo>
                  <a:pt x="1536" y="0"/>
                </a:lnTo>
                <a:lnTo>
                  <a:pt x="635" y="0"/>
                </a:lnTo>
                <a:lnTo>
                  <a:pt x="576" y="4"/>
                </a:lnTo>
                <a:lnTo>
                  <a:pt x="518" y="13"/>
                </a:lnTo>
                <a:lnTo>
                  <a:pt x="462" y="28"/>
                </a:lnTo>
                <a:lnTo>
                  <a:pt x="405" y="51"/>
                </a:lnTo>
                <a:lnTo>
                  <a:pt x="352" y="77"/>
                </a:lnTo>
                <a:lnTo>
                  <a:pt x="301" y="111"/>
                </a:lnTo>
                <a:lnTo>
                  <a:pt x="253" y="148"/>
                </a:lnTo>
                <a:lnTo>
                  <a:pt x="208" y="192"/>
                </a:lnTo>
                <a:lnTo>
                  <a:pt x="165" y="239"/>
                </a:lnTo>
                <a:lnTo>
                  <a:pt x="129" y="291"/>
                </a:lnTo>
                <a:lnTo>
                  <a:pt x="95" y="346"/>
                </a:lnTo>
                <a:lnTo>
                  <a:pt x="67" y="406"/>
                </a:lnTo>
                <a:lnTo>
                  <a:pt x="43" y="467"/>
                </a:lnTo>
                <a:lnTo>
                  <a:pt x="24" y="530"/>
                </a:lnTo>
                <a:lnTo>
                  <a:pt x="12" y="597"/>
                </a:lnTo>
                <a:lnTo>
                  <a:pt x="3" y="663"/>
                </a:lnTo>
                <a:lnTo>
                  <a:pt x="0" y="730"/>
                </a:lnTo>
                <a:lnTo>
                  <a:pt x="0" y="1372"/>
                </a:lnTo>
                <a:lnTo>
                  <a:pt x="3" y="1438"/>
                </a:lnTo>
                <a:lnTo>
                  <a:pt x="12" y="1505"/>
                </a:lnTo>
                <a:lnTo>
                  <a:pt x="24" y="1571"/>
                </a:lnTo>
                <a:lnTo>
                  <a:pt x="43" y="1634"/>
                </a:lnTo>
                <a:lnTo>
                  <a:pt x="67" y="1696"/>
                </a:lnTo>
                <a:lnTo>
                  <a:pt x="95" y="1756"/>
                </a:lnTo>
                <a:lnTo>
                  <a:pt x="129" y="1811"/>
                </a:lnTo>
                <a:lnTo>
                  <a:pt x="165" y="1863"/>
                </a:lnTo>
                <a:lnTo>
                  <a:pt x="208" y="1910"/>
                </a:lnTo>
                <a:lnTo>
                  <a:pt x="253" y="1954"/>
                </a:lnTo>
                <a:lnTo>
                  <a:pt x="301" y="1991"/>
                </a:lnTo>
                <a:lnTo>
                  <a:pt x="352" y="2023"/>
                </a:lnTo>
                <a:lnTo>
                  <a:pt x="405" y="2051"/>
                </a:lnTo>
                <a:lnTo>
                  <a:pt x="462" y="2072"/>
                </a:lnTo>
                <a:lnTo>
                  <a:pt x="518" y="2088"/>
                </a:lnTo>
                <a:lnTo>
                  <a:pt x="576" y="2098"/>
                </a:lnTo>
                <a:lnTo>
                  <a:pt x="635" y="2101"/>
                </a:lnTo>
                <a:close/>
              </a:path>
            </a:pathLst>
          </a:custGeom>
          <a:solidFill>
            <a:srgbClr val="FFFFFF">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6089" name="Rectangle 5"/>
          <p:cNvSpPr/>
          <p:nvPr/>
        </p:nvSpPr>
        <p:spPr>
          <a:xfrm>
            <a:off x="6518275" y="4086225"/>
            <a:ext cx="168275" cy="1062038"/>
          </a:xfrm>
          <a:prstGeom prst="rect">
            <a:avLst/>
          </a:prstGeom>
          <a:solidFill>
            <a:srgbClr val="FFFFFF"/>
          </a:solidFill>
          <a:ln w="6350" cap="flat" cmpd="sng">
            <a:solidFill>
              <a:srgbClr val="000000"/>
            </a:solidFill>
            <a:prstDash val="solid"/>
            <a:miter/>
            <a:headEnd type="none" w="med" len="med"/>
            <a:tailEnd type="none" w="med" len="med"/>
          </a:ln>
        </p:spPr>
        <p:txBody>
          <a:bodyPr/>
          <a:p>
            <a:endParaRPr lang="zh-CN" altLang="en-US" dirty="0">
              <a:latin typeface="Times New Roman" panose="02020603050405020304" pitchFamily="18" charset="0"/>
            </a:endParaRPr>
          </a:p>
        </p:txBody>
      </p:sp>
      <p:sp>
        <p:nvSpPr>
          <p:cNvPr id="46090" name="Rectangle 6"/>
          <p:cNvSpPr/>
          <p:nvPr/>
        </p:nvSpPr>
        <p:spPr>
          <a:xfrm rot="-5400000">
            <a:off x="6216650" y="4524375"/>
            <a:ext cx="746125"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en-US" altLang="zh-CN" sz="1000" dirty="0">
                <a:solidFill>
                  <a:srgbClr val="000000"/>
                </a:solidFill>
                <a:ea typeface="宋体" panose="02010600030101010101" pitchFamily="2" charset="-122"/>
              </a:rPr>
              <a:t>outToServer</a:t>
            </a:r>
            <a:endParaRPr lang="en-US" altLang="zh-CN" sz="2400" dirty="0">
              <a:latin typeface="Comic Sans MS" panose="030F0702030302020204" pitchFamily="66" charset="0"/>
              <a:ea typeface="宋体" panose="02010600030101010101" pitchFamily="2" charset="-122"/>
            </a:endParaRPr>
          </a:p>
        </p:txBody>
      </p:sp>
      <p:sp>
        <p:nvSpPr>
          <p:cNvPr id="46091" name="Line 7"/>
          <p:cNvSpPr/>
          <p:nvPr/>
        </p:nvSpPr>
        <p:spPr>
          <a:xfrm>
            <a:off x="6600825" y="3798888"/>
            <a:ext cx="1588" cy="228600"/>
          </a:xfrm>
          <a:prstGeom prst="line">
            <a:avLst/>
          </a:prstGeom>
          <a:ln w="6350" cap="flat" cmpd="sng">
            <a:solidFill>
              <a:srgbClr val="000000"/>
            </a:solidFill>
            <a:prstDash val="solid"/>
            <a:headEnd type="none" w="med" len="med"/>
            <a:tailEnd type="none" w="med" len="med"/>
          </a:ln>
        </p:spPr>
      </p:sp>
      <p:sp>
        <p:nvSpPr>
          <p:cNvPr id="46092" name="Freeform 8"/>
          <p:cNvSpPr/>
          <p:nvPr/>
        </p:nvSpPr>
        <p:spPr>
          <a:xfrm>
            <a:off x="6572250" y="4016375"/>
            <a:ext cx="60325" cy="69850"/>
          </a:xfrm>
          <a:custGeom>
            <a:avLst/>
            <a:gdLst/>
            <a:ahLst/>
            <a:cxnLst>
              <a:cxn ang="0">
                <a:pos x="2147483646" y="0"/>
              </a:cxn>
              <a:cxn ang="0">
                <a:pos x="2147483646" y="2147483646"/>
              </a:cxn>
              <a:cxn ang="0">
                <a:pos x="0" y="0"/>
              </a:cxn>
              <a:cxn ang="0">
                <a:pos x="2147483646" y="0"/>
              </a:cxn>
            </a:cxnLst>
            <a:pathLst>
              <a:path w="38" h="44">
                <a:moveTo>
                  <a:pt x="38" y="0"/>
                </a:moveTo>
                <a:lnTo>
                  <a:pt x="18" y="44"/>
                </a:lnTo>
                <a:lnTo>
                  <a:pt x="0" y="0"/>
                </a:lnTo>
                <a:lnTo>
                  <a:pt x="38" y="0"/>
                </a:lnTo>
                <a:close/>
              </a:path>
            </a:pathLst>
          </a:custGeom>
          <a:solidFill>
            <a:srgbClr val="000000">
              <a:alpha val="100000"/>
            </a:srgbClr>
          </a:solidFill>
          <a:ln w="9525">
            <a:noFill/>
          </a:ln>
        </p:spPr>
        <p:txBody>
          <a:bodyPr/>
          <a:p>
            <a:endParaRPr lang="zh-CN" altLang="en-US"/>
          </a:p>
        </p:txBody>
      </p:sp>
      <p:sp>
        <p:nvSpPr>
          <p:cNvPr id="46093" name="Line 9"/>
          <p:cNvSpPr/>
          <p:nvPr/>
        </p:nvSpPr>
        <p:spPr>
          <a:xfrm>
            <a:off x="6600825" y="5535613"/>
            <a:ext cx="1588" cy="323850"/>
          </a:xfrm>
          <a:prstGeom prst="line">
            <a:avLst/>
          </a:prstGeom>
          <a:ln w="6350" cap="flat" cmpd="sng">
            <a:solidFill>
              <a:srgbClr val="000000"/>
            </a:solidFill>
            <a:prstDash val="solid"/>
            <a:headEnd type="none" w="med" len="med"/>
            <a:tailEnd type="none" w="med" len="med"/>
          </a:ln>
        </p:spPr>
      </p:sp>
      <p:sp>
        <p:nvSpPr>
          <p:cNvPr id="46094" name="Freeform 10"/>
          <p:cNvSpPr/>
          <p:nvPr/>
        </p:nvSpPr>
        <p:spPr>
          <a:xfrm>
            <a:off x="6572250" y="5851525"/>
            <a:ext cx="60325" cy="69850"/>
          </a:xfrm>
          <a:custGeom>
            <a:avLst/>
            <a:gdLst/>
            <a:ahLst/>
            <a:cxnLst>
              <a:cxn ang="0">
                <a:pos x="2147483646" y="0"/>
              </a:cxn>
              <a:cxn ang="0">
                <a:pos x="2147483646" y="2147483646"/>
              </a:cxn>
              <a:cxn ang="0">
                <a:pos x="0" y="0"/>
              </a:cxn>
              <a:cxn ang="0">
                <a:pos x="2147483646" y="0"/>
              </a:cxn>
            </a:cxnLst>
            <a:pathLst>
              <a:path w="38" h="44">
                <a:moveTo>
                  <a:pt x="38" y="0"/>
                </a:moveTo>
                <a:lnTo>
                  <a:pt x="18" y="44"/>
                </a:lnTo>
                <a:lnTo>
                  <a:pt x="0" y="0"/>
                </a:lnTo>
                <a:lnTo>
                  <a:pt x="38" y="0"/>
                </a:lnTo>
                <a:close/>
              </a:path>
            </a:pathLst>
          </a:custGeom>
          <a:solidFill>
            <a:srgbClr val="000000">
              <a:alpha val="100000"/>
            </a:srgbClr>
          </a:solidFill>
          <a:ln w="9525">
            <a:noFill/>
          </a:ln>
        </p:spPr>
        <p:txBody>
          <a:bodyPr/>
          <a:p>
            <a:endParaRPr lang="zh-CN" altLang="en-US"/>
          </a:p>
        </p:txBody>
      </p:sp>
      <p:sp>
        <p:nvSpPr>
          <p:cNvPr id="46095" name="Rectangle 11"/>
          <p:cNvSpPr/>
          <p:nvPr/>
        </p:nvSpPr>
        <p:spPr>
          <a:xfrm>
            <a:off x="6343650" y="5946775"/>
            <a:ext cx="381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000" dirty="0">
                <a:solidFill>
                  <a:srgbClr val="000000"/>
                </a:solidFill>
                <a:ea typeface="宋体" panose="02010600030101010101" pitchFamily="2" charset="-122"/>
              </a:rPr>
              <a:t>到网络</a:t>
            </a:r>
            <a:endParaRPr lang="zh-CN" altLang="en-US" sz="2400" dirty="0">
              <a:latin typeface="Comic Sans MS" panose="030F0702030302020204" pitchFamily="66" charset="0"/>
              <a:ea typeface="宋体" panose="02010600030101010101" pitchFamily="2" charset="-122"/>
            </a:endParaRPr>
          </a:p>
        </p:txBody>
      </p:sp>
      <p:sp>
        <p:nvSpPr>
          <p:cNvPr id="46096" name="Line 12"/>
          <p:cNvSpPr/>
          <p:nvPr/>
        </p:nvSpPr>
        <p:spPr>
          <a:xfrm flipV="1">
            <a:off x="7273925" y="5594350"/>
            <a:ext cx="1588" cy="327025"/>
          </a:xfrm>
          <a:prstGeom prst="line">
            <a:avLst/>
          </a:prstGeom>
          <a:ln w="6350" cap="flat" cmpd="sng">
            <a:solidFill>
              <a:srgbClr val="000000"/>
            </a:solidFill>
            <a:prstDash val="solid"/>
            <a:headEnd type="none" w="med" len="med"/>
            <a:tailEnd type="none" w="med" len="med"/>
          </a:ln>
        </p:spPr>
      </p:sp>
      <p:sp>
        <p:nvSpPr>
          <p:cNvPr id="46097" name="Freeform 13"/>
          <p:cNvSpPr/>
          <p:nvPr/>
        </p:nvSpPr>
        <p:spPr>
          <a:xfrm>
            <a:off x="7243763" y="5535613"/>
            <a:ext cx="60325" cy="68262"/>
          </a:xfrm>
          <a:custGeom>
            <a:avLst/>
            <a:gdLst/>
            <a:ahLst/>
            <a:cxnLst>
              <a:cxn ang="0">
                <a:pos x="0" y="2147483646"/>
              </a:cxn>
              <a:cxn ang="0">
                <a:pos x="2147483646" y="0"/>
              </a:cxn>
              <a:cxn ang="0">
                <a:pos x="2147483646" y="2147483646"/>
              </a:cxn>
              <a:cxn ang="0">
                <a:pos x="0" y="2147483646"/>
              </a:cxn>
            </a:cxnLst>
            <a:pathLst>
              <a:path w="38" h="43">
                <a:moveTo>
                  <a:pt x="0" y="43"/>
                </a:moveTo>
                <a:lnTo>
                  <a:pt x="19" y="0"/>
                </a:lnTo>
                <a:lnTo>
                  <a:pt x="38" y="43"/>
                </a:lnTo>
                <a:lnTo>
                  <a:pt x="0" y="43"/>
                </a:lnTo>
                <a:close/>
              </a:path>
            </a:pathLst>
          </a:custGeom>
          <a:solidFill>
            <a:srgbClr val="000000">
              <a:alpha val="100000"/>
            </a:srgbClr>
          </a:solidFill>
          <a:ln w="9525">
            <a:noFill/>
          </a:ln>
        </p:spPr>
        <p:txBody>
          <a:bodyPr/>
          <a:p>
            <a:endParaRPr lang="zh-CN" altLang="en-US"/>
          </a:p>
        </p:txBody>
      </p:sp>
      <p:sp>
        <p:nvSpPr>
          <p:cNvPr id="46098" name="Rectangle 14"/>
          <p:cNvSpPr/>
          <p:nvPr/>
        </p:nvSpPr>
        <p:spPr>
          <a:xfrm>
            <a:off x="7035800" y="5946775"/>
            <a:ext cx="508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000" dirty="0">
                <a:solidFill>
                  <a:srgbClr val="000000"/>
                </a:solidFill>
                <a:ea typeface="宋体" panose="02010600030101010101" pitchFamily="2" charset="-122"/>
              </a:rPr>
              <a:t>来自网络</a:t>
            </a:r>
            <a:endParaRPr lang="zh-CN" altLang="en-US" sz="2400" dirty="0">
              <a:latin typeface="Comic Sans MS" panose="030F0702030302020204" pitchFamily="66" charset="0"/>
              <a:ea typeface="宋体" panose="02010600030101010101" pitchFamily="2" charset="-122"/>
            </a:endParaRPr>
          </a:p>
        </p:txBody>
      </p:sp>
      <p:sp>
        <p:nvSpPr>
          <p:cNvPr id="46099" name="Rectangle 15"/>
          <p:cNvSpPr/>
          <p:nvPr/>
        </p:nvSpPr>
        <p:spPr>
          <a:xfrm>
            <a:off x="7189788" y="4086225"/>
            <a:ext cx="168275" cy="1062038"/>
          </a:xfrm>
          <a:prstGeom prst="rect">
            <a:avLst/>
          </a:prstGeom>
          <a:solidFill>
            <a:srgbClr val="FFFFFF"/>
          </a:solidFill>
          <a:ln w="6350" cap="flat" cmpd="sng">
            <a:solidFill>
              <a:srgbClr val="000000"/>
            </a:solidFill>
            <a:prstDash val="solid"/>
            <a:miter/>
            <a:headEnd type="none" w="med" len="med"/>
            <a:tailEnd type="none" w="med" len="med"/>
          </a:ln>
        </p:spPr>
        <p:txBody>
          <a:bodyPr/>
          <a:p>
            <a:endParaRPr lang="zh-CN" altLang="en-US" dirty="0">
              <a:latin typeface="Times New Roman" panose="02020603050405020304" pitchFamily="18" charset="0"/>
            </a:endParaRPr>
          </a:p>
        </p:txBody>
      </p:sp>
      <p:sp>
        <p:nvSpPr>
          <p:cNvPr id="46100" name="Rectangle 16"/>
          <p:cNvSpPr/>
          <p:nvPr/>
        </p:nvSpPr>
        <p:spPr>
          <a:xfrm rot="-5400000">
            <a:off x="6851650" y="4518025"/>
            <a:ext cx="822325"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en-US" altLang="zh-CN" sz="1000" dirty="0">
                <a:solidFill>
                  <a:srgbClr val="000000"/>
                </a:solidFill>
                <a:ea typeface="宋体" panose="02010600030101010101" pitchFamily="2" charset="-122"/>
              </a:rPr>
              <a:t>inFromServer</a:t>
            </a:r>
            <a:endParaRPr lang="en-US" altLang="zh-CN" sz="2400" dirty="0">
              <a:latin typeface="Comic Sans MS" panose="030F0702030302020204" pitchFamily="66" charset="0"/>
              <a:ea typeface="宋体" panose="02010600030101010101" pitchFamily="2" charset="-122"/>
            </a:endParaRPr>
          </a:p>
        </p:txBody>
      </p:sp>
      <p:sp>
        <p:nvSpPr>
          <p:cNvPr id="46101" name="Line 17"/>
          <p:cNvSpPr/>
          <p:nvPr/>
        </p:nvSpPr>
        <p:spPr>
          <a:xfrm flipV="1">
            <a:off x="7273925" y="3906838"/>
            <a:ext cx="1588" cy="179387"/>
          </a:xfrm>
          <a:prstGeom prst="line">
            <a:avLst/>
          </a:prstGeom>
          <a:ln w="6350" cap="flat" cmpd="sng">
            <a:solidFill>
              <a:srgbClr val="000000"/>
            </a:solidFill>
            <a:prstDash val="solid"/>
            <a:headEnd type="none" w="med" len="med"/>
            <a:tailEnd type="none" w="med" len="med"/>
          </a:ln>
        </p:spPr>
      </p:sp>
      <p:sp>
        <p:nvSpPr>
          <p:cNvPr id="46102" name="Freeform 18"/>
          <p:cNvSpPr/>
          <p:nvPr/>
        </p:nvSpPr>
        <p:spPr>
          <a:xfrm>
            <a:off x="7243763" y="3844925"/>
            <a:ext cx="60325" cy="68263"/>
          </a:xfrm>
          <a:custGeom>
            <a:avLst/>
            <a:gdLst/>
            <a:ahLst/>
            <a:cxnLst>
              <a:cxn ang="0">
                <a:pos x="0" y="2147483646"/>
              </a:cxn>
              <a:cxn ang="0">
                <a:pos x="2147483646" y="0"/>
              </a:cxn>
              <a:cxn ang="0">
                <a:pos x="2147483646" y="2147483646"/>
              </a:cxn>
              <a:cxn ang="0">
                <a:pos x="0" y="2147483646"/>
              </a:cxn>
            </a:cxnLst>
            <a:pathLst>
              <a:path w="38" h="43">
                <a:moveTo>
                  <a:pt x="0" y="43"/>
                </a:moveTo>
                <a:lnTo>
                  <a:pt x="19" y="0"/>
                </a:lnTo>
                <a:lnTo>
                  <a:pt x="38" y="43"/>
                </a:lnTo>
                <a:lnTo>
                  <a:pt x="0" y="43"/>
                </a:lnTo>
                <a:close/>
              </a:path>
            </a:pathLst>
          </a:custGeom>
          <a:solidFill>
            <a:srgbClr val="000000">
              <a:alpha val="100000"/>
            </a:srgbClr>
          </a:solidFill>
          <a:ln w="9525">
            <a:noFill/>
          </a:ln>
        </p:spPr>
        <p:txBody>
          <a:bodyPr/>
          <a:p>
            <a:endParaRPr lang="zh-CN" altLang="en-US"/>
          </a:p>
        </p:txBody>
      </p:sp>
      <p:sp>
        <p:nvSpPr>
          <p:cNvPr id="46103" name="Rectangle 19"/>
          <p:cNvSpPr/>
          <p:nvPr/>
        </p:nvSpPr>
        <p:spPr>
          <a:xfrm>
            <a:off x="6518275" y="1963738"/>
            <a:ext cx="168275" cy="1062037"/>
          </a:xfrm>
          <a:prstGeom prst="rect">
            <a:avLst/>
          </a:prstGeom>
          <a:solidFill>
            <a:srgbClr val="FFFFFF"/>
          </a:solidFill>
          <a:ln w="6350" cap="flat" cmpd="sng">
            <a:solidFill>
              <a:srgbClr val="000000"/>
            </a:solidFill>
            <a:prstDash val="solid"/>
            <a:miter/>
            <a:headEnd type="none" w="med" len="med"/>
            <a:tailEnd type="none" w="med" len="med"/>
          </a:ln>
        </p:spPr>
        <p:txBody>
          <a:bodyPr/>
          <a:p>
            <a:endParaRPr lang="zh-CN" altLang="en-US" dirty="0">
              <a:latin typeface="Times New Roman" panose="02020603050405020304" pitchFamily="18" charset="0"/>
            </a:endParaRPr>
          </a:p>
        </p:txBody>
      </p:sp>
      <p:sp>
        <p:nvSpPr>
          <p:cNvPr id="46104" name="Rectangle 20"/>
          <p:cNvSpPr/>
          <p:nvPr/>
        </p:nvSpPr>
        <p:spPr>
          <a:xfrm rot="-5400000">
            <a:off x="6234113" y="2393950"/>
            <a:ext cx="7112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en-US" altLang="zh-CN" sz="1000" dirty="0">
                <a:solidFill>
                  <a:srgbClr val="000000"/>
                </a:solidFill>
                <a:ea typeface="宋体" panose="02010600030101010101" pitchFamily="2" charset="-122"/>
              </a:rPr>
              <a:t>inFromUser</a:t>
            </a:r>
            <a:endParaRPr lang="en-US" altLang="zh-CN" sz="2400" dirty="0">
              <a:latin typeface="Comic Sans MS" panose="030F0702030302020204" pitchFamily="66" charset="0"/>
              <a:ea typeface="宋体" panose="02010600030101010101" pitchFamily="2" charset="-122"/>
            </a:endParaRPr>
          </a:p>
        </p:txBody>
      </p:sp>
      <p:sp>
        <p:nvSpPr>
          <p:cNvPr id="46105" name="Line 21"/>
          <p:cNvSpPr/>
          <p:nvPr/>
        </p:nvSpPr>
        <p:spPr>
          <a:xfrm>
            <a:off x="6600825" y="1577975"/>
            <a:ext cx="1588" cy="327025"/>
          </a:xfrm>
          <a:prstGeom prst="line">
            <a:avLst/>
          </a:prstGeom>
          <a:ln w="6350" cap="flat" cmpd="sng">
            <a:solidFill>
              <a:srgbClr val="000000"/>
            </a:solidFill>
            <a:prstDash val="solid"/>
            <a:headEnd type="none" w="med" len="med"/>
            <a:tailEnd type="none" w="med" len="med"/>
          </a:ln>
        </p:spPr>
      </p:sp>
      <p:sp>
        <p:nvSpPr>
          <p:cNvPr id="46106" name="Freeform 22"/>
          <p:cNvSpPr/>
          <p:nvPr/>
        </p:nvSpPr>
        <p:spPr>
          <a:xfrm>
            <a:off x="6572250" y="1893888"/>
            <a:ext cx="60325" cy="69850"/>
          </a:xfrm>
          <a:custGeom>
            <a:avLst/>
            <a:gdLst/>
            <a:ahLst/>
            <a:cxnLst>
              <a:cxn ang="0">
                <a:pos x="2147483646" y="0"/>
              </a:cxn>
              <a:cxn ang="0">
                <a:pos x="2147483646" y="2147483646"/>
              </a:cxn>
              <a:cxn ang="0">
                <a:pos x="0" y="0"/>
              </a:cxn>
              <a:cxn ang="0">
                <a:pos x="2147483646" y="0"/>
              </a:cxn>
            </a:cxnLst>
            <a:pathLst>
              <a:path w="38" h="44">
                <a:moveTo>
                  <a:pt x="38" y="0"/>
                </a:moveTo>
                <a:lnTo>
                  <a:pt x="18" y="44"/>
                </a:lnTo>
                <a:lnTo>
                  <a:pt x="0" y="0"/>
                </a:lnTo>
                <a:lnTo>
                  <a:pt x="38" y="0"/>
                </a:lnTo>
                <a:close/>
              </a:path>
            </a:pathLst>
          </a:custGeom>
          <a:solidFill>
            <a:srgbClr val="000000">
              <a:alpha val="100000"/>
            </a:srgbClr>
          </a:solidFill>
          <a:ln w="9525">
            <a:noFill/>
          </a:ln>
        </p:spPr>
        <p:txBody>
          <a:bodyPr/>
          <a:p>
            <a:endParaRPr lang="zh-CN" altLang="en-US"/>
          </a:p>
        </p:txBody>
      </p:sp>
      <p:sp>
        <p:nvSpPr>
          <p:cNvPr id="46107" name="Rectangle 23"/>
          <p:cNvSpPr/>
          <p:nvPr/>
        </p:nvSpPr>
        <p:spPr>
          <a:xfrm>
            <a:off x="6356350" y="1401763"/>
            <a:ext cx="254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000" dirty="0">
                <a:solidFill>
                  <a:srgbClr val="000000"/>
                </a:solidFill>
                <a:ea typeface="宋体" panose="02010600030101010101" pitchFamily="2" charset="-122"/>
              </a:rPr>
              <a:t>键盘</a:t>
            </a:r>
            <a:endParaRPr lang="zh-CN" altLang="en-US" sz="2400" dirty="0">
              <a:latin typeface="Comic Sans MS" panose="030F0702030302020204" pitchFamily="66" charset="0"/>
              <a:ea typeface="宋体" panose="02010600030101010101" pitchFamily="2" charset="-122"/>
            </a:endParaRPr>
          </a:p>
        </p:txBody>
      </p:sp>
      <p:sp>
        <p:nvSpPr>
          <p:cNvPr id="46108" name="Line 24"/>
          <p:cNvSpPr/>
          <p:nvPr/>
        </p:nvSpPr>
        <p:spPr>
          <a:xfrm flipV="1">
            <a:off x="7273925" y="1639888"/>
            <a:ext cx="1588" cy="1000125"/>
          </a:xfrm>
          <a:prstGeom prst="line">
            <a:avLst/>
          </a:prstGeom>
          <a:ln w="6350" cap="flat" cmpd="sng">
            <a:solidFill>
              <a:srgbClr val="000000"/>
            </a:solidFill>
            <a:prstDash val="solid"/>
            <a:headEnd type="none" w="med" len="med"/>
            <a:tailEnd type="none" w="med" len="med"/>
          </a:ln>
        </p:spPr>
      </p:sp>
      <p:sp>
        <p:nvSpPr>
          <p:cNvPr id="46109" name="Freeform 25"/>
          <p:cNvSpPr/>
          <p:nvPr/>
        </p:nvSpPr>
        <p:spPr>
          <a:xfrm>
            <a:off x="7243763" y="1577975"/>
            <a:ext cx="60325" cy="69850"/>
          </a:xfrm>
          <a:custGeom>
            <a:avLst/>
            <a:gdLst/>
            <a:ahLst/>
            <a:cxnLst>
              <a:cxn ang="0">
                <a:pos x="0" y="2147483646"/>
              </a:cxn>
              <a:cxn ang="0">
                <a:pos x="2147483646" y="0"/>
              </a:cxn>
              <a:cxn ang="0">
                <a:pos x="2147483646" y="2147483646"/>
              </a:cxn>
              <a:cxn ang="0">
                <a:pos x="0" y="2147483646"/>
              </a:cxn>
            </a:cxnLst>
            <a:pathLst>
              <a:path w="38" h="44">
                <a:moveTo>
                  <a:pt x="0" y="44"/>
                </a:moveTo>
                <a:lnTo>
                  <a:pt x="19" y="0"/>
                </a:lnTo>
                <a:lnTo>
                  <a:pt x="38" y="44"/>
                </a:lnTo>
                <a:lnTo>
                  <a:pt x="0" y="44"/>
                </a:lnTo>
                <a:close/>
              </a:path>
            </a:pathLst>
          </a:custGeom>
          <a:solidFill>
            <a:srgbClr val="000000">
              <a:alpha val="100000"/>
            </a:srgbClr>
          </a:solidFill>
          <a:ln w="9525">
            <a:noFill/>
          </a:ln>
        </p:spPr>
        <p:txBody>
          <a:bodyPr/>
          <a:p>
            <a:endParaRPr lang="zh-CN" altLang="en-US"/>
          </a:p>
        </p:txBody>
      </p:sp>
      <p:sp>
        <p:nvSpPr>
          <p:cNvPr id="46110" name="Rectangle 26"/>
          <p:cNvSpPr/>
          <p:nvPr/>
        </p:nvSpPr>
        <p:spPr>
          <a:xfrm>
            <a:off x="7086600" y="1401763"/>
            <a:ext cx="381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000" dirty="0">
                <a:solidFill>
                  <a:srgbClr val="000000"/>
                </a:solidFill>
                <a:ea typeface="宋体" panose="02010600030101010101" pitchFamily="2" charset="-122"/>
              </a:rPr>
              <a:t>显示器</a:t>
            </a:r>
            <a:endParaRPr lang="zh-CN" altLang="en-US" sz="2400" dirty="0">
              <a:latin typeface="Comic Sans MS" panose="030F0702030302020204" pitchFamily="66" charset="0"/>
              <a:ea typeface="宋体" panose="02010600030101010101" pitchFamily="2" charset="-122"/>
            </a:endParaRPr>
          </a:p>
        </p:txBody>
      </p:sp>
      <p:sp>
        <p:nvSpPr>
          <p:cNvPr id="46111" name="Rectangle 27"/>
          <p:cNvSpPr/>
          <p:nvPr/>
        </p:nvSpPr>
        <p:spPr>
          <a:xfrm>
            <a:off x="5465763" y="3457575"/>
            <a:ext cx="676275" cy="304800"/>
          </a:xfrm>
          <a:prstGeom prst="rect">
            <a:avLst/>
          </a:prstGeom>
          <a:noFill/>
          <a:ln w="9525">
            <a:noFill/>
          </a:ln>
        </p:spPr>
        <p:txBody>
          <a:bodyPr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2000" dirty="0">
                <a:solidFill>
                  <a:srgbClr val="000000"/>
                </a:solidFill>
                <a:ea typeface="宋体" panose="02010600030101010101" pitchFamily="2" charset="-122"/>
              </a:rPr>
              <a:t>进程</a:t>
            </a:r>
            <a:endParaRPr lang="zh-CN" altLang="en-US" sz="2400" dirty="0">
              <a:latin typeface="Comic Sans MS" panose="030F0702030302020204" pitchFamily="66" charset="0"/>
              <a:ea typeface="宋体" panose="02010600030101010101" pitchFamily="2" charset="-122"/>
            </a:endParaRPr>
          </a:p>
        </p:txBody>
      </p:sp>
      <p:sp>
        <p:nvSpPr>
          <p:cNvPr id="46112" name="Rectangle 28"/>
          <p:cNvSpPr/>
          <p:nvPr/>
        </p:nvSpPr>
        <p:spPr>
          <a:xfrm>
            <a:off x="6264275" y="5148263"/>
            <a:ext cx="1344613" cy="387350"/>
          </a:xfrm>
          <a:prstGeom prst="rect">
            <a:avLst/>
          </a:prstGeom>
          <a:solidFill>
            <a:srgbClr val="E6E6E6"/>
          </a:solidFill>
          <a:ln w="6350" cap="flat" cmpd="sng">
            <a:solidFill>
              <a:srgbClr val="000000"/>
            </a:solidFill>
            <a:prstDash val="solid"/>
            <a:miter/>
            <a:headEnd type="none" w="med" len="med"/>
            <a:tailEnd type="none" w="med" len="med"/>
          </a:ln>
        </p:spPr>
        <p:txBody>
          <a:bodyPr/>
          <a:p>
            <a:endParaRPr lang="zh-CN" altLang="en-US" dirty="0">
              <a:latin typeface="Times New Roman" panose="02020603050405020304" pitchFamily="18" charset="0"/>
            </a:endParaRPr>
          </a:p>
        </p:txBody>
      </p:sp>
      <p:sp>
        <p:nvSpPr>
          <p:cNvPr id="46113" name="Rectangle 29"/>
          <p:cNvSpPr/>
          <p:nvPr/>
        </p:nvSpPr>
        <p:spPr>
          <a:xfrm>
            <a:off x="6632575" y="5260975"/>
            <a:ext cx="896938" cy="182563"/>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20000"/>
              </a:spcBef>
              <a:buClrTx/>
              <a:buFontTx/>
              <a:buNone/>
            </a:pPr>
            <a:r>
              <a:rPr lang="en-US" altLang="zh-CN" sz="1200" dirty="0">
                <a:solidFill>
                  <a:schemeClr val="tx2"/>
                </a:solidFill>
                <a:ea typeface="宋体" panose="02010600030101010101" pitchFamily="2" charset="-122"/>
              </a:rPr>
              <a:t>clientSocket</a:t>
            </a:r>
            <a:endParaRPr lang="en-US" altLang="zh-CN" sz="1200" dirty="0">
              <a:solidFill>
                <a:schemeClr val="tx2"/>
              </a:solidFill>
              <a:latin typeface="Comic Sans MS" panose="030F0702030302020204" pitchFamily="66" charset="0"/>
              <a:ea typeface="宋体" panose="02010600030101010101" pitchFamily="2" charset="-122"/>
            </a:endParaRPr>
          </a:p>
        </p:txBody>
      </p:sp>
      <p:sp>
        <p:nvSpPr>
          <p:cNvPr id="246814" name="Rectangle 30"/>
          <p:cNvSpPr/>
          <p:nvPr/>
        </p:nvSpPr>
        <p:spPr>
          <a:xfrm>
            <a:off x="7499350" y="4437063"/>
            <a:ext cx="690563" cy="274637"/>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800" dirty="0">
                <a:solidFill>
                  <a:srgbClr val="FF3300"/>
                </a:solidFill>
                <a:ea typeface="宋体" panose="02010600030101010101" pitchFamily="2" charset="-122"/>
              </a:rPr>
              <a:t>输入流</a:t>
            </a:r>
            <a:endParaRPr lang="zh-CN" altLang="en-US" sz="1800" dirty="0">
              <a:solidFill>
                <a:srgbClr val="FF3300"/>
              </a:solidFill>
              <a:latin typeface="Comic Sans MS" panose="030F0702030302020204" pitchFamily="66" charset="0"/>
              <a:ea typeface="宋体" panose="02010600030101010101" pitchFamily="2" charset="-122"/>
            </a:endParaRPr>
          </a:p>
        </p:txBody>
      </p:sp>
      <p:sp>
        <p:nvSpPr>
          <p:cNvPr id="46115" name="Rectangle 31"/>
          <p:cNvSpPr/>
          <p:nvPr/>
        </p:nvSpPr>
        <p:spPr>
          <a:xfrm>
            <a:off x="7439025" y="4567238"/>
            <a:ext cx="1588" cy="365125"/>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endParaRPr lang="en-US" altLang="zh-CN" sz="2400" dirty="0">
              <a:latin typeface="Comic Sans MS" panose="030F0702030302020204" pitchFamily="66" charset="0"/>
              <a:ea typeface="宋体" panose="02010600030101010101" pitchFamily="2" charset="-122"/>
            </a:endParaRPr>
          </a:p>
        </p:txBody>
      </p:sp>
      <p:sp>
        <p:nvSpPr>
          <p:cNvPr id="246816" name="Rectangle 32"/>
          <p:cNvSpPr/>
          <p:nvPr/>
        </p:nvSpPr>
        <p:spPr>
          <a:xfrm>
            <a:off x="5705475" y="2339975"/>
            <a:ext cx="690563" cy="274638"/>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800" dirty="0">
                <a:solidFill>
                  <a:srgbClr val="FF3300"/>
                </a:solidFill>
                <a:latin typeface="Comic Sans MS" panose="030F0702030302020204" pitchFamily="66" charset="0"/>
                <a:ea typeface="宋体" panose="02010600030101010101" pitchFamily="2" charset="-122"/>
              </a:rPr>
              <a:t>输入流</a:t>
            </a:r>
            <a:endParaRPr lang="en-US" altLang="zh-CN" sz="1800" dirty="0">
              <a:solidFill>
                <a:srgbClr val="FF3300"/>
              </a:solidFill>
              <a:latin typeface="Comic Sans MS" panose="030F0702030302020204" pitchFamily="66" charset="0"/>
              <a:ea typeface="宋体" panose="02010600030101010101" pitchFamily="2" charset="-122"/>
            </a:endParaRPr>
          </a:p>
        </p:txBody>
      </p:sp>
      <p:sp>
        <p:nvSpPr>
          <p:cNvPr id="246818" name="Rectangle 34"/>
          <p:cNvSpPr/>
          <p:nvPr/>
        </p:nvSpPr>
        <p:spPr>
          <a:xfrm>
            <a:off x="5702300" y="4411663"/>
            <a:ext cx="690563" cy="274637"/>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800" dirty="0">
                <a:solidFill>
                  <a:srgbClr val="FF3300"/>
                </a:solidFill>
                <a:ea typeface="宋体" panose="02010600030101010101" pitchFamily="2" charset="-122"/>
              </a:rPr>
              <a:t>输出流</a:t>
            </a:r>
            <a:endParaRPr lang="zh-CN" altLang="en-US" sz="1800" dirty="0">
              <a:solidFill>
                <a:srgbClr val="FF3300"/>
              </a:solidFill>
              <a:latin typeface="Comic Sans MS" panose="030F0702030302020204" pitchFamily="66" charset="0"/>
              <a:ea typeface="宋体" panose="02010600030101010101" pitchFamily="2" charset="-122"/>
            </a:endParaRPr>
          </a:p>
        </p:txBody>
      </p:sp>
      <p:sp>
        <p:nvSpPr>
          <p:cNvPr id="46118" name="Rectangle 35"/>
          <p:cNvSpPr/>
          <p:nvPr/>
        </p:nvSpPr>
        <p:spPr>
          <a:xfrm>
            <a:off x="6094413" y="4567238"/>
            <a:ext cx="1587" cy="365125"/>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endParaRPr lang="en-US" altLang="zh-CN" sz="2400" dirty="0">
              <a:latin typeface="Comic Sans MS" panose="030F0702030302020204" pitchFamily="66" charset="0"/>
              <a:ea typeface="宋体" panose="02010600030101010101" pitchFamily="2" charset="-122"/>
            </a:endParaRPr>
          </a:p>
        </p:txBody>
      </p:sp>
      <p:sp>
        <p:nvSpPr>
          <p:cNvPr id="46119" name="Rectangle 36"/>
          <p:cNvSpPr/>
          <p:nvPr/>
        </p:nvSpPr>
        <p:spPr>
          <a:xfrm>
            <a:off x="7700963" y="5462588"/>
            <a:ext cx="254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en-US" altLang="zh-CN" sz="1000" dirty="0">
                <a:solidFill>
                  <a:srgbClr val="FF3300"/>
                </a:solidFill>
                <a:ea typeface="宋体" panose="02010600030101010101" pitchFamily="2" charset="-122"/>
              </a:rPr>
              <a:t>TCP</a:t>
            </a:r>
            <a:endParaRPr lang="en-US" altLang="zh-CN" sz="2400" dirty="0">
              <a:solidFill>
                <a:srgbClr val="FF3300"/>
              </a:solidFill>
              <a:latin typeface="Comic Sans MS" panose="030F0702030302020204" pitchFamily="66" charset="0"/>
              <a:ea typeface="宋体" panose="02010600030101010101" pitchFamily="2" charset="-122"/>
            </a:endParaRPr>
          </a:p>
        </p:txBody>
      </p:sp>
      <p:sp>
        <p:nvSpPr>
          <p:cNvPr id="46120" name="Rectangle 37"/>
          <p:cNvSpPr/>
          <p:nvPr/>
        </p:nvSpPr>
        <p:spPr>
          <a:xfrm>
            <a:off x="7651750" y="5616575"/>
            <a:ext cx="381000" cy="152400"/>
          </a:xfrm>
          <a:prstGeom prst="rect">
            <a:avLst/>
          </a:prstGeom>
          <a:noFill/>
          <a:ln w="9525">
            <a:noFill/>
          </a:ln>
        </p:spPr>
        <p:txBody>
          <a:bodyPr wrap="none" lIns="0" tIns="0" rIns="0" bIns="0">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1000" dirty="0">
                <a:solidFill>
                  <a:srgbClr val="FF3300"/>
                </a:solidFill>
                <a:ea typeface="宋体" panose="02010600030101010101" pitchFamily="2" charset="-122"/>
              </a:rPr>
              <a:t>套接字</a:t>
            </a:r>
            <a:endParaRPr lang="zh-CN" altLang="en-US" sz="2400" dirty="0">
              <a:solidFill>
                <a:srgbClr val="FF3300"/>
              </a:solidFill>
              <a:latin typeface="Comic Sans MS" panose="030F0702030302020204" pitchFamily="66" charset="0"/>
              <a:ea typeface="宋体" panose="02010600030101010101" pitchFamily="2" charset="-122"/>
            </a:endParaRPr>
          </a:p>
        </p:txBody>
      </p:sp>
      <p:sp>
        <p:nvSpPr>
          <p:cNvPr id="46121" name="AutoShape 39"/>
          <p:cNvSpPr/>
          <p:nvPr/>
        </p:nvSpPr>
        <p:spPr>
          <a:xfrm>
            <a:off x="4648200" y="5880100"/>
            <a:ext cx="1422400" cy="660400"/>
          </a:xfrm>
          <a:prstGeom prst="wedgeRoundRectCallout">
            <a:avLst>
              <a:gd name="adj1" fmla="val 75000"/>
              <a:gd name="adj2" fmla="val -126204"/>
              <a:gd name="adj3" fmla="val 16667"/>
            </a:avLst>
          </a:prstGeom>
          <a:noFill/>
          <a:ln w="9525">
            <a:noFill/>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20000"/>
              </a:spcBef>
              <a:buClrTx/>
              <a:buFontTx/>
              <a:buNone/>
            </a:pPr>
            <a:endParaRPr lang="zh-CN" altLang="en-US" sz="2400" dirty="0">
              <a:latin typeface="Comic Sans MS" panose="030F0702030302020204" pitchFamily="66" charset="0"/>
              <a:ea typeface="宋体" panose="02010600030101010101" pitchFamily="2" charset="-122"/>
            </a:endParaRPr>
          </a:p>
        </p:txBody>
      </p:sp>
      <p:sp>
        <p:nvSpPr>
          <p:cNvPr id="246825" name="AutoShape 41"/>
          <p:cNvSpPr/>
          <p:nvPr/>
        </p:nvSpPr>
        <p:spPr>
          <a:xfrm>
            <a:off x="4711700" y="5930900"/>
            <a:ext cx="1460500" cy="520700"/>
          </a:xfrm>
          <a:prstGeom prst="wedgeRoundRectCallout">
            <a:avLst>
              <a:gd name="adj1" fmla="val 85106"/>
              <a:gd name="adj2" fmla="val -168903"/>
              <a:gd name="adj3" fmla="val 16667"/>
            </a:avLst>
          </a:prstGeom>
          <a:solidFill>
            <a:srgbClr val="00CC99"/>
          </a:solidFill>
          <a:ln w="9525">
            <a:noFill/>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20000"/>
              </a:spcBef>
              <a:buClrTx/>
              <a:buFontTx/>
              <a:buNone/>
            </a:pPr>
            <a:r>
              <a:rPr lang="zh-CN" altLang="en-US" sz="2400" dirty="0">
                <a:solidFill>
                  <a:srgbClr val="FF3300"/>
                </a:solidFill>
                <a:latin typeface="Comic Sans MS" panose="030F0702030302020204" pitchFamily="66" charset="0"/>
                <a:ea typeface="华文中宋" panose="02010600040101010101" pitchFamily="2" charset="-122"/>
              </a:rPr>
              <a:t>套接字</a:t>
            </a:r>
            <a:endParaRPr lang="zh-CN" altLang="en-US" sz="2400" dirty="0">
              <a:solidFill>
                <a:srgbClr val="FF3300"/>
              </a:solidFill>
              <a:latin typeface="Comic Sans MS" panose="030F0702030302020204" pitchFamily="66" charset="0"/>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115">
                                            <p:txEl>
                                              <p:charRg st="0" end="19"/>
                                            </p:txEl>
                                          </p:spTgt>
                                        </p:tgtEl>
                                        <p:attrNameLst>
                                          <p:attrName>style.visibility</p:attrName>
                                        </p:attrNameLst>
                                      </p:cBhvr>
                                      <p:to>
                                        <p:strVal val="visible"/>
                                      </p:to>
                                    </p:set>
                                    <p:animEffect transition="in" filter="blinds(horizontal)">
                                      <p:cBhvr>
                                        <p:cTn id="7" dur="500"/>
                                        <p:tgtEl>
                                          <p:spTgt spid="90115">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15">
                                            <p:txEl>
                                              <p:charRg st="19" end="38"/>
                                            </p:txEl>
                                          </p:spTgt>
                                        </p:tgtEl>
                                        <p:attrNameLst>
                                          <p:attrName>style.visibility</p:attrName>
                                        </p:attrNameLst>
                                      </p:cBhvr>
                                      <p:to>
                                        <p:strVal val="visible"/>
                                      </p:to>
                                    </p:set>
                                    <p:animEffect transition="in" filter="blinds(horizontal)">
                                      <p:cBhvr>
                                        <p:cTn id="12" dur="500"/>
                                        <p:tgtEl>
                                          <p:spTgt spid="90115">
                                            <p:txEl>
                                              <p:charRg st="19" end="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6825"/>
                                        </p:tgtEl>
                                        <p:attrNameLst>
                                          <p:attrName>style.visibility</p:attrName>
                                        </p:attrNameLst>
                                      </p:cBhvr>
                                      <p:to>
                                        <p:strVal val="visible"/>
                                      </p:to>
                                    </p:set>
                                    <p:animEffect transition="in" filter="dissolve">
                                      <p:cBhvr>
                                        <p:cTn id="17" dur="500"/>
                                        <p:tgtEl>
                                          <p:spTgt spid="24682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0115">
                                            <p:txEl>
                                              <p:charRg st="38" end="59"/>
                                            </p:txEl>
                                          </p:spTgt>
                                        </p:tgtEl>
                                        <p:attrNameLst>
                                          <p:attrName>style.visibility</p:attrName>
                                        </p:attrNameLst>
                                      </p:cBhvr>
                                      <p:to>
                                        <p:strVal val="visible"/>
                                      </p:to>
                                    </p:set>
                                    <p:animEffect transition="in" filter="blinds(horizontal)">
                                      <p:cBhvr>
                                        <p:cTn id="22" dur="500"/>
                                        <p:tgtEl>
                                          <p:spTgt spid="90115">
                                            <p:txEl>
                                              <p:charRg st="38" end="5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6816"/>
                                        </p:tgtEl>
                                        <p:attrNameLst>
                                          <p:attrName>style.visibility</p:attrName>
                                        </p:attrNameLst>
                                      </p:cBhvr>
                                      <p:to>
                                        <p:strVal val="visible"/>
                                      </p:to>
                                    </p:set>
                                    <p:animEffect transition="in" filter="dissolve">
                                      <p:cBhvr>
                                        <p:cTn id="27" dur="500"/>
                                        <p:tgtEl>
                                          <p:spTgt spid="2468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0115">
                                            <p:txEl>
                                              <p:charRg st="59" end="91"/>
                                            </p:txEl>
                                          </p:spTgt>
                                        </p:tgtEl>
                                        <p:attrNameLst>
                                          <p:attrName>style.visibility</p:attrName>
                                        </p:attrNameLst>
                                      </p:cBhvr>
                                      <p:to>
                                        <p:strVal val="visible"/>
                                      </p:to>
                                    </p:set>
                                    <p:animEffect transition="in" filter="blinds(horizontal)">
                                      <p:cBhvr>
                                        <p:cTn id="32" dur="500"/>
                                        <p:tgtEl>
                                          <p:spTgt spid="90115">
                                            <p:txEl>
                                              <p:charRg st="59" end="9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6814"/>
                                        </p:tgtEl>
                                        <p:attrNameLst>
                                          <p:attrName>style.visibility</p:attrName>
                                        </p:attrNameLst>
                                      </p:cBhvr>
                                      <p:to>
                                        <p:strVal val="visible"/>
                                      </p:to>
                                    </p:set>
                                    <p:animEffect transition="in" filter="blinds(horizontal)">
                                      <p:cBhvr>
                                        <p:cTn id="37" dur="500"/>
                                        <p:tgtEl>
                                          <p:spTgt spid="2468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0115">
                                            <p:txEl>
                                              <p:charRg st="91" end="127"/>
                                            </p:txEl>
                                          </p:spTgt>
                                        </p:tgtEl>
                                        <p:attrNameLst>
                                          <p:attrName>style.visibility</p:attrName>
                                        </p:attrNameLst>
                                      </p:cBhvr>
                                      <p:to>
                                        <p:strVal val="visible"/>
                                      </p:to>
                                    </p:set>
                                    <p:animEffect transition="in" filter="blinds(horizontal)">
                                      <p:cBhvr>
                                        <p:cTn id="42" dur="500"/>
                                        <p:tgtEl>
                                          <p:spTgt spid="90115">
                                            <p:txEl>
                                              <p:charRg st="91" end="12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46818"/>
                                        </p:tgtEl>
                                        <p:attrNameLst>
                                          <p:attrName>style.visibility</p:attrName>
                                        </p:attrNameLst>
                                      </p:cBhvr>
                                      <p:to>
                                        <p:strVal val="visible"/>
                                      </p:to>
                                    </p:set>
                                    <p:animEffect transition="in" filter="wipe(down)">
                                      <p:cBhvr>
                                        <p:cTn id="47" dur="500"/>
                                        <p:tgtEl>
                                          <p:spTgt spid="246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uiExpand="1" build="p"/>
      <p:bldP spid="246814" grpId="0"/>
      <p:bldP spid="246816" grpId="0"/>
      <p:bldP spid="246818" grpId="0"/>
      <p:bldP spid="24682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noChangeArrowheads="1"/>
          </p:cNvSpPr>
          <p:nvPr>
            <p:ph type="title"/>
          </p:nvPr>
        </p:nvSpPr>
        <p:spPr>
          <a:xfrm>
            <a:off x="2246313" y="84138"/>
            <a:ext cx="4867275"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 </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 (</a:t>
            </a:r>
            <a:r>
              <a:rPr kumimoji="0" lang="en-US" altLang="zh-CN" sz="2400" b="1" i="1" u="none" strike="noStrike" kern="1200" cap="none" spc="0" normalizeH="0" baseline="0" noProof="0" dirty="0">
                <a:ln>
                  <a:noFill/>
                </a:ln>
                <a:solidFill>
                  <a:srgbClr val="339933"/>
                </a:solidFill>
                <a:effectLst/>
                <a:uLnTx/>
                <a:uFillTx/>
                <a:latin typeface="+mj-ea"/>
                <a:ea typeface="+mj-ea"/>
                <a:cs typeface="+mj-cs"/>
              </a:rPr>
              <a:t>TCPClient.java)</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48131"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92163" name="Rectangle 3"/>
          <p:cNvSpPr/>
          <p:nvPr/>
        </p:nvSpPr>
        <p:spPr>
          <a:xfrm>
            <a:off x="2185988" y="1508125"/>
            <a:ext cx="6826250" cy="5005388"/>
          </a:xfrm>
          <a:prstGeom prst="rect">
            <a:avLst/>
          </a:prstGeom>
          <a:noFill/>
          <a:ln w="9525">
            <a:noFill/>
          </a:ln>
        </p:spPr>
        <p:txBody>
          <a:bodyPr wrap="none" anchor="ctr" anchorCtr="0">
            <a:spAutoFit/>
          </a:bodyPr>
          <a:p>
            <a:r>
              <a:rPr lang="en-US" altLang="zh-CN" sz="1800" dirty="0">
                <a:latin typeface="Arial" panose="020B0604020202020204" pitchFamily="34" charset="0"/>
                <a:ea typeface="宋体" panose="02010600030101010101" pitchFamily="2" charset="-122"/>
              </a:rPr>
              <a:t>import java.io.*;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import java.net.*;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class TCP Client {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public static void main(String argv[ ]) throws Exception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String sentence;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String modifiedSentence;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BufferedReader </a:t>
            </a:r>
            <a:r>
              <a:rPr lang="en-US" altLang="zh-CN" sz="1800" dirty="0">
                <a:solidFill>
                  <a:srgbClr val="FF3300"/>
                </a:solidFill>
                <a:latin typeface="Arial" panose="020B0604020202020204" pitchFamily="34" charset="0"/>
                <a:ea typeface="宋体" panose="02010600030101010101" pitchFamily="2" charset="-122"/>
              </a:rPr>
              <a:t>inFromUser</a:t>
            </a:r>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new BufferedReader(new InputStreamReader(System.in));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Socket </a:t>
            </a:r>
            <a:r>
              <a:rPr lang="en-US" altLang="zh-CN" sz="1800" dirty="0">
                <a:solidFill>
                  <a:srgbClr val="FF3300"/>
                </a:solidFill>
                <a:latin typeface="Arial" panose="020B0604020202020204" pitchFamily="34" charset="0"/>
                <a:ea typeface="宋体" panose="02010600030101010101" pitchFamily="2" charset="-122"/>
              </a:rPr>
              <a:t>ClientSocket</a:t>
            </a:r>
            <a:r>
              <a:rPr lang="en-US" altLang="zh-CN" sz="1800" dirty="0">
                <a:latin typeface="Arial" panose="020B0604020202020204" pitchFamily="34" charset="0"/>
                <a:ea typeface="宋体" panose="02010600030101010101" pitchFamily="2" charset="-122"/>
              </a:rPr>
              <a:t> = new Socket("hostname", 6789);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DataOutputStream </a:t>
            </a:r>
            <a:r>
              <a:rPr lang="en-US" altLang="zh-CN" sz="1800" dirty="0">
                <a:solidFill>
                  <a:srgbClr val="FF3300"/>
                </a:solidFill>
                <a:latin typeface="Arial" panose="020B0604020202020204" pitchFamily="34" charset="0"/>
                <a:ea typeface="宋体" panose="02010600030101010101" pitchFamily="2" charset="-122"/>
              </a:rPr>
              <a:t>outToServer </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new DataOutputStream(ClientSocket.getOutputStream());</a:t>
            </a:r>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a:p>
            <a:endParaRPr lang="en-US" altLang="zh-CN" sz="1800" dirty="0">
              <a:latin typeface="Times New Roman" panose="02020603050405020304" pitchFamily="18" charset="0"/>
              <a:ea typeface="宋体" panose="02010600030101010101" pitchFamily="2" charset="-122"/>
            </a:endParaRPr>
          </a:p>
          <a:p>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p:txBody>
      </p:sp>
      <p:sp>
        <p:nvSpPr>
          <p:cNvPr id="92164" name="Text Box 4"/>
          <p:cNvSpPr txBox="1"/>
          <p:nvPr/>
        </p:nvSpPr>
        <p:spPr>
          <a:xfrm>
            <a:off x="898525" y="3946525"/>
            <a:ext cx="1335088" cy="366713"/>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产生输入流</a:t>
            </a:r>
            <a:endParaRPr lang="zh-CN" altLang="en-US" sz="1800" dirty="0">
              <a:latin typeface="Times New Roman" panose="02020603050405020304" pitchFamily="18" charset="0"/>
              <a:ea typeface="宋体" panose="02010600030101010101" pitchFamily="2" charset="-122"/>
            </a:endParaRPr>
          </a:p>
        </p:txBody>
      </p:sp>
      <p:sp>
        <p:nvSpPr>
          <p:cNvPr id="92165" name="Text Box 5"/>
          <p:cNvSpPr txBox="1"/>
          <p:nvPr/>
        </p:nvSpPr>
        <p:spPr>
          <a:xfrm>
            <a:off x="12700" y="4641850"/>
            <a:ext cx="2222500" cy="641350"/>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产生客户机套接字</a:t>
            </a:r>
            <a:r>
              <a:rPr lang="en-US" altLang="zh-CN" sz="1800" dirty="0">
                <a:solidFill>
                  <a:schemeClr val="accent2"/>
                </a:solidFill>
                <a:latin typeface="Times New Roman" panose="02020603050405020304" pitchFamily="18" charset="0"/>
                <a:ea typeface="宋体" panose="02010600030101010101" pitchFamily="2" charset="-122"/>
              </a:rPr>
              <a:t>, </a:t>
            </a:r>
            <a:endParaRPr lang="en-US" altLang="zh-CN" sz="1800" dirty="0">
              <a:solidFill>
                <a:schemeClr val="accent2"/>
              </a:solidFill>
              <a:latin typeface="Times New Roman" panose="02020603050405020304" pitchFamily="18" charset="0"/>
              <a:ea typeface="宋体" panose="02010600030101010101" pitchFamily="2" charset="-122"/>
            </a:endParaRPr>
          </a:p>
          <a:p>
            <a:pPr algn="r"/>
            <a:r>
              <a:rPr lang="zh-CN" altLang="en-US" sz="1800" dirty="0">
                <a:solidFill>
                  <a:schemeClr val="accent2"/>
                </a:solidFill>
                <a:latin typeface="Times New Roman" panose="02020603050405020304" pitchFamily="18" charset="0"/>
                <a:ea typeface="宋体" panose="02010600030101010101" pitchFamily="2" charset="-122"/>
              </a:rPr>
              <a:t>与服务器连接</a:t>
            </a:r>
            <a:endParaRPr lang="zh-CN" altLang="en-US" sz="1800" dirty="0">
              <a:latin typeface="Times New Roman" panose="02020603050405020304" pitchFamily="18" charset="0"/>
              <a:ea typeface="宋体" panose="02010600030101010101" pitchFamily="2" charset="-122"/>
            </a:endParaRPr>
          </a:p>
        </p:txBody>
      </p:sp>
      <p:sp>
        <p:nvSpPr>
          <p:cNvPr id="92166" name="Text Box 6"/>
          <p:cNvSpPr txBox="1"/>
          <p:nvPr/>
        </p:nvSpPr>
        <p:spPr>
          <a:xfrm>
            <a:off x="579438" y="5559425"/>
            <a:ext cx="1636712"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生成输出流与套接字联系</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2167" name="Freeform 7"/>
          <p:cNvSpPr/>
          <p:nvPr/>
        </p:nvSpPr>
        <p:spPr>
          <a:xfrm>
            <a:off x="2081213" y="3890963"/>
            <a:ext cx="123825" cy="542925"/>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2168" name="Line 8"/>
          <p:cNvSpPr/>
          <p:nvPr/>
        </p:nvSpPr>
        <p:spPr>
          <a:xfrm flipV="1">
            <a:off x="2214563" y="4152900"/>
            <a:ext cx="361950" cy="4763"/>
          </a:xfrm>
          <a:prstGeom prst="line">
            <a:avLst/>
          </a:prstGeom>
          <a:ln w="28575" cap="flat" cmpd="sng">
            <a:solidFill>
              <a:schemeClr val="accent2"/>
            </a:solidFill>
            <a:prstDash val="solid"/>
            <a:headEnd type="none" w="med" len="med"/>
            <a:tailEnd type="triangle" w="med" len="med"/>
          </a:ln>
        </p:spPr>
      </p:sp>
      <p:sp>
        <p:nvSpPr>
          <p:cNvPr id="92169" name="Freeform 9"/>
          <p:cNvSpPr/>
          <p:nvPr/>
        </p:nvSpPr>
        <p:spPr>
          <a:xfrm>
            <a:off x="2081213" y="4605338"/>
            <a:ext cx="123825" cy="766762"/>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2170" name="Line 10"/>
          <p:cNvSpPr/>
          <p:nvPr/>
        </p:nvSpPr>
        <p:spPr>
          <a:xfrm>
            <a:off x="2209800" y="4987925"/>
            <a:ext cx="423863" cy="3175"/>
          </a:xfrm>
          <a:prstGeom prst="line">
            <a:avLst/>
          </a:prstGeom>
          <a:ln w="28575" cap="flat" cmpd="sng">
            <a:solidFill>
              <a:schemeClr val="accent2"/>
            </a:solidFill>
            <a:prstDash val="solid"/>
            <a:headEnd type="none" w="med" len="med"/>
            <a:tailEnd type="triangle" w="med" len="med"/>
          </a:ln>
        </p:spPr>
      </p:sp>
      <p:sp>
        <p:nvSpPr>
          <p:cNvPr id="92171" name="Freeform 11"/>
          <p:cNvSpPr/>
          <p:nvPr/>
        </p:nvSpPr>
        <p:spPr>
          <a:xfrm>
            <a:off x="2109788" y="5519738"/>
            <a:ext cx="123825" cy="804862"/>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2172" name="Line 12"/>
          <p:cNvSpPr/>
          <p:nvPr/>
        </p:nvSpPr>
        <p:spPr>
          <a:xfrm flipV="1">
            <a:off x="2238375" y="5619750"/>
            <a:ext cx="361950" cy="14288"/>
          </a:xfrm>
          <a:prstGeom prst="line">
            <a:avLst/>
          </a:prstGeom>
          <a:ln w="28575" cap="flat" cmpd="sng">
            <a:solidFill>
              <a:schemeClr val="accent2"/>
            </a:solidFill>
            <a:prstDash val="solid"/>
            <a:headEnd type="none" w="med" len="med"/>
            <a:tailEnd type="triangle" w="med" len="med"/>
          </a:ln>
        </p:spPr>
      </p:sp>
      <p:sp>
        <p:nvSpPr>
          <p:cNvPr id="48142" name="Text Box 13"/>
          <p:cNvSpPr txBox="1"/>
          <p:nvPr/>
        </p:nvSpPr>
        <p:spPr>
          <a:xfrm>
            <a:off x="584200" y="977900"/>
            <a:ext cx="4419600" cy="457200"/>
          </a:xfrm>
          <a:prstGeom prst="rect">
            <a:avLst/>
          </a:prstGeom>
          <a:noFill/>
          <a:ln w="9525">
            <a:noFill/>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50000"/>
              </a:spcBef>
              <a:buClrTx/>
              <a:buFontTx/>
              <a:buNone/>
            </a:pPr>
            <a:endParaRPr lang="zh-CN" altLang="en-US" sz="2400" dirty="0">
              <a:latin typeface="Comic Sans MS" panose="030F0702030302020204" pitchFamily="66" charset="0"/>
              <a:ea typeface="宋体" panose="02010600030101010101" pitchFamily="2" charset="-122"/>
            </a:endParaRPr>
          </a:p>
        </p:txBody>
      </p:sp>
      <p:sp>
        <p:nvSpPr>
          <p:cNvPr id="48143" name="Text Box 14"/>
          <p:cNvSpPr txBox="1"/>
          <p:nvPr/>
        </p:nvSpPr>
        <p:spPr>
          <a:xfrm>
            <a:off x="304800" y="952500"/>
            <a:ext cx="7810500" cy="466725"/>
          </a:xfrm>
          <a:prstGeom prst="rect">
            <a:avLst/>
          </a:prstGeom>
          <a:noFill/>
          <a:ln w="9525" cap="flat" cmpd="sng">
            <a:solidFill>
              <a:srgbClr val="FF0000"/>
            </a:solidFill>
            <a:prstDash val="solid"/>
            <a:miter/>
            <a:headEnd type="none" w="med" len="med"/>
            <a:tailEnd type="none" w="med" len="med"/>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50000"/>
              </a:spcBef>
              <a:buClrTx/>
              <a:buFontTx/>
              <a:buNone/>
            </a:pPr>
            <a:r>
              <a:rPr lang="zh-CN" altLang="en-US" sz="2400" dirty="0">
                <a:latin typeface="华文中宋" panose="02010600040101010101" pitchFamily="2" charset="-122"/>
                <a:ea typeface="华文中宋" panose="02010600040101010101" pitchFamily="2" charset="-122"/>
              </a:rPr>
              <a:t>产生输入流、输出流、套接字</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输入</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发送</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接收</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显示</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63"/>
                                        </p:tgtEl>
                                        <p:attrNameLst>
                                          <p:attrName>style.visibility</p:attrName>
                                        </p:attrNameLst>
                                      </p:cBhvr>
                                      <p:to>
                                        <p:strVal val="visible"/>
                                      </p:to>
                                    </p:set>
                                    <p:animEffect transition="in" filter="blinds(horizontal)">
                                      <p:cBhvr>
                                        <p:cTn id="7" dur="500"/>
                                        <p:tgtEl>
                                          <p:spTgt spid="921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2167"/>
                                        </p:tgtEl>
                                        <p:attrNameLst>
                                          <p:attrName>style.visibility</p:attrName>
                                        </p:attrNameLst>
                                      </p:cBhvr>
                                      <p:to>
                                        <p:strVal val="visible"/>
                                      </p:to>
                                    </p:set>
                                    <p:animEffect transition="in" filter="dissolve">
                                      <p:cBhvr>
                                        <p:cTn id="12" dur="500"/>
                                        <p:tgtEl>
                                          <p:spTgt spid="92167"/>
                                        </p:tgtEl>
                                      </p:cBhvr>
                                    </p:animEffect>
                                  </p:childTnLst>
                                </p:cTn>
                              </p:par>
                              <p:par>
                                <p:cTn id="13" presetID="9" presetClass="entr" presetSubtype="0" fill="hold" nodeType="withEffect">
                                  <p:stCondLst>
                                    <p:cond delay="0"/>
                                  </p:stCondLst>
                                  <p:childTnLst>
                                    <p:set>
                                      <p:cBhvr>
                                        <p:cTn id="14" dur="1" fill="hold">
                                          <p:stCondLst>
                                            <p:cond delay="0"/>
                                          </p:stCondLst>
                                        </p:cTn>
                                        <p:tgtEl>
                                          <p:spTgt spid="92168"/>
                                        </p:tgtEl>
                                        <p:attrNameLst>
                                          <p:attrName>style.visibility</p:attrName>
                                        </p:attrNameLst>
                                      </p:cBhvr>
                                      <p:to>
                                        <p:strVal val="visible"/>
                                      </p:to>
                                    </p:set>
                                    <p:animEffect transition="in" filter="dissolve">
                                      <p:cBhvr>
                                        <p:cTn id="15" dur="500"/>
                                        <p:tgtEl>
                                          <p:spTgt spid="9216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2164"/>
                                        </p:tgtEl>
                                        <p:attrNameLst>
                                          <p:attrName>style.visibility</p:attrName>
                                        </p:attrNameLst>
                                      </p:cBhvr>
                                      <p:to>
                                        <p:strVal val="visible"/>
                                      </p:to>
                                    </p:set>
                                    <p:animEffect transition="in" filter="dissolve">
                                      <p:cBhvr>
                                        <p:cTn id="18" dur="500"/>
                                        <p:tgtEl>
                                          <p:spTgt spid="9216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2169"/>
                                        </p:tgtEl>
                                        <p:attrNameLst>
                                          <p:attrName>style.visibility</p:attrName>
                                        </p:attrNameLst>
                                      </p:cBhvr>
                                      <p:to>
                                        <p:strVal val="visible"/>
                                      </p:to>
                                    </p:set>
                                    <p:animEffect transition="in" filter="blinds(horizontal)">
                                      <p:cBhvr>
                                        <p:cTn id="23" dur="500"/>
                                        <p:tgtEl>
                                          <p:spTgt spid="92169"/>
                                        </p:tgtEl>
                                      </p:cBhvr>
                                    </p:animEffect>
                                  </p:childTnLst>
                                </p:cTn>
                              </p:par>
                              <p:par>
                                <p:cTn id="24" presetID="3" presetClass="entr" presetSubtype="10" fill="hold" nodeType="withEffect">
                                  <p:stCondLst>
                                    <p:cond delay="0"/>
                                  </p:stCondLst>
                                  <p:childTnLst>
                                    <p:set>
                                      <p:cBhvr>
                                        <p:cTn id="25" dur="1" fill="hold">
                                          <p:stCondLst>
                                            <p:cond delay="0"/>
                                          </p:stCondLst>
                                        </p:cTn>
                                        <p:tgtEl>
                                          <p:spTgt spid="92170"/>
                                        </p:tgtEl>
                                        <p:attrNameLst>
                                          <p:attrName>style.visibility</p:attrName>
                                        </p:attrNameLst>
                                      </p:cBhvr>
                                      <p:to>
                                        <p:strVal val="visible"/>
                                      </p:to>
                                    </p:set>
                                    <p:animEffect transition="in" filter="blinds(horizontal)">
                                      <p:cBhvr>
                                        <p:cTn id="26" dur="500"/>
                                        <p:tgtEl>
                                          <p:spTgt spid="9217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92165"/>
                                        </p:tgtEl>
                                        <p:attrNameLst>
                                          <p:attrName>style.visibility</p:attrName>
                                        </p:attrNameLst>
                                      </p:cBhvr>
                                      <p:to>
                                        <p:strVal val="visible"/>
                                      </p:to>
                                    </p:set>
                                    <p:animEffect transition="in" filter="blinds(horizontal)">
                                      <p:cBhvr>
                                        <p:cTn id="29" dur="500"/>
                                        <p:tgtEl>
                                          <p:spTgt spid="92165"/>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92166"/>
                                        </p:tgtEl>
                                        <p:attrNameLst>
                                          <p:attrName>style.visibility</p:attrName>
                                        </p:attrNameLst>
                                      </p:cBhvr>
                                      <p:to>
                                        <p:strVal val="visible"/>
                                      </p:to>
                                    </p:set>
                                    <p:animEffect transition="in" filter="blinds(horizontal)">
                                      <p:cBhvr>
                                        <p:cTn id="34" dur="500"/>
                                        <p:tgtEl>
                                          <p:spTgt spid="92166"/>
                                        </p:tgtEl>
                                      </p:cBhvr>
                                    </p:animEffect>
                                  </p:childTnLst>
                                </p:cTn>
                              </p:par>
                              <p:par>
                                <p:cTn id="35" presetID="3" presetClass="entr" presetSubtype="10" fill="hold" nodeType="withEffect">
                                  <p:stCondLst>
                                    <p:cond delay="0"/>
                                  </p:stCondLst>
                                  <p:childTnLst>
                                    <p:set>
                                      <p:cBhvr>
                                        <p:cTn id="36" dur="1" fill="hold">
                                          <p:stCondLst>
                                            <p:cond delay="0"/>
                                          </p:stCondLst>
                                        </p:cTn>
                                        <p:tgtEl>
                                          <p:spTgt spid="92172"/>
                                        </p:tgtEl>
                                        <p:attrNameLst>
                                          <p:attrName>style.visibility</p:attrName>
                                        </p:attrNameLst>
                                      </p:cBhvr>
                                      <p:to>
                                        <p:strVal val="visible"/>
                                      </p:to>
                                    </p:set>
                                    <p:animEffect transition="in" filter="blinds(horizontal)">
                                      <p:cBhvr>
                                        <p:cTn id="37" dur="500"/>
                                        <p:tgtEl>
                                          <p:spTgt spid="92172"/>
                                        </p:tgtEl>
                                      </p:cBhvr>
                                    </p:animEffect>
                                  </p:childTnLst>
                                </p:cTn>
                              </p:par>
                              <p:par>
                                <p:cTn id="38" presetID="3" presetClass="entr" presetSubtype="10" fill="hold" nodeType="withEffect">
                                  <p:stCondLst>
                                    <p:cond delay="0"/>
                                  </p:stCondLst>
                                  <p:childTnLst>
                                    <p:set>
                                      <p:cBhvr>
                                        <p:cTn id="39" dur="1" fill="hold">
                                          <p:stCondLst>
                                            <p:cond delay="0"/>
                                          </p:stCondLst>
                                        </p:cTn>
                                        <p:tgtEl>
                                          <p:spTgt spid="92171"/>
                                        </p:tgtEl>
                                        <p:attrNameLst>
                                          <p:attrName>style.visibility</p:attrName>
                                        </p:attrNameLst>
                                      </p:cBhvr>
                                      <p:to>
                                        <p:strVal val="visible"/>
                                      </p:to>
                                    </p:set>
                                    <p:animEffect transition="in" filter="blinds(horizontal)">
                                      <p:cBhvr>
                                        <p:cTn id="40" dur="500"/>
                                        <p:tgtEl>
                                          <p:spTgt spid="92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p:bldP spid="92164" grpId="0"/>
      <p:bldP spid="92165" grpId="0"/>
      <p:bldP spid="9216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50179" name="Rectangle 3"/>
          <p:cNvSpPr/>
          <p:nvPr/>
        </p:nvSpPr>
        <p:spPr>
          <a:xfrm>
            <a:off x="2490788" y="1865313"/>
            <a:ext cx="6394450" cy="4486275"/>
          </a:xfrm>
          <a:prstGeom prst="rect">
            <a:avLst/>
          </a:prstGeom>
          <a:noFill/>
          <a:ln w="9525">
            <a:noFill/>
          </a:ln>
        </p:spPr>
        <p:txBody>
          <a:bodyPr wrap="none" anchor="ctr" anchorCtr="0">
            <a:spAutoFit/>
          </a:bodyPr>
          <a:p>
            <a:r>
              <a:rPr lang="zh-CN" altLang="en-US" sz="1800" dirty="0">
                <a:latin typeface="Times New Roman" panose="02020603050405020304" pitchFamily="18"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BufferedReader</a:t>
            </a:r>
            <a:r>
              <a:rPr lang="en-US" altLang="zh-CN" sz="1800" dirty="0">
                <a:solidFill>
                  <a:srgbClr val="FF3300"/>
                </a:solidFill>
                <a:latin typeface="Arial" panose="020B0604020202020204" pitchFamily="34" charset="0"/>
                <a:ea typeface="宋体" panose="02010600030101010101" pitchFamily="2" charset="-122"/>
              </a:rPr>
              <a:t> inFromServer</a:t>
            </a:r>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new BufferedReader(new</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InputStreamReader(ClientSocket.getInputStream()));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sentence = </a:t>
            </a:r>
            <a:r>
              <a:rPr lang="en-US" altLang="zh-CN" sz="1800" dirty="0">
                <a:solidFill>
                  <a:srgbClr val="FF3300"/>
                </a:solidFill>
                <a:latin typeface="Arial" panose="020B0604020202020204" pitchFamily="34" charset="0"/>
                <a:ea typeface="宋体" panose="02010600030101010101" pitchFamily="2" charset="-122"/>
              </a:rPr>
              <a:t>inFromUser.readLine();</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a:t>
            </a:r>
            <a:r>
              <a:rPr lang="en-US" altLang="zh-CN" sz="1800" dirty="0">
                <a:solidFill>
                  <a:srgbClr val="FF3300"/>
                </a:solidFill>
                <a:latin typeface="Arial" panose="020B0604020202020204" pitchFamily="34" charset="0"/>
                <a:ea typeface="宋体" panose="02010600030101010101" pitchFamily="2" charset="-122"/>
              </a:rPr>
              <a:t>outToServer.writeBytes</a:t>
            </a:r>
            <a:r>
              <a:rPr lang="en-US" altLang="zh-CN" sz="1800" dirty="0">
                <a:latin typeface="Arial" panose="020B0604020202020204" pitchFamily="34" charset="0"/>
                <a:ea typeface="宋体" panose="02010600030101010101" pitchFamily="2" charset="-122"/>
              </a:rPr>
              <a:t>(sentence + '\n');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modifiedSentence =</a:t>
            </a:r>
            <a:r>
              <a:rPr lang="en-US" altLang="zh-CN" sz="1800" dirty="0">
                <a:solidFill>
                  <a:srgbClr val="FF3300"/>
                </a:solidFill>
                <a:latin typeface="Arial" panose="020B0604020202020204" pitchFamily="34" charset="0"/>
                <a:ea typeface="宋体" panose="02010600030101010101" pitchFamily="2" charset="-122"/>
              </a:rPr>
              <a:t> inFromServer.readLine</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System.out.println</a:t>
            </a:r>
            <a:r>
              <a:rPr lang="en-US" altLang="zh-CN" sz="1600" dirty="0">
                <a:solidFill>
                  <a:srgbClr val="FF3300"/>
                </a:solidFill>
                <a:latin typeface="Arial" panose="020B0604020202020204" pitchFamily="34" charset="0"/>
                <a:ea typeface="宋体" panose="02010600030101010101" pitchFamily="2" charset="-122"/>
              </a:rPr>
              <a:t>("FROM Server: " + modifiedSentence</a:t>
            </a:r>
            <a:r>
              <a:rPr lang="en-US" altLang="zh-CN" sz="1800" dirty="0">
                <a:solidFill>
                  <a:srgbClr val="FF3300"/>
                </a:solidFill>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ClientSocket.close();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p:txBody>
      </p:sp>
      <p:sp>
        <p:nvSpPr>
          <p:cNvPr id="93188" name="Text Box 4"/>
          <p:cNvSpPr txBox="1"/>
          <p:nvPr/>
        </p:nvSpPr>
        <p:spPr>
          <a:xfrm>
            <a:off x="790575" y="1987550"/>
            <a:ext cx="1716088"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产生与套接字联系的输入流</a:t>
            </a:r>
            <a:endParaRPr lang="zh-CN" altLang="en-US" sz="1800" dirty="0">
              <a:latin typeface="Times New Roman" panose="02020603050405020304" pitchFamily="18" charset="0"/>
              <a:ea typeface="宋体" panose="02010600030101010101" pitchFamily="2" charset="-122"/>
            </a:endParaRPr>
          </a:p>
        </p:txBody>
      </p:sp>
      <p:sp>
        <p:nvSpPr>
          <p:cNvPr id="93189" name="Text Box 5"/>
          <p:cNvSpPr txBox="1"/>
          <p:nvPr/>
        </p:nvSpPr>
        <p:spPr>
          <a:xfrm>
            <a:off x="865188" y="3457575"/>
            <a:ext cx="1795462" cy="366713"/>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向服务器发送行</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3190" name="Text Box 6"/>
          <p:cNvSpPr txBox="1"/>
          <p:nvPr/>
        </p:nvSpPr>
        <p:spPr>
          <a:xfrm>
            <a:off x="1084263" y="4246563"/>
            <a:ext cx="1565275" cy="366712"/>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从服务器读行</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3191" name="Freeform 7"/>
          <p:cNvSpPr/>
          <p:nvPr/>
        </p:nvSpPr>
        <p:spPr>
          <a:xfrm>
            <a:off x="2466975" y="1919288"/>
            <a:ext cx="114300" cy="790575"/>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3192" name="Line 8"/>
          <p:cNvSpPr/>
          <p:nvPr/>
        </p:nvSpPr>
        <p:spPr>
          <a:xfrm flipV="1">
            <a:off x="2581275" y="2324100"/>
            <a:ext cx="342900" cy="14288"/>
          </a:xfrm>
          <a:prstGeom prst="line">
            <a:avLst/>
          </a:prstGeom>
          <a:ln w="28575" cap="flat" cmpd="sng">
            <a:solidFill>
              <a:schemeClr val="accent2"/>
            </a:solidFill>
            <a:prstDash val="solid"/>
            <a:headEnd type="none" w="med" len="med"/>
            <a:tailEnd type="triangle" w="med" len="med"/>
          </a:ln>
        </p:spPr>
      </p:sp>
      <p:sp>
        <p:nvSpPr>
          <p:cNvPr id="93193" name="Freeform 9"/>
          <p:cNvSpPr/>
          <p:nvPr/>
        </p:nvSpPr>
        <p:spPr>
          <a:xfrm>
            <a:off x="2505075" y="3357563"/>
            <a:ext cx="123825" cy="5857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3194" name="Line 10"/>
          <p:cNvSpPr/>
          <p:nvPr/>
        </p:nvSpPr>
        <p:spPr>
          <a:xfrm flipV="1">
            <a:off x="2633663" y="3667125"/>
            <a:ext cx="309562" cy="15875"/>
          </a:xfrm>
          <a:prstGeom prst="line">
            <a:avLst/>
          </a:prstGeom>
          <a:ln w="28575" cap="flat" cmpd="sng">
            <a:solidFill>
              <a:schemeClr val="accent2"/>
            </a:solidFill>
            <a:prstDash val="solid"/>
            <a:headEnd type="none" w="med" len="med"/>
            <a:tailEnd type="triangle" w="med" len="med"/>
          </a:ln>
        </p:spPr>
      </p:sp>
      <p:sp>
        <p:nvSpPr>
          <p:cNvPr id="93195" name="Freeform 11"/>
          <p:cNvSpPr/>
          <p:nvPr/>
        </p:nvSpPr>
        <p:spPr>
          <a:xfrm>
            <a:off x="2524125" y="4186238"/>
            <a:ext cx="123825" cy="5095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3196" name="Line 12"/>
          <p:cNvSpPr/>
          <p:nvPr/>
        </p:nvSpPr>
        <p:spPr>
          <a:xfrm flipV="1">
            <a:off x="2662238" y="4295775"/>
            <a:ext cx="295275" cy="4763"/>
          </a:xfrm>
          <a:prstGeom prst="line">
            <a:avLst/>
          </a:prstGeom>
          <a:ln w="28575" cap="flat" cmpd="sng">
            <a:solidFill>
              <a:schemeClr val="accent2"/>
            </a:solidFill>
            <a:prstDash val="solid"/>
            <a:headEnd type="none" w="med" len="med"/>
            <a:tailEnd type="triangle" w="med" len="med"/>
          </a:ln>
        </p:spPr>
      </p:sp>
      <p:sp>
        <p:nvSpPr>
          <p:cNvPr id="93199" name="AutoShape 15"/>
          <p:cNvSpPr/>
          <p:nvPr/>
        </p:nvSpPr>
        <p:spPr>
          <a:xfrm>
            <a:off x="1041400" y="5168900"/>
            <a:ext cx="1422400" cy="495300"/>
          </a:xfrm>
          <a:prstGeom prst="wedgeRoundRectCallout">
            <a:avLst>
              <a:gd name="adj1" fmla="val 90958"/>
              <a:gd name="adj2" fmla="val -114102"/>
              <a:gd name="adj3" fmla="val 16667"/>
            </a:avLst>
          </a:prstGeom>
          <a:solidFill>
            <a:srgbClr val="FFFF00"/>
          </a:solidFill>
          <a:ln w="9525" cap="flat" cmpd="sng">
            <a:solidFill>
              <a:srgbClr val="FF0000"/>
            </a:solidFill>
            <a:prstDash val="solid"/>
            <a:miter/>
            <a:headEnd type="none" w="med" len="med"/>
            <a:tailEnd type="none" w="med" len="med"/>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2000" dirty="0">
                <a:solidFill>
                  <a:schemeClr val="accent2"/>
                </a:solidFill>
                <a:latin typeface="Comic Sans MS" panose="030F0702030302020204" pitchFamily="66" charset="0"/>
                <a:ea typeface="宋体" panose="02010600030101010101" pitchFamily="2" charset="-122"/>
              </a:rPr>
              <a:t>显示内容</a:t>
            </a:r>
            <a:endParaRPr lang="zh-CN" altLang="en-US" sz="2000" dirty="0">
              <a:solidFill>
                <a:schemeClr val="accent2"/>
              </a:solidFill>
              <a:latin typeface="Comic Sans MS" panose="030F0702030302020204" pitchFamily="66" charset="0"/>
              <a:ea typeface="宋体" panose="02010600030101010101" pitchFamily="2" charset="-122"/>
            </a:endParaRPr>
          </a:p>
        </p:txBody>
      </p:sp>
      <p:sp>
        <p:nvSpPr>
          <p:cNvPr id="93200" name="AutoShape 16"/>
          <p:cNvSpPr/>
          <p:nvPr/>
        </p:nvSpPr>
        <p:spPr>
          <a:xfrm>
            <a:off x="7137400" y="2997200"/>
            <a:ext cx="1422400" cy="495300"/>
          </a:xfrm>
          <a:prstGeom prst="wedgeRoundRectCallout">
            <a:avLst>
              <a:gd name="adj1" fmla="val -84042"/>
              <a:gd name="adj2" fmla="val -21796"/>
              <a:gd name="adj3" fmla="val 16667"/>
            </a:avLst>
          </a:prstGeom>
          <a:solidFill>
            <a:srgbClr val="FFFF00"/>
          </a:solidFill>
          <a:ln w="9525" cap="flat" cmpd="sng">
            <a:solidFill>
              <a:srgbClr val="FF0000"/>
            </a:solidFill>
            <a:prstDash val="solid"/>
            <a:miter/>
            <a:headEnd type="none" w="med" len="med"/>
            <a:tailEnd type="none" w="med" len="med"/>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2000" dirty="0">
                <a:solidFill>
                  <a:schemeClr val="accent2"/>
                </a:solidFill>
                <a:latin typeface="Comic Sans MS" panose="030F0702030302020204" pitchFamily="66" charset="0"/>
                <a:ea typeface="宋体" panose="02010600030101010101" pitchFamily="2" charset="-122"/>
              </a:rPr>
              <a:t>键盘输入</a:t>
            </a:r>
            <a:endParaRPr lang="en-US" altLang="zh-CN" sz="2000" dirty="0">
              <a:solidFill>
                <a:schemeClr val="accent2"/>
              </a:solidFill>
              <a:latin typeface="Comic Sans MS" panose="030F0702030302020204" pitchFamily="66"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blinds(horizontal)">
                                      <p:cBhvr>
                                        <p:cTn id="7" dur="500"/>
                                        <p:tgtEl>
                                          <p:spTgt spid="93188"/>
                                        </p:tgtEl>
                                      </p:cBhvr>
                                    </p:animEffect>
                                  </p:childTnLst>
                                </p:cTn>
                              </p:par>
                              <p:par>
                                <p:cTn id="8" presetID="3" presetClass="entr" presetSubtype="10" fill="hold" nodeType="withEffect">
                                  <p:stCondLst>
                                    <p:cond delay="0"/>
                                  </p:stCondLst>
                                  <p:childTnLst>
                                    <p:set>
                                      <p:cBhvr>
                                        <p:cTn id="9" dur="1" fill="hold">
                                          <p:stCondLst>
                                            <p:cond delay="0"/>
                                          </p:stCondLst>
                                        </p:cTn>
                                        <p:tgtEl>
                                          <p:spTgt spid="93192"/>
                                        </p:tgtEl>
                                        <p:attrNameLst>
                                          <p:attrName>style.visibility</p:attrName>
                                        </p:attrNameLst>
                                      </p:cBhvr>
                                      <p:to>
                                        <p:strVal val="visible"/>
                                      </p:to>
                                    </p:set>
                                    <p:animEffect transition="in" filter="blinds(horizontal)">
                                      <p:cBhvr>
                                        <p:cTn id="10" dur="500"/>
                                        <p:tgtEl>
                                          <p:spTgt spid="93192"/>
                                        </p:tgtEl>
                                      </p:cBhvr>
                                    </p:animEffect>
                                  </p:childTnLst>
                                </p:cTn>
                              </p:par>
                              <p:par>
                                <p:cTn id="11" presetID="3" presetClass="entr" presetSubtype="10" fill="hold" nodeType="withEffect">
                                  <p:stCondLst>
                                    <p:cond delay="0"/>
                                  </p:stCondLst>
                                  <p:childTnLst>
                                    <p:set>
                                      <p:cBhvr>
                                        <p:cTn id="12" dur="1" fill="hold">
                                          <p:stCondLst>
                                            <p:cond delay="0"/>
                                          </p:stCondLst>
                                        </p:cTn>
                                        <p:tgtEl>
                                          <p:spTgt spid="93191"/>
                                        </p:tgtEl>
                                        <p:attrNameLst>
                                          <p:attrName>style.visibility</p:attrName>
                                        </p:attrNameLst>
                                      </p:cBhvr>
                                      <p:to>
                                        <p:strVal val="visible"/>
                                      </p:to>
                                    </p:set>
                                    <p:animEffect transition="in" filter="blinds(horizontal)">
                                      <p:cBhvr>
                                        <p:cTn id="13" dur="500"/>
                                        <p:tgtEl>
                                          <p:spTgt spid="9319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3200"/>
                                        </p:tgtEl>
                                        <p:attrNameLst>
                                          <p:attrName>style.visibility</p:attrName>
                                        </p:attrNameLst>
                                      </p:cBhvr>
                                      <p:to>
                                        <p:strVal val="visible"/>
                                      </p:to>
                                    </p:set>
                                    <p:animEffect transition="in" filter="dissolve">
                                      <p:cBhvr>
                                        <p:cTn id="18" dur="500"/>
                                        <p:tgtEl>
                                          <p:spTgt spid="9320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93194"/>
                                        </p:tgtEl>
                                        <p:attrNameLst>
                                          <p:attrName>style.visibility</p:attrName>
                                        </p:attrNameLst>
                                      </p:cBhvr>
                                      <p:to>
                                        <p:strVal val="visible"/>
                                      </p:to>
                                    </p:set>
                                    <p:animEffect transition="in" filter="wipe(down)">
                                      <p:cBhvr>
                                        <p:cTn id="23" dur="500"/>
                                        <p:tgtEl>
                                          <p:spTgt spid="93194"/>
                                        </p:tgtEl>
                                      </p:cBhvr>
                                    </p:animEffect>
                                  </p:childTnLst>
                                </p:cTn>
                              </p:par>
                              <p:par>
                                <p:cTn id="24" presetID="22" presetClass="entr" presetSubtype="4" fill="hold" nodeType="withEffect">
                                  <p:stCondLst>
                                    <p:cond delay="0"/>
                                  </p:stCondLst>
                                  <p:childTnLst>
                                    <p:set>
                                      <p:cBhvr>
                                        <p:cTn id="25" dur="1" fill="hold">
                                          <p:stCondLst>
                                            <p:cond delay="0"/>
                                          </p:stCondLst>
                                        </p:cTn>
                                        <p:tgtEl>
                                          <p:spTgt spid="93193"/>
                                        </p:tgtEl>
                                        <p:attrNameLst>
                                          <p:attrName>style.visibility</p:attrName>
                                        </p:attrNameLst>
                                      </p:cBhvr>
                                      <p:to>
                                        <p:strVal val="visible"/>
                                      </p:to>
                                    </p:set>
                                    <p:animEffect transition="in" filter="wipe(down)">
                                      <p:cBhvr>
                                        <p:cTn id="26" dur="500"/>
                                        <p:tgtEl>
                                          <p:spTgt spid="93193"/>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3189"/>
                                        </p:tgtEl>
                                        <p:attrNameLst>
                                          <p:attrName>style.visibility</p:attrName>
                                        </p:attrNameLst>
                                      </p:cBhvr>
                                      <p:to>
                                        <p:strVal val="visible"/>
                                      </p:to>
                                    </p:set>
                                    <p:animEffect transition="in" filter="wipe(down)">
                                      <p:cBhvr>
                                        <p:cTn id="29" dur="500"/>
                                        <p:tgtEl>
                                          <p:spTgt spid="9318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93196"/>
                                        </p:tgtEl>
                                        <p:attrNameLst>
                                          <p:attrName>style.visibility</p:attrName>
                                        </p:attrNameLst>
                                      </p:cBhvr>
                                      <p:to>
                                        <p:strVal val="visible"/>
                                      </p:to>
                                    </p:set>
                                    <p:animEffect transition="in" filter="dissolve">
                                      <p:cBhvr>
                                        <p:cTn id="34" dur="500"/>
                                        <p:tgtEl>
                                          <p:spTgt spid="93196"/>
                                        </p:tgtEl>
                                      </p:cBhvr>
                                    </p:animEffect>
                                  </p:childTnLst>
                                </p:cTn>
                              </p:par>
                              <p:par>
                                <p:cTn id="35" presetID="9" presetClass="entr" presetSubtype="0" fill="hold" nodeType="withEffect">
                                  <p:stCondLst>
                                    <p:cond delay="0"/>
                                  </p:stCondLst>
                                  <p:childTnLst>
                                    <p:set>
                                      <p:cBhvr>
                                        <p:cTn id="36" dur="1" fill="hold">
                                          <p:stCondLst>
                                            <p:cond delay="0"/>
                                          </p:stCondLst>
                                        </p:cTn>
                                        <p:tgtEl>
                                          <p:spTgt spid="93195"/>
                                        </p:tgtEl>
                                        <p:attrNameLst>
                                          <p:attrName>style.visibility</p:attrName>
                                        </p:attrNameLst>
                                      </p:cBhvr>
                                      <p:to>
                                        <p:strVal val="visible"/>
                                      </p:to>
                                    </p:set>
                                    <p:animEffect transition="in" filter="dissolve">
                                      <p:cBhvr>
                                        <p:cTn id="37" dur="500"/>
                                        <p:tgtEl>
                                          <p:spTgt spid="9319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3190"/>
                                        </p:tgtEl>
                                        <p:attrNameLst>
                                          <p:attrName>style.visibility</p:attrName>
                                        </p:attrNameLst>
                                      </p:cBhvr>
                                      <p:to>
                                        <p:strVal val="visible"/>
                                      </p:to>
                                    </p:set>
                                    <p:animEffect transition="in" filter="dissolve">
                                      <p:cBhvr>
                                        <p:cTn id="40" dur="500"/>
                                        <p:tgtEl>
                                          <p:spTgt spid="9319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93199"/>
                                        </p:tgtEl>
                                        <p:attrNameLst>
                                          <p:attrName>style.visibility</p:attrName>
                                        </p:attrNameLst>
                                      </p:cBhvr>
                                      <p:to>
                                        <p:strVal val="visible"/>
                                      </p:to>
                                    </p:set>
                                    <p:animEffect transition="in" filter="dissolve">
                                      <p:cBhvr>
                                        <p:cTn id="45" dur="500"/>
                                        <p:tgtEl>
                                          <p:spTgt spid="93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P spid="93189" grpId="0"/>
      <p:bldP spid="93190" grpId="0"/>
      <p:bldP spid="93199" grpId="0" animBg="1"/>
      <p:bldP spid="9320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ChangeArrowheads="1"/>
          </p:cNvSpPr>
          <p:nvPr>
            <p:ph type="title"/>
          </p:nvPr>
        </p:nvSpPr>
        <p:spPr>
          <a:xfrm>
            <a:off x="2087563" y="-58737"/>
            <a:ext cx="5308600" cy="8064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服务器</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 (</a:t>
            </a:r>
            <a:r>
              <a:rPr kumimoji="0" lang="en-US" altLang="zh-CN" sz="2400" b="1" i="1" u="none" strike="noStrike" kern="1200" cap="none" spc="0" normalizeH="0" baseline="0" noProof="0" dirty="0">
                <a:ln>
                  <a:noFill/>
                </a:ln>
                <a:solidFill>
                  <a:srgbClr val="339933"/>
                </a:solidFill>
                <a:effectLst/>
                <a:uLnTx/>
                <a:uFillTx/>
                <a:latin typeface="+mj-ea"/>
                <a:ea typeface="+mj-ea"/>
                <a:cs typeface="+mj-cs"/>
              </a:rPr>
              <a:t>TCPServer.java</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 )</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52227"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94211" name="Rectangle 3"/>
          <p:cNvSpPr/>
          <p:nvPr/>
        </p:nvSpPr>
        <p:spPr>
          <a:xfrm>
            <a:off x="2578100" y="1398588"/>
            <a:ext cx="6958013" cy="4772025"/>
          </a:xfrm>
          <a:prstGeom prst="rect">
            <a:avLst/>
          </a:prstGeom>
          <a:noFill/>
          <a:ln w="9525">
            <a:noFill/>
          </a:ln>
        </p:spPr>
        <p:txBody>
          <a:bodyPr wrap="none" anchor="ctr" anchorCtr="0">
            <a:spAutoFit/>
          </a:bodyPr>
          <a:p>
            <a:r>
              <a:rPr lang="en-US" altLang="zh-CN" sz="1600" dirty="0">
                <a:latin typeface="Arial" panose="020B0604020202020204" pitchFamily="34" charset="0"/>
                <a:ea typeface="宋体" panose="02010600030101010101" pitchFamily="2" charset="-122"/>
              </a:rPr>
              <a:t>import java.io.*;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import java.net.*; </a:t>
            </a:r>
            <a:endParaRPr lang="en-US" altLang="zh-CN" sz="1600" dirty="0">
              <a:latin typeface="Arial" panose="020B0604020202020204" pitchFamily="34" charset="0"/>
              <a:ea typeface="宋体" panose="02010600030101010101" pitchFamily="2" charset="-122"/>
            </a:endParaRPr>
          </a:p>
          <a:p>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class TCP Server { </a:t>
            </a:r>
            <a:endParaRPr lang="en-US" altLang="zh-CN" sz="1600" dirty="0">
              <a:latin typeface="Arial" panose="020B0604020202020204" pitchFamily="34" charset="0"/>
              <a:ea typeface="宋体" panose="02010600030101010101" pitchFamily="2" charset="-122"/>
            </a:endParaRPr>
          </a:p>
          <a:p>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public static void main(String argv[]) throws Exception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String ClientSentence;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String capitalizedSentence; </a:t>
            </a:r>
            <a:endParaRPr lang="en-US" altLang="zh-CN" sz="1600" dirty="0">
              <a:latin typeface="Arial" panose="020B0604020202020204" pitchFamily="34" charset="0"/>
              <a:ea typeface="宋体" panose="02010600030101010101" pitchFamily="2" charset="-122"/>
            </a:endParaRPr>
          </a:p>
          <a:p>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ServerSocket</a:t>
            </a:r>
            <a:r>
              <a:rPr lang="zh-CN" altLang="en-US" sz="1600" dirty="0">
                <a:latin typeface="Arial" panose="020B0604020202020204" pitchFamily="34" charset="0"/>
                <a:ea typeface="宋体" panose="02010600030101010101" pitchFamily="2" charset="-122"/>
              </a:rPr>
              <a:t> </a:t>
            </a:r>
            <a:r>
              <a:rPr lang="en-US" altLang="zh-CN" sz="1600" dirty="0">
                <a:solidFill>
                  <a:srgbClr val="FF3300"/>
                </a:solidFill>
                <a:latin typeface="Arial" panose="020B0604020202020204" pitchFamily="34" charset="0"/>
                <a:ea typeface="宋体" panose="02010600030101010101" pitchFamily="2" charset="-122"/>
              </a:rPr>
              <a:t>welcomeSocket</a:t>
            </a:r>
            <a:r>
              <a:rPr lang="en-US" altLang="zh-CN" sz="1600" dirty="0">
                <a:latin typeface="Arial" panose="020B0604020202020204" pitchFamily="34" charset="0"/>
                <a:ea typeface="宋体" panose="02010600030101010101" pitchFamily="2" charset="-122"/>
              </a:rPr>
              <a:t> = new ServerSocket(6789);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while(true)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Socket </a:t>
            </a:r>
            <a:r>
              <a:rPr lang="en-US" altLang="zh-CN" sz="1600" dirty="0">
                <a:solidFill>
                  <a:srgbClr val="FF3300"/>
                </a:solidFill>
                <a:latin typeface="Arial" panose="020B0604020202020204" pitchFamily="34" charset="0"/>
                <a:ea typeface="宋体" panose="02010600030101010101" pitchFamily="2" charset="-122"/>
              </a:rPr>
              <a:t>connectionSocket</a:t>
            </a:r>
            <a:r>
              <a:rPr lang="en-US" altLang="zh-CN" sz="1600" dirty="0">
                <a:latin typeface="Arial" panose="020B0604020202020204" pitchFamily="34" charset="0"/>
                <a:ea typeface="宋体" panose="02010600030101010101" pitchFamily="2" charset="-122"/>
              </a:rPr>
              <a:t> = welcomeSocket.accept(); </a:t>
            </a:r>
            <a:endParaRPr lang="en-US" altLang="zh-CN" sz="1600" dirty="0">
              <a:latin typeface="Arial" panose="020B0604020202020204" pitchFamily="34" charset="0"/>
              <a:ea typeface="宋体" panose="02010600030101010101" pitchFamily="2" charset="-122"/>
            </a:endParaRPr>
          </a:p>
          <a:p>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BufferedReader </a:t>
            </a:r>
            <a:r>
              <a:rPr lang="en-US" altLang="zh-CN" sz="1600" dirty="0">
                <a:solidFill>
                  <a:srgbClr val="FF3300"/>
                </a:solidFill>
                <a:latin typeface="Arial" panose="020B0604020202020204" pitchFamily="34" charset="0"/>
                <a:ea typeface="宋体" panose="02010600030101010101" pitchFamily="2" charset="-122"/>
              </a:rPr>
              <a:t>inFromClient</a:t>
            </a:r>
            <a:r>
              <a:rPr lang="zh-CN" altLang="en-US" sz="1600" dirty="0">
                <a:latin typeface="Arial" panose="020B0604020202020204" pitchFamily="34" charset="0"/>
                <a:ea typeface="宋体" panose="02010600030101010101" pitchFamily="2" charset="-122"/>
              </a:rPr>
              <a:t> </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BufferedReader(new</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InputStreamReader(connectionSocket.getInputStream()));            </a:t>
            </a:r>
            <a:endParaRPr lang="en-US" altLang="zh-CN" dirty="0">
              <a:latin typeface="Times New Roman" panose="02020603050405020304" pitchFamily="18" charset="0"/>
              <a:ea typeface="宋体" panose="02010600030101010101" pitchFamily="2" charset="-122"/>
            </a:endParaRPr>
          </a:p>
        </p:txBody>
      </p:sp>
      <p:sp>
        <p:nvSpPr>
          <p:cNvPr id="94212" name="Text Box 4"/>
          <p:cNvSpPr txBox="1"/>
          <p:nvPr/>
        </p:nvSpPr>
        <p:spPr>
          <a:xfrm>
            <a:off x="282575" y="3705225"/>
            <a:ext cx="2090738" cy="641350"/>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在端口</a:t>
            </a:r>
            <a:r>
              <a:rPr lang="en-US" altLang="zh-CN" sz="1800" dirty="0">
                <a:solidFill>
                  <a:schemeClr val="accent2"/>
                </a:solidFill>
                <a:latin typeface="Times New Roman" panose="02020603050405020304" pitchFamily="18" charset="0"/>
                <a:ea typeface="宋体" panose="02010600030101010101" pitchFamily="2" charset="-122"/>
              </a:rPr>
              <a:t>6789</a:t>
            </a:r>
            <a:r>
              <a:rPr lang="zh-CN" altLang="en-US" sz="1800" dirty="0">
                <a:solidFill>
                  <a:schemeClr val="accent2"/>
                </a:solidFill>
                <a:latin typeface="Times New Roman" panose="02020603050405020304" pitchFamily="18" charset="0"/>
                <a:ea typeface="宋体" panose="02010600030101010101" pitchFamily="2" charset="-122"/>
              </a:rPr>
              <a:t> 生成</a:t>
            </a:r>
            <a:r>
              <a:rPr lang="zh-CN" altLang="en-US" sz="1800" dirty="0">
                <a:solidFill>
                  <a:schemeClr val="accent2"/>
                </a:solidFill>
                <a:latin typeface="Times New Roman" panose="02020603050405020304" pitchFamily="18" charset="0"/>
                <a:ea typeface="宋体" panose="02010600030101010101" pitchFamily="2" charset="-122"/>
                <a:hlinkClick r:id="" action="ppaction://customshow?id=31&amp;return=true"/>
              </a:rPr>
              <a:t>欢迎套接字</a:t>
            </a:r>
            <a:r>
              <a:rPr lang="zh-CN" altLang="en-US" sz="1800" dirty="0">
                <a:solidFill>
                  <a:schemeClr val="accent2"/>
                </a:solidFill>
                <a:latin typeface="Times New Roman" panose="02020603050405020304" pitchFamily="18" charset="0"/>
                <a:ea typeface="宋体" panose="02010600030101010101" pitchFamily="2" charset="-122"/>
              </a:rPr>
              <a:t>，监听</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4213" name="Text Box 5"/>
          <p:cNvSpPr txBox="1"/>
          <p:nvPr/>
        </p:nvSpPr>
        <p:spPr>
          <a:xfrm>
            <a:off x="819150" y="4759325"/>
            <a:ext cx="1374775" cy="731838"/>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创建一个连接套接字</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4214" name="Text Box 6"/>
          <p:cNvSpPr txBox="1"/>
          <p:nvPr/>
        </p:nvSpPr>
        <p:spPr>
          <a:xfrm>
            <a:off x="704850" y="5759450"/>
            <a:ext cx="1633538"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生成输入流，与套接字联系</a:t>
            </a:r>
            <a:endParaRPr lang="zh-CN" altLang="en-US" sz="1800" dirty="0">
              <a:latin typeface="Times New Roman" panose="02020603050405020304" pitchFamily="18" charset="0"/>
              <a:ea typeface="宋体" panose="02010600030101010101" pitchFamily="2" charset="-122"/>
            </a:endParaRPr>
          </a:p>
        </p:txBody>
      </p:sp>
      <p:sp>
        <p:nvSpPr>
          <p:cNvPr id="94215" name="Freeform 7"/>
          <p:cNvSpPr/>
          <p:nvPr/>
        </p:nvSpPr>
        <p:spPr>
          <a:xfrm>
            <a:off x="2247900" y="3627438"/>
            <a:ext cx="152400" cy="80010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4216" name="Line 8"/>
          <p:cNvSpPr/>
          <p:nvPr/>
        </p:nvSpPr>
        <p:spPr>
          <a:xfrm>
            <a:off x="2419350" y="4021138"/>
            <a:ext cx="419100" cy="4762"/>
          </a:xfrm>
          <a:prstGeom prst="line">
            <a:avLst/>
          </a:prstGeom>
          <a:ln w="28575" cap="flat" cmpd="sng">
            <a:solidFill>
              <a:schemeClr val="accent2"/>
            </a:solidFill>
            <a:prstDash val="solid"/>
            <a:headEnd type="none" w="med" len="med"/>
            <a:tailEnd type="triangle" w="med" len="med"/>
          </a:ln>
        </p:spPr>
      </p:sp>
      <p:sp>
        <p:nvSpPr>
          <p:cNvPr id="94217" name="Freeform 9"/>
          <p:cNvSpPr/>
          <p:nvPr/>
        </p:nvSpPr>
        <p:spPr>
          <a:xfrm>
            <a:off x="2314575" y="4703763"/>
            <a:ext cx="123825" cy="766762"/>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4218" name="Line 10"/>
          <p:cNvSpPr/>
          <p:nvPr/>
        </p:nvSpPr>
        <p:spPr>
          <a:xfrm>
            <a:off x="2452688" y="5016500"/>
            <a:ext cx="604837" cy="12700"/>
          </a:xfrm>
          <a:prstGeom prst="line">
            <a:avLst/>
          </a:prstGeom>
          <a:ln w="28575" cap="flat" cmpd="sng">
            <a:solidFill>
              <a:schemeClr val="accent2"/>
            </a:solidFill>
            <a:prstDash val="solid"/>
            <a:headEnd type="none" w="med" len="med"/>
            <a:tailEnd type="triangle" w="med" len="med"/>
          </a:ln>
        </p:spPr>
      </p:sp>
      <p:sp>
        <p:nvSpPr>
          <p:cNvPr id="94219" name="Freeform 11"/>
          <p:cNvSpPr/>
          <p:nvPr/>
        </p:nvSpPr>
        <p:spPr>
          <a:xfrm>
            <a:off x="2286000" y="5716588"/>
            <a:ext cx="152400" cy="7381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4220" name="Line 12"/>
          <p:cNvSpPr/>
          <p:nvPr/>
        </p:nvSpPr>
        <p:spPr>
          <a:xfrm flipV="1">
            <a:off x="2455863" y="5988050"/>
            <a:ext cx="647700" cy="14288"/>
          </a:xfrm>
          <a:prstGeom prst="line">
            <a:avLst/>
          </a:prstGeom>
          <a:ln w="28575" cap="flat" cmpd="sng">
            <a:solidFill>
              <a:schemeClr val="accent2"/>
            </a:solidFill>
            <a:prstDash val="solid"/>
            <a:headEnd type="none" w="med" len="med"/>
            <a:tailEnd type="triangle" w="med" len="med"/>
          </a:ln>
        </p:spPr>
      </p:sp>
      <p:sp>
        <p:nvSpPr>
          <p:cNvPr id="52238" name="Text Box 1037"/>
          <p:cNvSpPr txBox="1"/>
          <p:nvPr/>
        </p:nvSpPr>
        <p:spPr>
          <a:xfrm>
            <a:off x="685800" y="749300"/>
            <a:ext cx="7810500" cy="466725"/>
          </a:xfrm>
          <a:prstGeom prst="rect">
            <a:avLst/>
          </a:prstGeom>
          <a:noFill/>
          <a:ln w="9525" cap="flat" cmpd="sng">
            <a:solidFill>
              <a:srgbClr val="FF0000"/>
            </a:solidFill>
            <a:prstDash val="solid"/>
            <a:miter/>
            <a:headEnd type="none" w="med" len="med"/>
            <a:tailEnd type="none" w="med" len="med"/>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50000"/>
              </a:spcBef>
              <a:buClrTx/>
              <a:buFontTx/>
              <a:buNone/>
            </a:pPr>
            <a:r>
              <a:rPr lang="zh-CN" altLang="en-US" sz="2400" dirty="0">
                <a:latin typeface="华文中宋" panose="02010600040101010101" pitchFamily="2" charset="-122"/>
                <a:ea typeface="华文中宋" panose="02010600040101010101" pitchFamily="2" charset="-122"/>
              </a:rPr>
              <a:t>产生输入流、输出流、套接字</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接收</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发送</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blinds(horizontal)">
                                      <p:cBhvr>
                                        <p:cTn id="7" dur="500"/>
                                        <p:tgtEl>
                                          <p:spTgt spid="942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4216"/>
                                        </p:tgtEl>
                                        <p:attrNameLst>
                                          <p:attrName>style.visibility</p:attrName>
                                        </p:attrNameLst>
                                      </p:cBhvr>
                                      <p:to>
                                        <p:strVal val="visible"/>
                                      </p:to>
                                    </p:set>
                                    <p:animEffect transition="in" filter="dissolve">
                                      <p:cBhvr>
                                        <p:cTn id="12" dur="500"/>
                                        <p:tgtEl>
                                          <p:spTgt spid="94216"/>
                                        </p:tgtEl>
                                      </p:cBhvr>
                                    </p:animEffect>
                                  </p:childTnLst>
                                </p:cTn>
                              </p:par>
                              <p:par>
                                <p:cTn id="13" presetID="9" presetClass="entr" presetSubtype="0" fill="hold" nodeType="withEffect">
                                  <p:stCondLst>
                                    <p:cond delay="0"/>
                                  </p:stCondLst>
                                  <p:childTnLst>
                                    <p:set>
                                      <p:cBhvr>
                                        <p:cTn id="14" dur="1" fill="hold">
                                          <p:stCondLst>
                                            <p:cond delay="0"/>
                                          </p:stCondLst>
                                        </p:cTn>
                                        <p:tgtEl>
                                          <p:spTgt spid="94215"/>
                                        </p:tgtEl>
                                        <p:attrNameLst>
                                          <p:attrName>style.visibility</p:attrName>
                                        </p:attrNameLst>
                                      </p:cBhvr>
                                      <p:to>
                                        <p:strVal val="visible"/>
                                      </p:to>
                                    </p:set>
                                    <p:animEffect transition="in" filter="dissolve">
                                      <p:cBhvr>
                                        <p:cTn id="15" dur="500"/>
                                        <p:tgtEl>
                                          <p:spTgt spid="9421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4212"/>
                                        </p:tgtEl>
                                        <p:attrNameLst>
                                          <p:attrName>style.visibility</p:attrName>
                                        </p:attrNameLst>
                                      </p:cBhvr>
                                      <p:to>
                                        <p:strVal val="visible"/>
                                      </p:to>
                                    </p:set>
                                    <p:animEffect transition="in" filter="dissolve">
                                      <p:cBhvr>
                                        <p:cTn id="18" dur="500"/>
                                        <p:tgtEl>
                                          <p:spTgt spid="9421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94218"/>
                                        </p:tgtEl>
                                        <p:attrNameLst>
                                          <p:attrName>style.visibility</p:attrName>
                                        </p:attrNameLst>
                                      </p:cBhvr>
                                      <p:to>
                                        <p:strVal val="visible"/>
                                      </p:to>
                                    </p:set>
                                    <p:animEffect transition="in" filter="dissolve">
                                      <p:cBhvr>
                                        <p:cTn id="23" dur="500"/>
                                        <p:tgtEl>
                                          <p:spTgt spid="94218"/>
                                        </p:tgtEl>
                                      </p:cBhvr>
                                    </p:animEffect>
                                  </p:childTnLst>
                                </p:cTn>
                              </p:par>
                              <p:par>
                                <p:cTn id="24" presetID="9" presetClass="entr" presetSubtype="0" fill="hold" nodeType="withEffect">
                                  <p:stCondLst>
                                    <p:cond delay="0"/>
                                  </p:stCondLst>
                                  <p:childTnLst>
                                    <p:set>
                                      <p:cBhvr>
                                        <p:cTn id="25" dur="1" fill="hold">
                                          <p:stCondLst>
                                            <p:cond delay="0"/>
                                          </p:stCondLst>
                                        </p:cTn>
                                        <p:tgtEl>
                                          <p:spTgt spid="94217"/>
                                        </p:tgtEl>
                                        <p:attrNameLst>
                                          <p:attrName>style.visibility</p:attrName>
                                        </p:attrNameLst>
                                      </p:cBhvr>
                                      <p:to>
                                        <p:strVal val="visible"/>
                                      </p:to>
                                    </p:set>
                                    <p:animEffect transition="in" filter="dissolve">
                                      <p:cBhvr>
                                        <p:cTn id="26" dur="500"/>
                                        <p:tgtEl>
                                          <p:spTgt spid="9421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94213"/>
                                        </p:tgtEl>
                                        <p:attrNameLst>
                                          <p:attrName>style.visibility</p:attrName>
                                        </p:attrNameLst>
                                      </p:cBhvr>
                                      <p:to>
                                        <p:strVal val="visible"/>
                                      </p:to>
                                    </p:set>
                                    <p:animEffect transition="in" filter="dissolve">
                                      <p:cBhvr>
                                        <p:cTn id="29" dur="500"/>
                                        <p:tgtEl>
                                          <p:spTgt spid="9421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4220"/>
                                        </p:tgtEl>
                                        <p:attrNameLst>
                                          <p:attrName>style.visibility</p:attrName>
                                        </p:attrNameLst>
                                      </p:cBhvr>
                                      <p:to>
                                        <p:strVal val="visible"/>
                                      </p:to>
                                    </p:set>
                                    <p:animEffect transition="in" filter="blinds(horizontal)">
                                      <p:cBhvr>
                                        <p:cTn id="34" dur="500"/>
                                        <p:tgtEl>
                                          <p:spTgt spid="94220"/>
                                        </p:tgtEl>
                                      </p:cBhvr>
                                    </p:animEffect>
                                  </p:childTnLst>
                                </p:cTn>
                              </p:par>
                              <p:par>
                                <p:cTn id="35" presetID="3" presetClass="entr" presetSubtype="10" fill="hold" nodeType="withEffect">
                                  <p:stCondLst>
                                    <p:cond delay="0"/>
                                  </p:stCondLst>
                                  <p:childTnLst>
                                    <p:set>
                                      <p:cBhvr>
                                        <p:cTn id="36" dur="1" fill="hold">
                                          <p:stCondLst>
                                            <p:cond delay="0"/>
                                          </p:stCondLst>
                                        </p:cTn>
                                        <p:tgtEl>
                                          <p:spTgt spid="94219"/>
                                        </p:tgtEl>
                                        <p:attrNameLst>
                                          <p:attrName>style.visibility</p:attrName>
                                        </p:attrNameLst>
                                      </p:cBhvr>
                                      <p:to>
                                        <p:strVal val="visible"/>
                                      </p:to>
                                    </p:set>
                                    <p:animEffect transition="in" filter="blinds(horizontal)">
                                      <p:cBhvr>
                                        <p:cTn id="37" dur="500"/>
                                        <p:tgtEl>
                                          <p:spTgt spid="94219"/>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94214"/>
                                        </p:tgtEl>
                                        <p:attrNameLst>
                                          <p:attrName>style.visibility</p:attrName>
                                        </p:attrNameLst>
                                      </p:cBhvr>
                                      <p:to>
                                        <p:strVal val="visible"/>
                                      </p:to>
                                    </p:set>
                                    <p:animEffect transition="in" filter="blinds(horizontal)">
                                      <p:cBhvr>
                                        <p:cTn id="40" dur="500"/>
                                        <p:tgtEl>
                                          <p:spTgt spid="94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P spid="94212" grpId="0"/>
      <p:bldP spid="94213" grpId="0"/>
      <p:bldP spid="942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54275" name="Rectangle 3"/>
          <p:cNvSpPr/>
          <p:nvPr/>
        </p:nvSpPr>
        <p:spPr>
          <a:xfrm>
            <a:off x="1851025" y="1619250"/>
            <a:ext cx="6999288" cy="3967163"/>
          </a:xfrm>
          <a:prstGeom prst="rect">
            <a:avLst/>
          </a:prstGeom>
          <a:noFill/>
          <a:ln w="9525">
            <a:noFill/>
          </a:ln>
        </p:spPr>
        <p:txBody>
          <a:bodyPr wrap="none" anchor="ctr" anchorCtr="0">
            <a:spAutoFit/>
          </a:bodyPr>
          <a:p>
            <a:endParaRPr lang="zh-CN" altLang="en-US" sz="1600" dirty="0">
              <a:latin typeface="Arial" panose="020B0604020202020204" pitchFamily="34" charset="0"/>
              <a:ea typeface="宋体" panose="02010600030101010101" pitchFamily="2" charset="-122"/>
            </a:endParaRPr>
          </a:p>
          <a:p>
            <a:endParaRPr lang="zh-CN" altLang="en-US" sz="1600" dirty="0">
              <a:latin typeface="Arial" panose="020B0604020202020204" pitchFamily="34" charset="0"/>
              <a:ea typeface="宋体" panose="02010600030101010101" pitchFamily="2" charset="-122"/>
            </a:endParaRPr>
          </a:p>
          <a:p>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DataOutputStream  </a:t>
            </a:r>
            <a:r>
              <a:rPr lang="en-US" altLang="zh-CN" sz="1800" dirty="0">
                <a:solidFill>
                  <a:srgbClr val="FF3300"/>
                </a:solidFill>
                <a:latin typeface="Arial" panose="020B0604020202020204" pitchFamily="34" charset="0"/>
                <a:ea typeface="宋体" panose="02010600030101010101" pitchFamily="2" charset="-122"/>
              </a:rPr>
              <a:t>outToClient</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new DataOutputStream</a:t>
            </a:r>
            <a:r>
              <a:rPr lang="en-US" altLang="zh-CN" sz="1600" dirty="0">
                <a:latin typeface="Arial" panose="020B0604020202020204" pitchFamily="34" charset="0"/>
                <a:ea typeface="宋体" panose="02010600030101010101" pitchFamily="2" charset="-122"/>
              </a:rPr>
              <a:t>(connectionSocket.getOutputStream());</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ClientSentence = </a:t>
            </a:r>
            <a:r>
              <a:rPr lang="en-US" altLang="zh-CN" sz="1800" dirty="0">
                <a:solidFill>
                  <a:srgbClr val="FF3300"/>
                </a:solidFill>
                <a:latin typeface="Arial" panose="020B0604020202020204" pitchFamily="34" charset="0"/>
                <a:ea typeface="宋体" panose="02010600030101010101" pitchFamily="2" charset="-122"/>
              </a:rPr>
              <a:t>inFromClient.readLine();</a:t>
            </a: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capitalizedSentence = ClientSentence.toUpperCase() + '\n'; </a:t>
            </a:r>
            <a:endParaRPr lang="en-US" altLang="zh-CN" sz="1800" dirty="0">
              <a:latin typeface="Arial" panose="020B0604020202020204" pitchFamily="34" charset="0"/>
              <a:ea typeface="宋体" panose="02010600030101010101" pitchFamily="2" charset="-122"/>
            </a:endParaRPr>
          </a:p>
          <a:p>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a:t>
            </a:r>
            <a:r>
              <a:rPr lang="en-US" altLang="zh-CN" sz="1800" dirty="0">
                <a:solidFill>
                  <a:srgbClr val="FF3300"/>
                </a:solidFill>
                <a:latin typeface="Arial" panose="020B0604020202020204" pitchFamily="34" charset="0"/>
                <a:ea typeface="宋体" panose="02010600030101010101" pitchFamily="2" charset="-122"/>
              </a:rPr>
              <a:t>outToClient.writeBytes</a:t>
            </a:r>
            <a:r>
              <a:rPr lang="en-US" altLang="zh-CN" sz="1800" dirty="0">
                <a:latin typeface="Arial" panose="020B0604020202020204" pitchFamily="34" charset="0"/>
                <a:ea typeface="宋体" panose="02010600030101010101" pitchFamily="2" charset="-122"/>
              </a:rPr>
              <a:t>(capitalizedSentence);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    } </a:t>
            </a:r>
            <a:endParaRPr lang="en-US" altLang="zh-CN" sz="1800" dirty="0">
              <a:latin typeface="Arial" panose="020B0604020202020204" pitchFamily="34" charset="0"/>
              <a:ea typeface="宋体" panose="02010600030101010101" pitchFamily="2" charset="-122"/>
            </a:endParaRPr>
          </a:p>
          <a:p>
            <a:r>
              <a:rPr lang="en-US" altLang="zh-CN" sz="1800" dirty="0">
                <a:latin typeface="Arial" panose="020B0604020202020204" pitchFamily="34"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95236" name="Text Box 4"/>
          <p:cNvSpPr txBox="1"/>
          <p:nvPr/>
        </p:nvSpPr>
        <p:spPr>
          <a:xfrm>
            <a:off x="215900" y="2752725"/>
            <a:ext cx="1874838" cy="731838"/>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从套接字读入客户机来的数据</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5237" name="Text Box 5"/>
          <p:cNvSpPr txBox="1"/>
          <p:nvPr/>
        </p:nvSpPr>
        <p:spPr>
          <a:xfrm>
            <a:off x="554038" y="1871663"/>
            <a:ext cx="1666875"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生成输出流，与套接字联系</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5238" name="Freeform 6"/>
          <p:cNvSpPr/>
          <p:nvPr/>
        </p:nvSpPr>
        <p:spPr>
          <a:xfrm>
            <a:off x="2028825" y="2814638"/>
            <a:ext cx="161925" cy="53340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5239" name="Line 7"/>
          <p:cNvSpPr/>
          <p:nvPr/>
        </p:nvSpPr>
        <p:spPr>
          <a:xfrm flipV="1">
            <a:off x="2209800" y="3114675"/>
            <a:ext cx="333375" cy="4763"/>
          </a:xfrm>
          <a:prstGeom prst="line">
            <a:avLst/>
          </a:prstGeom>
          <a:ln w="28575" cap="flat" cmpd="sng">
            <a:solidFill>
              <a:schemeClr val="accent2"/>
            </a:solidFill>
            <a:prstDash val="solid"/>
            <a:headEnd type="none" w="med" len="med"/>
            <a:tailEnd type="triangle" w="med" len="med"/>
          </a:ln>
        </p:spPr>
      </p:sp>
      <p:sp>
        <p:nvSpPr>
          <p:cNvPr id="95240" name="Freeform 8"/>
          <p:cNvSpPr/>
          <p:nvPr/>
        </p:nvSpPr>
        <p:spPr>
          <a:xfrm>
            <a:off x="2057400" y="1795463"/>
            <a:ext cx="133350" cy="8143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5241" name="Line 9"/>
          <p:cNvSpPr/>
          <p:nvPr/>
        </p:nvSpPr>
        <p:spPr>
          <a:xfrm flipV="1">
            <a:off x="2214563" y="2486025"/>
            <a:ext cx="285750" cy="14288"/>
          </a:xfrm>
          <a:prstGeom prst="line">
            <a:avLst/>
          </a:prstGeom>
          <a:ln w="28575" cap="flat" cmpd="sng">
            <a:solidFill>
              <a:schemeClr val="accent2"/>
            </a:solidFill>
            <a:prstDash val="solid"/>
            <a:headEnd type="none" w="med" len="med"/>
            <a:tailEnd type="triangle" w="med" len="med"/>
          </a:ln>
        </p:spPr>
      </p:sp>
      <p:sp>
        <p:nvSpPr>
          <p:cNvPr id="95242" name="Text Box 10"/>
          <p:cNvSpPr txBox="1"/>
          <p:nvPr/>
        </p:nvSpPr>
        <p:spPr>
          <a:xfrm>
            <a:off x="287338" y="3927475"/>
            <a:ext cx="1593850" cy="641350"/>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向套接字输出数据到客户机</a:t>
            </a:r>
            <a:endParaRPr lang="zh-CN" altLang="en-US" sz="1800" dirty="0">
              <a:latin typeface="Times New Roman" panose="02020603050405020304" pitchFamily="18" charset="0"/>
              <a:ea typeface="宋体" panose="02010600030101010101" pitchFamily="2" charset="-122"/>
            </a:endParaRPr>
          </a:p>
        </p:txBody>
      </p:sp>
      <p:sp>
        <p:nvSpPr>
          <p:cNvPr id="95243" name="Freeform 11"/>
          <p:cNvSpPr/>
          <p:nvPr/>
        </p:nvSpPr>
        <p:spPr>
          <a:xfrm>
            <a:off x="2009775" y="3957638"/>
            <a:ext cx="161925" cy="57150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5244" name="Line 12"/>
          <p:cNvSpPr/>
          <p:nvPr/>
        </p:nvSpPr>
        <p:spPr>
          <a:xfrm flipV="1">
            <a:off x="2190750" y="4219575"/>
            <a:ext cx="333375" cy="4763"/>
          </a:xfrm>
          <a:prstGeom prst="line">
            <a:avLst/>
          </a:prstGeom>
          <a:ln w="28575" cap="flat" cmpd="sng">
            <a:solidFill>
              <a:schemeClr val="accent2"/>
            </a:solidFill>
            <a:prstDash val="solid"/>
            <a:headEnd type="none" w="med" len="med"/>
            <a:tailEnd type="triangle" w="med" len="med"/>
          </a:ln>
        </p:spPr>
      </p:sp>
      <p:sp>
        <p:nvSpPr>
          <p:cNvPr id="95245" name="Text Box 13"/>
          <p:cNvSpPr txBox="1"/>
          <p:nvPr/>
        </p:nvSpPr>
        <p:spPr>
          <a:xfrm>
            <a:off x="3209925" y="4889500"/>
            <a:ext cx="2720975" cy="915988"/>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循环结束，返回并等待另一个客户机连接</a:t>
            </a:r>
            <a:endParaRPr lang="zh-CN" altLang="en-US" sz="1800" dirty="0">
              <a:solidFill>
                <a:schemeClr val="accent2"/>
              </a:solidFill>
              <a:latin typeface="Times New Roman" panose="02020603050405020304" pitchFamily="18" charset="0"/>
              <a:ea typeface="宋体" panose="02010600030101010101" pitchFamily="2" charset="-122"/>
            </a:endParaRPr>
          </a:p>
          <a:p>
            <a:endParaRPr lang="en-US" altLang="zh-CN" sz="1800" dirty="0">
              <a:solidFill>
                <a:schemeClr val="accent2"/>
              </a:solidFill>
              <a:latin typeface="Times New Roman" panose="02020603050405020304" pitchFamily="18" charset="0"/>
              <a:ea typeface="宋体" panose="02010600030101010101" pitchFamily="2" charset="-122"/>
            </a:endParaRPr>
          </a:p>
        </p:txBody>
      </p:sp>
      <p:sp>
        <p:nvSpPr>
          <p:cNvPr id="95246" name="Freeform 14"/>
          <p:cNvSpPr/>
          <p:nvPr/>
        </p:nvSpPr>
        <p:spPr>
          <a:xfrm rot="10784139">
            <a:off x="3190875" y="4879975"/>
            <a:ext cx="160338" cy="912813"/>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5247" name="Line 15"/>
          <p:cNvSpPr/>
          <p:nvPr/>
        </p:nvSpPr>
        <p:spPr>
          <a:xfrm flipH="1" flipV="1">
            <a:off x="2543175" y="4552950"/>
            <a:ext cx="647700" cy="604838"/>
          </a:xfrm>
          <a:prstGeom prst="line">
            <a:avLst/>
          </a:prstGeom>
          <a:ln w="28575" cap="flat" cmpd="sng">
            <a:solidFill>
              <a:schemeClr val="accent2"/>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241"/>
                                        </p:tgtEl>
                                        <p:attrNameLst>
                                          <p:attrName>style.visibility</p:attrName>
                                        </p:attrNameLst>
                                      </p:cBhvr>
                                      <p:to>
                                        <p:strVal val="visible"/>
                                      </p:to>
                                    </p:set>
                                    <p:animEffect transition="in" filter="blinds(horizontal)">
                                      <p:cBhvr>
                                        <p:cTn id="7" dur="500"/>
                                        <p:tgtEl>
                                          <p:spTgt spid="95241"/>
                                        </p:tgtEl>
                                      </p:cBhvr>
                                    </p:animEffect>
                                  </p:childTnLst>
                                </p:cTn>
                              </p:par>
                              <p:par>
                                <p:cTn id="8" presetID="3" presetClass="entr" presetSubtype="10" fill="hold" nodeType="withEffect">
                                  <p:stCondLst>
                                    <p:cond delay="0"/>
                                  </p:stCondLst>
                                  <p:childTnLst>
                                    <p:set>
                                      <p:cBhvr>
                                        <p:cTn id="9" dur="1" fill="hold">
                                          <p:stCondLst>
                                            <p:cond delay="0"/>
                                          </p:stCondLst>
                                        </p:cTn>
                                        <p:tgtEl>
                                          <p:spTgt spid="95240"/>
                                        </p:tgtEl>
                                        <p:attrNameLst>
                                          <p:attrName>style.visibility</p:attrName>
                                        </p:attrNameLst>
                                      </p:cBhvr>
                                      <p:to>
                                        <p:strVal val="visible"/>
                                      </p:to>
                                    </p:set>
                                    <p:animEffect transition="in" filter="blinds(horizontal)">
                                      <p:cBhvr>
                                        <p:cTn id="10" dur="500"/>
                                        <p:tgtEl>
                                          <p:spTgt spid="9524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5237"/>
                                        </p:tgtEl>
                                        <p:attrNameLst>
                                          <p:attrName>style.visibility</p:attrName>
                                        </p:attrNameLst>
                                      </p:cBhvr>
                                      <p:to>
                                        <p:strVal val="visible"/>
                                      </p:to>
                                    </p:set>
                                    <p:animEffect transition="in" filter="blinds(horizontal)">
                                      <p:cBhvr>
                                        <p:cTn id="13" dur="500"/>
                                        <p:tgtEl>
                                          <p:spTgt spid="9523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95239"/>
                                        </p:tgtEl>
                                        <p:attrNameLst>
                                          <p:attrName>style.visibility</p:attrName>
                                        </p:attrNameLst>
                                      </p:cBhvr>
                                      <p:to>
                                        <p:strVal val="visible"/>
                                      </p:to>
                                    </p:set>
                                    <p:animEffect transition="in" filter="dissolve">
                                      <p:cBhvr>
                                        <p:cTn id="18" dur="500"/>
                                        <p:tgtEl>
                                          <p:spTgt spid="95239"/>
                                        </p:tgtEl>
                                      </p:cBhvr>
                                    </p:animEffect>
                                  </p:childTnLst>
                                </p:cTn>
                              </p:par>
                              <p:par>
                                <p:cTn id="19" presetID="9" presetClass="entr" presetSubtype="0" fill="hold" nodeType="withEffect">
                                  <p:stCondLst>
                                    <p:cond delay="0"/>
                                  </p:stCondLst>
                                  <p:childTnLst>
                                    <p:set>
                                      <p:cBhvr>
                                        <p:cTn id="20" dur="1" fill="hold">
                                          <p:stCondLst>
                                            <p:cond delay="0"/>
                                          </p:stCondLst>
                                        </p:cTn>
                                        <p:tgtEl>
                                          <p:spTgt spid="95238"/>
                                        </p:tgtEl>
                                        <p:attrNameLst>
                                          <p:attrName>style.visibility</p:attrName>
                                        </p:attrNameLst>
                                      </p:cBhvr>
                                      <p:to>
                                        <p:strVal val="visible"/>
                                      </p:to>
                                    </p:set>
                                    <p:animEffect transition="in" filter="dissolve">
                                      <p:cBhvr>
                                        <p:cTn id="21" dur="500"/>
                                        <p:tgtEl>
                                          <p:spTgt spid="9523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95236"/>
                                        </p:tgtEl>
                                        <p:attrNameLst>
                                          <p:attrName>style.visibility</p:attrName>
                                        </p:attrNameLst>
                                      </p:cBhvr>
                                      <p:to>
                                        <p:strVal val="visible"/>
                                      </p:to>
                                    </p:set>
                                    <p:animEffect transition="in" filter="dissolve">
                                      <p:cBhvr>
                                        <p:cTn id="24" dur="500"/>
                                        <p:tgtEl>
                                          <p:spTgt spid="9523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5244"/>
                                        </p:tgtEl>
                                        <p:attrNameLst>
                                          <p:attrName>style.visibility</p:attrName>
                                        </p:attrNameLst>
                                      </p:cBhvr>
                                      <p:to>
                                        <p:strVal val="visible"/>
                                      </p:to>
                                    </p:set>
                                    <p:animEffect transition="in" filter="blinds(horizontal)">
                                      <p:cBhvr>
                                        <p:cTn id="29" dur="500"/>
                                        <p:tgtEl>
                                          <p:spTgt spid="95244"/>
                                        </p:tgtEl>
                                      </p:cBhvr>
                                    </p:animEffect>
                                  </p:childTnLst>
                                </p:cTn>
                              </p:par>
                              <p:par>
                                <p:cTn id="30" presetID="3" presetClass="entr" presetSubtype="10" fill="hold" nodeType="withEffect">
                                  <p:stCondLst>
                                    <p:cond delay="0"/>
                                  </p:stCondLst>
                                  <p:childTnLst>
                                    <p:set>
                                      <p:cBhvr>
                                        <p:cTn id="31" dur="1" fill="hold">
                                          <p:stCondLst>
                                            <p:cond delay="0"/>
                                          </p:stCondLst>
                                        </p:cTn>
                                        <p:tgtEl>
                                          <p:spTgt spid="95243"/>
                                        </p:tgtEl>
                                        <p:attrNameLst>
                                          <p:attrName>style.visibility</p:attrName>
                                        </p:attrNameLst>
                                      </p:cBhvr>
                                      <p:to>
                                        <p:strVal val="visible"/>
                                      </p:to>
                                    </p:set>
                                    <p:animEffect transition="in" filter="blinds(horizontal)">
                                      <p:cBhvr>
                                        <p:cTn id="32" dur="500"/>
                                        <p:tgtEl>
                                          <p:spTgt spid="9524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95242"/>
                                        </p:tgtEl>
                                        <p:attrNameLst>
                                          <p:attrName>style.visibility</p:attrName>
                                        </p:attrNameLst>
                                      </p:cBhvr>
                                      <p:to>
                                        <p:strVal val="visible"/>
                                      </p:to>
                                    </p:set>
                                    <p:animEffect transition="in" filter="blinds(horizontal)">
                                      <p:cBhvr>
                                        <p:cTn id="35" dur="500"/>
                                        <p:tgtEl>
                                          <p:spTgt spid="9524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95247"/>
                                        </p:tgtEl>
                                        <p:attrNameLst>
                                          <p:attrName>style.visibility</p:attrName>
                                        </p:attrNameLst>
                                      </p:cBhvr>
                                      <p:to>
                                        <p:strVal val="visible"/>
                                      </p:to>
                                    </p:set>
                                    <p:animEffect transition="in" filter="dissolve">
                                      <p:cBhvr>
                                        <p:cTn id="40" dur="500"/>
                                        <p:tgtEl>
                                          <p:spTgt spid="95247"/>
                                        </p:tgtEl>
                                      </p:cBhvr>
                                    </p:animEffect>
                                  </p:childTnLst>
                                </p:cTn>
                              </p:par>
                              <p:par>
                                <p:cTn id="41" presetID="9" presetClass="entr" presetSubtype="0" fill="hold" nodeType="withEffect">
                                  <p:stCondLst>
                                    <p:cond delay="0"/>
                                  </p:stCondLst>
                                  <p:childTnLst>
                                    <p:set>
                                      <p:cBhvr>
                                        <p:cTn id="42" dur="1" fill="hold">
                                          <p:stCondLst>
                                            <p:cond delay="0"/>
                                          </p:stCondLst>
                                        </p:cTn>
                                        <p:tgtEl>
                                          <p:spTgt spid="95246"/>
                                        </p:tgtEl>
                                        <p:attrNameLst>
                                          <p:attrName>style.visibility</p:attrName>
                                        </p:attrNameLst>
                                      </p:cBhvr>
                                      <p:to>
                                        <p:strVal val="visible"/>
                                      </p:to>
                                    </p:set>
                                    <p:animEffect transition="in" filter="dissolve">
                                      <p:cBhvr>
                                        <p:cTn id="43" dur="500"/>
                                        <p:tgtEl>
                                          <p:spTgt spid="9524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95245"/>
                                        </p:tgtEl>
                                        <p:attrNameLst>
                                          <p:attrName>style.visibility</p:attrName>
                                        </p:attrNameLst>
                                      </p:cBhvr>
                                      <p:to>
                                        <p:strVal val="visible"/>
                                      </p:to>
                                    </p:set>
                                    <p:animEffect transition="in" filter="dissolve">
                                      <p:cBhvr>
                                        <p:cTn id="46" dur="500"/>
                                        <p:tgtEl>
                                          <p:spTgt spid="95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p:bldP spid="95237" grpId="0"/>
      <p:bldP spid="95242" grpId="0"/>
      <p:bldP spid="9524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3"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35000"/>
              </a:lnSpc>
              <a:spcBef>
                <a:spcPts val="300"/>
              </a:spcBef>
              <a:spcAft>
                <a:spcPts val="600"/>
              </a:spcAft>
              <a:buClr>
                <a:srgbClr val="A04DA3"/>
              </a:buClr>
              <a:buSzTx/>
              <a:buFont typeface="Wingdings" panose="05000000000000000000" pitchFamily="2" charset="2"/>
              <a:buChar char="ü"/>
              <a:defRPr/>
            </a:pPr>
            <a:r>
              <a:rPr kumimoji="0" lang="en-US" altLang="zh-CN" sz="2000" b="1" i="0" u="none" strike="noStrike" kern="1200" cap="none" spc="0" normalizeH="0" baseline="0" noProof="0">
                <a:ln>
                  <a:noFill/>
                </a:ln>
                <a:solidFill>
                  <a:schemeClr val="tx1"/>
                </a:solidFill>
                <a:effectLst/>
                <a:uLnTx/>
                <a:uFillTx/>
                <a:latin typeface="+mj-ea"/>
                <a:ea typeface="+mj-ea"/>
                <a:cs typeface="+mn-cs"/>
              </a:rPr>
              <a:t>UDP</a:t>
            </a:r>
            <a:r>
              <a:rPr kumimoji="0" lang="zh-CN" altLang="en-US" sz="2000" b="1" i="0" u="none" strike="noStrike" kern="1200" cap="none" spc="0" normalizeH="0" baseline="0" noProof="0">
                <a:ln>
                  <a:noFill/>
                </a:ln>
                <a:solidFill>
                  <a:schemeClr val="tx1"/>
                </a:solidFill>
                <a:effectLst/>
                <a:uLnTx/>
                <a:uFillTx/>
                <a:latin typeface="+mj-ea"/>
                <a:ea typeface="+mj-ea"/>
                <a:cs typeface="+mn-cs"/>
              </a:rPr>
              <a:t>是一种无连接的服务，即</a:t>
            </a:r>
            <a:r>
              <a:rPr kumimoji="0" lang="zh-CN" altLang="en-US" sz="2000" b="1" i="0" u="none" strike="noStrike" kern="1200" cap="none" spc="0" normalizeH="0" baseline="0" noProof="0">
                <a:ln>
                  <a:noFill/>
                </a:ln>
                <a:solidFill>
                  <a:srgbClr val="FF3300"/>
                </a:solidFill>
                <a:effectLst/>
                <a:uLnTx/>
                <a:uFillTx/>
                <a:latin typeface="+mj-ea"/>
                <a:ea typeface="+mj-ea"/>
                <a:cs typeface="+mn-cs"/>
              </a:rPr>
              <a:t>在两个进程之间没有创建管道时所需的初始握手阶段</a:t>
            </a:r>
            <a:r>
              <a:rPr kumimoji="0" lang="zh-CN" altLang="en-US" sz="2000" b="1" i="0" u="none" strike="noStrike" kern="1200" cap="none" spc="0" normalizeH="0" baseline="0" noProof="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进程之间的数据传递以</a:t>
            </a:r>
            <a:r>
              <a:rPr kumimoji="0" lang="zh-CN" altLang="en-US" sz="2000" b="1" i="0" u="none" strike="noStrike" kern="1200" cap="none" spc="0" normalizeH="0" baseline="0" noProof="0">
                <a:ln>
                  <a:noFill/>
                </a:ln>
                <a:solidFill>
                  <a:srgbClr val="FF3300"/>
                </a:solidFill>
                <a:effectLst/>
                <a:uLnTx/>
                <a:uFillTx/>
                <a:latin typeface="+mj-ea"/>
                <a:ea typeface="+mj-ea"/>
                <a:cs typeface="+mn-cs"/>
              </a:rPr>
              <a:t>分组</a:t>
            </a:r>
            <a:r>
              <a:rPr kumimoji="0" lang="zh-CN" altLang="en-US" sz="2000" b="1" i="0" u="none" strike="noStrike" kern="1200" cap="none" spc="0" normalizeH="0" baseline="0" noProof="0">
                <a:ln>
                  <a:noFill/>
                </a:ln>
                <a:solidFill>
                  <a:schemeClr val="tx1"/>
                </a:solidFill>
                <a:effectLst/>
                <a:uLnTx/>
                <a:uFillTx/>
                <a:latin typeface="+mj-ea"/>
                <a:ea typeface="+mj-ea"/>
                <a:cs typeface="+mn-cs"/>
              </a:rPr>
              <a:t>为单位进行。</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分组中含目的进程地址（</a:t>
            </a:r>
            <a:r>
              <a:rPr kumimoji="0" lang="zh-CN" altLang="en-US" sz="2000" b="1" i="0" u="none" strike="noStrike" kern="1200" cap="none" spc="0" normalizeH="0" baseline="0" noProof="0">
                <a:ln>
                  <a:noFill/>
                </a:ln>
                <a:solidFill>
                  <a:srgbClr val="FF3300"/>
                </a:solidFill>
                <a:effectLst/>
                <a:uLnTx/>
                <a:uFillTx/>
                <a:latin typeface="+mj-ea"/>
                <a:ea typeface="+mj-ea"/>
                <a:cs typeface="+mn-cs"/>
              </a:rPr>
              <a:t>主机</a:t>
            </a:r>
            <a:r>
              <a:rPr kumimoji="0" lang="en-US" altLang="zh-CN" sz="2000" b="1" i="0" u="none" strike="noStrike" kern="1200" cap="none" spc="0" normalizeH="0" baseline="0" noProof="0">
                <a:ln>
                  <a:noFill/>
                </a:ln>
                <a:solidFill>
                  <a:srgbClr val="FF3300"/>
                </a:solidFill>
                <a:effectLst/>
                <a:uLnTx/>
                <a:uFillTx/>
                <a:latin typeface="+mj-ea"/>
                <a:ea typeface="+mj-ea"/>
                <a:cs typeface="+mn-cs"/>
              </a:rPr>
              <a:t>IP</a:t>
            </a:r>
            <a:r>
              <a:rPr kumimoji="0" lang="zh-CN" altLang="en-US" sz="2000" b="1" i="0" u="none" strike="noStrike" kern="1200" cap="none" spc="0" normalizeH="0" baseline="0" noProof="0">
                <a:ln>
                  <a:noFill/>
                </a:ln>
                <a:solidFill>
                  <a:srgbClr val="FF3300"/>
                </a:solidFill>
                <a:effectLst/>
                <a:uLnTx/>
                <a:uFillTx/>
                <a:latin typeface="+mj-ea"/>
                <a:ea typeface="+mj-ea"/>
                <a:cs typeface="+mn-cs"/>
              </a:rPr>
              <a:t>地址和端口号</a:t>
            </a:r>
            <a:r>
              <a:rPr kumimoji="0" lang="zh-CN" altLang="en-US" sz="2000" b="1" i="0" u="none" strike="noStrike" kern="1200" cap="none" spc="0" normalizeH="0" baseline="0" noProof="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5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提供不可靠的传输服务。</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p:txBody>
      </p:sp>
      <p:sp>
        <p:nvSpPr>
          <p:cNvPr id="496642"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2.8  UDP</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套接字编程</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56324"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4531"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通信进程之间没有初始握手，</a:t>
            </a:r>
            <a:r>
              <a:rPr kumimoji="0" lang="zh-CN" altLang="en-US" sz="2000" b="1" i="0" u="none" strike="noStrike" kern="1200" cap="none" spc="0" normalizeH="0" baseline="0" noProof="0">
                <a:ln>
                  <a:noFill/>
                </a:ln>
                <a:solidFill>
                  <a:srgbClr val="FF3300"/>
                </a:solidFill>
                <a:effectLst/>
                <a:uLnTx/>
                <a:uFillTx/>
                <a:latin typeface="+mj-ea"/>
                <a:ea typeface="+mj-ea"/>
                <a:cs typeface="+mn-cs"/>
              </a:rPr>
              <a:t>不需要欢迎套接字</a:t>
            </a:r>
            <a:r>
              <a:rPr kumimoji="0" lang="zh-CN" altLang="en-US" sz="2000" b="1" i="0" u="none" strike="noStrike" kern="1200" cap="none" spc="0" normalizeH="0" baseline="0" noProof="0">
                <a:ln>
                  <a:noFill/>
                </a:ln>
                <a:solidFill>
                  <a:schemeClr val="tx1"/>
                </a:solidFill>
                <a:effectLst/>
                <a:uLnTx/>
                <a:uFillTx/>
                <a:latin typeface="+mj-ea"/>
                <a:ea typeface="+mj-ea"/>
                <a:cs typeface="+mn-cs"/>
              </a:rPr>
              <a:t>；</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rgbClr val="FF3300"/>
                </a:solidFill>
                <a:effectLst/>
                <a:uLnTx/>
                <a:uFillTx/>
                <a:latin typeface="+mj-ea"/>
                <a:ea typeface="+mj-ea"/>
                <a:cs typeface="+mn-cs"/>
              </a:rPr>
              <a:t>没有流</a:t>
            </a:r>
            <a:r>
              <a:rPr kumimoji="0" lang="zh-CN" altLang="en-US" sz="2000" b="1" i="0" u="none" strike="noStrike" kern="1200" cap="none" spc="0" normalizeH="0" baseline="0" noProof="0">
                <a:ln>
                  <a:noFill/>
                </a:ln>
                <a:solidFill>
                  <a:schemeClr val="tx1"/>
                </a:solidFill>
                <a:effectLst/>
                <a:uLnTx/>
                <a:uFillTx/>
                <a:latin typeface="+mj-ea"/>
                <a:ea typeface="+mj-ea"/>
                <a:cs typeface="+mn-cs"/>
              </a:rPr>
              <a:t>与套接字相联系；</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发送主机将信息字节</a:t>
            </a:r>
            <a:r>
              <a:rPr kumimoji="0" lang="zh-CN" altLang="en-US" sz="2000" b="1" i="0" u="none" strike="noStrike" kern="1200" cap="none" spc="0" normalizeH="0" baseline="0" noProof="0">
                <a:ln>
                  <a:noFill/>
                </a:ln>
                <a:solidFill>
                  <a:srgbClr val="FF3300"/>
                </a:solidFill>
                <a:effectLst/>
                <a:uLnTx/>
                <a:uFillTx/>
                <a:latin typeface="+mj-ea"/>
                <a:ea typeface="+mj-ea"/>
                <a:cs typeface="+mn-cs"/>
              </a:rPr>
              <a:t>封装生成分组</a:t>
            </a:r>
            <a:r>
              <a:rPr kumimoji="0" lang="zh-CN" altLang="en-US" sz="2000" b="1" i="0" u="none" strike="noStrike" kern="1200" cap="none" spc="0" normalizeH="0" baseline="0" noProof="0">
                <a:ln>
                  <a:noFill/>
                </a:ln>
                <a:solidFill>
                  <a:schemeClr val="tx1"/>
                </a:solidFill>
                <a:effectLst/>
                <a:uLnTx/>
                <a:uFillTx/>
                <a:latin typeface="+mj-ea"/>
                <a:ea typeface="+mj-ea"/>
                <a:cs typeface="+mn-cs"/>
              </a:rPr>
              <a:t>，再发送；</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30000"/>
              </a:lnSpc>
              <a:spcBef>
                <a:spcPts val="300"/>
              </a:spcBef>
              <a:spcAft>
                <a:spcPts val="600"/>
              </a:spcAft>
              <a:buClr>
                <a:srgbClr val="A04DA3"/>
              </a:buClr>
              <a:buSzTx/>
              <a:buFont typeface="Wingdings" panose="05000000000000000000" pitchFamily="2" charset="2"/>
              <a:buChar char="ü"/>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接收进程</a:t>
            </a:r>
            <a:r>
              <a:rPr kumimoji="0" lang="zh-CN" altLang="en-US" sz="2000" b="1" i="0" u="none" strike="noStrike" kern="1200" cap="none" spc="0" normalizeH="0" baseline="0" noProof="0">
                <a:ln>
                  <a:noFill/>
                </a:ln>
                <a:solidFill>
                  <a:srgbClr val="FF3300"/>
                </a:solidFill>
                <a:effectLst/>
                <a:uLnTx/>
                <a:uFillTx/>
                <a:latin typeface="+mj-ea"/>
                <a:ea typeface="+mj-ea"/>
                <a:cs typeface="+mn-cs"/>
              </a:rPr>
              <a:t>解封收到的分组</a:t>
            </a:r>
            <a:r>
              <a:rPr kumimoji="0" lang="zh-CN" altLang="en-US" sz="2000" b="1" i="0" u="none" strike="noStrike" kern="1200" cap="none" spc="0" normalizeH="0" baseline="0" noProof="0">
                <a:ln>
                  <a:noFill/>
                </a:ln>
                <a:solidFill>
                  <a:schemeClr val="tx1"/>
                </a:solidFill>
                <a:effectLst/>
                <a:uLnTx/>
                <a:uFillTx/>
                <a:latin typeface="+mj-ea"/>
                <a:ea typeface="+mj-ea"/>
                <a:cs typeface="+mn-cs"/>
              </a:rPr>
              <a:t>，获得信息字节。</a:t>
            </a:r>
            <a:endParaRPr kumimoji="0" lang="zh-CN" altLang="en-US" sz="2000" b="0" i="0" u="none" strike="noStrike" kern="1200" cap="none" spc="0" normalizeH="0" baseline="0" noProof="0">
              <a:ln>
                <a:noFill/>
              </a:ln>
              <a:solidFill>
                <a:schemeClr val="tx1"/>
              </a:solidFill>
              <a:effectLst/>
              <a:uLnTx/>
              <a:uFillTx/>
              <a:latin typeface="+mj-ea"/>
              <a:ea typeface="+mj-ea"/>
              <a:cs typeface="+mn-cs"/>
            </a:endParaRPr>
          </a:p>
        </p:txBody>
      </p:sp>
      <p:sp>
        <p:nvSpPr>
          <p:cNvPr id="534530"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编程说明：</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57348"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noChangeArrowheads="1"/>
          </p:cNvSpPr>
          <p:nvPr>
            <p:ph type="title"/>
          </p:nvPr>
        </p:nvSpPr>
        <p:spPr>
          <a:xfrm>
            <a:off x="325438" y="692150"/>
            <a:ext cx="8229600" cy="8064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服务器程序交互</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58371"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97283" name="Group 3"/>
          <p:cNvGrpSpPr/>
          <p:nvPr/>
        </p:nvGrpSpPr>
        <p:grpSpPr>
          <a:xfrm>
            <a:off x="1276350" y="3324225"/>
            <a:ext cx="5551488" cy="2544763"/>
            <a:chOff x="804" y="2094"/>
            <a:chExt cx="3497" cy="1603"/>
          </a:xfrm>
        </p:grpSpPr>
        <p:sp>
          <p:nvSpPr>
            <p:cNvPr id="58395" name="Freeform 4"/>
            <p:cNvSpPr/>
            <p:nvPr/>
          </p:nvSpPr>
          <p:spPr>
            <a:xfrm>
              <a:off x="804" y="2094"/>
              <a:ext cx="552" cy="1602"/>
            </a:xfrm>
            <a:custGeom>
              <a:avLst/>
              <a:gdLst/>
              <a:ahLst/>
              <a:cxnLst>
                <a:cxn ang="0">
                  <a:pos x="1235" y="215"/>
                </a:cxn>
                <a:cxn ang="0">
                  <a:pos x="1235" y="231"/>
                </a:cxn>
                <a:cxn ang="0">
                  <a:pos x="0" y="231"/>
                </a:cxn>
                <a:cxn ang="0">
                  <a:pos x="0" y="0"/>
                </a:cxn>
                <a:cxn ang="0">
                  <a:pos x="1010" y="0"/>
                </a:cxn>
              </a:cxnLst>
              <a:pathLst>
                <a:path w="492" h="2112">
                  <a:moveTo>
                    <a:pt x="492" y="1968"/>
                  </a:moveTo>
                  <a:lnTo>
                    <a:pt x="492" y="2112"/>
                  </a:lnTo>
                  <a:lnTo>
                    <a:pt x="0" y="2112"/>
                  </a:lnTo>
                  <a:lnTo>
                    <a:pt x="0" y="0"/>
                  </a:lnTo>
                  <a:lnTo>
                    <a:pt x="402" y="0"/>
                  </a:lnTo>
                </a:path>
              </a:pathLst>
            </a:custGeom>
            <a:noFill/>
            <a:ln w="28575" cap="flat" cmpd="sng">
              <a:solidFill>
                <a:schemeClr val="accent2">
                  <a:alpha val="100000"/>
                </a:schemeClr>
              </a:solidFill>
              <a:prstDash val="solid"/>
              <a:round/>
              <a:headEnd type="none" w="med" len="med"/>
              <a:tailEnd type="triangle" w="med" len="med"/>
            </a:ln>
          </p:spPr>
          <p:txBody>
            <a:bodyPr/>
            <a:p>
              <a:endParaRPr lang="zh-CN" altLang="en-US"/>
            </a:p>
          </p:txBody>
        </p:sp>
        <p:sp>
          <p:nvSpPr>
            <p:cNvPr id="58396" name="Text Box 5"/>
            <p:cNvSpPr txBox="1"/>
            <p:nvPr/>
          </p:nvSpPr>
          <p:spPr>
            <a:xfrm>
              <a:off x="3509" y="3371"/>
              <a:ext cx="792"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关闭</a:t>
              </a:r>
              <a:endParaRPr lang="zh-CN" altLang="en-US" sz="1400" dirty="0">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ClientSocket</a:t>
              </a:r>
              <a:endParaRPr lang="zh-CN" altLang="en-US" sz="1400" dirty="0">
                <a:solidFill>
                  <a:srgbClr val="FF0000"/>
                </a:solidFill>
                <a:latin typeface="Arial" panose="020B0604020202020204" pitchFamily="34" charset="0"/>
                <a:ea typeface="宋体" panose="02010600030101010101" pitchFamily="2" charset="-122"/>
              </a:endParaRPr>
            </a:p>
          </p:txBody>
        </p:sp>
        <p:sp>
          <p:nvSpPr>
            <p:cNvPr id="58397" name="Line 6"/>
            <p:cNvSpPr/>
            <p:nvPr/>
          </p:nvSpPr>
          <p:spPr>
            <a:xfrm>
              <a:off x="3936" y="3318"/>
              <a:ext cx="0" cy="204"/>
            </a:xfrm>
            <a:prstGeom prst="line">
              <a:avLst/>
            </a:prstGeom>
            <a:ln w="28575" cap="flat" cmpd="sng">
              <a:solidFill>
                <a:schemeClr val="accent2"/>
              </a:solidFill>
              <a:prstDash val="solid"/>
              <a:headEnd type="none" w="med" len="med"/>
              <a:tailEnd type="triangle" w="med" len="med"/>
            </a:ln>
          </p:spPr>
        </p:sp>
      </p:grpSp>
      <p:sp>
        <p:nvSpPr>
          <p:cNvPr id="58373" name="Text Box 7"/>
          <p:cNvSpPr txBox="1"/>
          <p:nvPr/>
        </p:nvSpPr>
        <p:spPr>
          <a:xfrm>
            <a:off x="582613" y="1314450"/>
            <a:ext cx="3394075" cy="457200"/>
          </a:xfrm>
          <a:prstGeom prst="rect">
            <a:avLst/>
          </a:prstGeom>
          <a:noFill/>
          <a:ln w="9525">
            <a:noFill/>
          </a:ln>
        </p:spPr>
        <p:txBody>
          <a:bodyPr wrap="none" anchor="ctr" anchorCtr="0">
            <a:spAutoFit/>
          </a:bodyPr>
          <a:p>
            <a:pPr>
              <a:spcBef>
                <a:spcPct val="50000"/>
              </a:spcBef>
            </a:pPr>
            <a:r>
              <a:rPr lang="zh-CN" altLang="en-US" u="sng" dirty="0">
                <a:solidFill>
                  <a:schemeClr val="hlink"/>
                </a:solidFill>
                <a:latin typeface="Times New Roman" panose="02020603050405020304" pitchFamily="18" charset="0"/>
                <a:ea typeface="华文中宋" panose="02010600040101010101" pitchFamily="2" charset="-122"/>
              </a:rPr>
              <a:t>服务器 </a:t>
            </a:r>
            <a:r>
              <a:rPr lang="en-US" altLang="zh-CN" u="sng" dirty="0">
                <a:solidFill>
                  <a:schemeClr val="hlink"/>
                </a:solidFill>
                <a:latin typeface="Times New Roman" panose="02020603050405020304" pitchFamily="18" charset="0"/>
                <a:ea typeface="华文中宋" panose="02010600040101010101" pitchFamily="2" charset="-122"/>
              </a:rPr>
              <a:t>(</a:t>
            </a:r>
            <a:r>
              <a:rPr lang="zh-CN" altLang="en-US" u="sng" dirty="0">
                <a:solidFill>
                  <a:schemeClr val="hlink"/>
                </a:solidFill>
                <a:latin typeface="Times New Roman" panose="02020603050405020304" pitchFamily="18" charset="0"/>
                <a:ea typeface="华文中宋" panose="02010600040101010101" pitchFamily="2" charset="-122"/>
              </a:rPr>
              <a:t>运行在</a:t>
            </a:r>
            <a:r>
              <a:rPr lang="en-US" altLang="zh-CN" u="sng" dirty="0">
                <a:solidFill>
                  <a:schemeClr val="hlink"/>
                </a:solidFill>
                <a:latin typeface="Times New Roman" panose="02020603050405020304" pitchFamily="18" charset="0"/>
                <a:ea typeface="华文中宋" panose="02010600040101010101" pitchFamily="2" charset="-122"/>
              </a:rPr>
              <a:t>hostid</a:t>
            </a:r>
            <a:r>
              <a:rPr lang="zh-CN" altLang="en-US" u="sng" dirty="0">
                <a:solidFill>
                  <a:schemeClr val="hlink"/>
                </a:solidFill>
                <a:latin typeface="Times New Roman" panose="02020603050405020304" pitchFamily="18" charset="0"/>
                <a:ea typeface="华文中宋" panose="02010600040101010101" pitchFamily="2" charset="-122"/>
              </a:rPr>
              <a:t>上</a:t>
            </a:r>
            <a:r>
              <a:rPr lang="en-US" altLang="zh-CN" u="sng" dirty="0">
                <a:solidFill>
                  <a:schemeClr val="hlink"/>
                </a:solidFill>
                <a:latin typeface="Times New Roman" panose="02020603050405020304" pitchFamily="18" charset="0"/>
                <a:ea typeface="华文中宋" panose="02010600040101010101" pitchFamily="2" charset="-122"/>
              </a:rPr>
              <a:t>)</a:t>
            </a:r>
            <a:endParaRPr lang="en-US" altLang="zh-CN" u="sng" dirty="0">
              <a:solidFill>
                <a:schemeClr val="hlink"/>
              </a:solidFill>
              <a:latin typeface="Times New Roman" panose="02020603050405020304" pitchFamily="18" charset="0"/>
              <a:ea typeface="华文中宋" panose="02010600040101010101" pitchFamily="2" charset="-122"/>
            </a:endParaRPr>
          </a:p>
        </p:txBody>
      </p:sp>
      <p:grpSp>
        <p:nvGrpSpPr>
          <p:cNvPr id="97288" name="Group 8"/>
          <p:cNvGrpSpPr/>
          <p:nvPr/>
        </p:nvGrpSpPr>
        <p:grpSpPr>
          <a:xfrm>
            <a:off x="5532438" y="3933825"/>
            <a:ext cx="1968500" cy="1247775"/>
            <a:chOff x="3485" y="2478"/>
            <a:chExt cx="1240" cy="786"/>
          </a:xfrm>
        </p:grpSpPr>
        <p:sp>
          <p:nvSpPr>
            <p:cNvPr id="58393" name="Text Box 9"/>
            <p:cNvSpPr txBox="1"/>
            <p:nvPr/>
          </p:nvSpPr>
          <p:spPr>
            <a:xfrm>
              <a:off x="3485" y="3072"/>
              <a:ext cx="1240" cy="192"/>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从</a:t>
              </a:r>
              <a:r>
                <a:rPr lang="en-US" altLang="zh-CN" sz="1400" dirty="0">
                  <a:solidFill>
                    <a:srgbClr val="FF0000"/>
                  </a:solidFill>
                  <a:latin typeface="Arial" panose="020B0604020202020204" pitchFamily="34" charset="0"/>
                  <a:ea typeface="宋体" panose="02010600030101010101" pitchFamily="2" charset="-122"/>
                </a:rPr>
                <a:t>ClientSocket</a:t>
              </a:r>
              <a:r>
                <a:rPr lang="zh-CN" altLang="en-US" sz="1400" dirty="0">
                  <a:latin typeface="Arial" panose="020B0604020202020204" pitchFamily="34" charset="0"/>
                  <a:ea typeface="宋体" panose="02010600030101010101" pitchFamily="2" charset="-122"/>
                </a:rPr>
                <a:t>读应答</a:t>
              </a:r>
              <a:endParaRPr lang="zh-CN" altLang="en-US" sz="1400" dirty="0">
                <a:latin typeface="Arial" panose="020B0604020202020204" pitchFamily="34" charset="0"/>
                <a:ea typeface="宋体" panose="02010600030101010101" pitchFamily="2" charset="-122"/>
              </a:endParaRPr>
            </a:p>
          </p:txBody>
        </p:sp>
        <p:sp>
          <p:nvSpPr>
            <p:cNvPr id="58394" name="Line 10"/>
            <p:cNvSpPr/>
            <p:nvPr/>
          </p:nvSpPr>
          <p:spPr>
            <a:xfrm>
              <a:off x="3864" y="2478"/>
              <a:ext cx="0" cy="522"/>
            </a:xfrm>
            <a:prstGeom prst="line">
              <a:avLst/>
            </a:prstGeom>
            <a:ln w="28575" cap="flat" cmpd="sng">
              <a:solidFill>
                <a:schemeClr val="accent2"/>
              </a:solidFill>
              <a:prstDash val="solid"/>
              <a:headEnd type="none" w="med" len="med"/>
              <a:tailEnd type="triangle" w="med" len="med"/>
            </a:ln>
          </p:spPr>
        </p:sp>
      </p:grpSp>
      <p:grpSp>
        <p:nvGrpSpPr>
          <p:cNvPr id="97291" name="Group 11"/>
          <p:cNvGrpSpPr/>
          <p:nvPr/>
        </p:nvGrpSpPr>
        <p:grpSpPr>
          <a:xfrm>
            <a:off x="3000375" y="1333500"/>
            <a:ext cx="4978400" cy="2593975"/>
            <a:chOff x="1890" y="840"/>
            <a:chExt cx="3136" cy="1634"/>
          </a:xfrm>
        </p:grpSpPr>
        <p:grpSp>
          <p:nvGrpSpPr>
            <p:cNvPr id="58386" name="Group 12"/>
            <p:cNvGrpSpPr/>
            <p:nvPr/>
          </p:nvGrpSpPr>
          <p:grpSpPr>
            <a:xfrm>
              <a:off x="3389" y="1342"/>
              <a:ext cx="1080" cy="465"/>
              <a:chOff x="3233" y="1852"/>
              <a:chExt cx="1080" cy="465"/>
            </a:xfrm>
          </p:grpSpPr>
          <p:sp>
            <p:nvSpPr>
              <p:cNvPr id="58391" name="Text Box 13"/>
              <p:cNvSpPr txBox="1"/>
              <p:nvPr/>
            </p:nvSpPr>
            <p:spPr>
              <a:xfrm>
                <a:off x="3233" y="1852"/>
                <a:ext cx="676" cy="422"/>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创建套接字</a:t>
                </a:r>
                <a:endParaRPr lang="en-US" altLang="zh-CN" sz="1400" dirty="0">
                  <a:latin typeface="Arial" panose="020B0604020202020204" pitchFamily="34" charset="0"/>
                  <a:ea typeface="宋体" panose="02010600030101010101" pitchFamily="2" charset="-122"/>
                </a:endParaRPr>
              </a:p>
              <a:p>
                <a:endParaRPr lang="zh-CN" altLang="en-US" dirty="0">
                  <a:latin typeface="Times New Roman" panose="02020603050405020304" pitchFamily="18" charset="0"/>
                  <a:ea typeface="宋体" panose="02010600030101010101" pitchFamily="2" charset="-122"/>
                </a:endParaRPr>
              </a:p>
            </p:txBody>
          </p:sp>
          <p:sp>
            <p:nvSpPr>
              <p:cNvPr id="58392" name="Text Box 14"/>
              <p:cNvSpPr txBox="1"/>
              <p:nvPr/>
            </p:nvSpPr>
            <p:spPr>
              <a:xfrm>
                <a:off x="3241" y="1991"/>
                <a:ext cx="1072" cy="326"/>
              </a:xfrm>
              <a:prstGeom prst="rect">
                <a:avLst/>
              </a:prstGeom>
              <a:noFill/>
              <a:ln w="9525">
                <a:noFill/>
              </a:ln>
            </p:spPr>
            <p:txBody>
              <a:bodyPr wrap="none" anchor="ctr" anchorCtr="0">
                <a:spAutoFit/>
              </a:bodyPr>
              <a:p>
                <a:r>
                  <a:rPr lang="en-US" altLang="zh-CN" sz="1400" dirty="0">
                    <a:solidFill>
                      <a:srgbClr val="FF0000"/>
                    </a:solidFill>
                    <a:latin typeface="Arial" panose="020B0604020202020204" pitchFamily="34" charset="0"/>
                    <a:ea typeface="宋体" panose="02010600030101010101" pitchFamily="2" charset="-122"/>
                  </a:rPr>
                  <a:t>ClientSocket = </a:t>
                </a:r>
                <a:endParaRPr lang="en-US" altLang="zh-CN" sz="1400" dirty="0">
                  <a:solidFill>
                    <a:srgbClr val="FF0000"/>
                  </a:solidFill>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DatagramSocket()</a:t>
                </a:r>
                <a:endParaRPr lang="en-US" altLang="zh-CN" dirty="0">
                  <a:latin typeface="Times New Roman" panose="02020603050405020304" pitchFamily="18" charset="0"/>
                  <a:ea typeface="宋体" panose="02010600030101010101" pitchFamily="2" charset="-122"/>
                </a:endParaRPr>
              </a:p>
            </p:txBody>
          </p:sp>
        </p:grpSp>
        <p:sp>
          <p:nvSpPr>
            <p:cNvPr id="58387" name="Text Box 15"/>
            <p:cNvSpPr txBox="1"/>
            <p:nvPr/>
          </p:nvSpPr>
          <p:spPr>
            <a:xfrm>
              <a:off x="3283" y="840"/>
              <a:ext cx="692" cy="288"/>
            </a:xfrm>
            <a:prstGeom prst="rect">
              <a:avLst/>
            </a:prstGeom>
            <a:noFill/>
            <a:ln w="9525">
              <a:noFill/>
            </a:ln>
          </p:spPr>
          <p:txBody>
            <a:bodyPr wrap="none" anchor="ctr" anchorCtr="0">
              <a:spAutoFit/>
            </a:bodyPr>
            <a:p>
              <a:pPr>
                <a:spcBef>
                  <a:spcPct val="50000"/>
                </a:spcBef>
              </a:pPr>
              <a:r>
                <a:rPr lang="zh-CN" altLang="en-US" u="sng" dirty="0">
                  <a:solidFill>
                    <a:schemeClr val="hlink"/>
                  </a:solidFill>
                  <a:latin typeface="Times New Roman" panose="02020603050405020304" pitchFamily="18" charset="0"/>
                  <a:ea typeface="华文中宋" panose="02010600040101010101" pitchFamily="2" charset="-122"/>
                </a:rPr>
                <a:t>客户机</a:t>
              </a:r>
              <a:endParaRPr lang="zh-CN" altLang="en-US" u="sng" dirty="0">
                <a:solidFill>
                  <a:schemeClr val="hlink"/>
                </a:solidFill>
                <a:latin typeface="Times New Roman" panose="02020603050405020304" pitchFamily="18" charset="0"/>
                <a:ea typeface="华文中宋" panose="02010600040101010101" pitchFamily="2" charset="-122"/>
              </a:endParaRPr>
            </a:p>
          </p:txBody>
        </p:sp>
        <p:sp>
          <p:nvSpPr>
            <p:cNvPr id="58388" name="Text Box 16"/>
            <p:cNvSpPr txBox="1"/>
            <p:nvPr/>
          </p:nvSpPr>
          <p:spPr>
            <a:xfrm>
              <a:off x="3389" y="2014"/>
              <a:ext cx="1637" cy="460"/>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创建地址</a:t>
              </a:r>
              <a:r>
                <a:rPr lang="en-US" altLang="zh-CN" sz="1400" dirty="0">
                  <a:latin typeface="Arial" panose="020B0604020202020204" pitchFamily="34" charset="0"/>
                  <a:ea typeface="宋体" panose="02010600030101010101" pitchFamily="2" charset="-122"/>
                </a:rPr>
                <a:t> (</a:t>
              </a:r>
              <a:r>
                <a:rPr lang="en-US" altLang="zh-CN" sz="1400" dirty="0">
                  <a:latin typeface="Courier New" panose="02070309020205020404" pitchFamily="49" charset="0"/>
                  <a:ea typeface="宋体" panose="02010600030101010101" pitchFamily="2" charset="-122"/>
                </a:rPr>
                <a:t>hostid, port=x,</a:t>
              </a:r>
              <a:endParaRPr lang="en-US" altLang="zh-CN" sz="1400" dirty="0">
                <a:latin typeface="Arial" panose="020B0604020202020204" pitchFamily="34" charset="0"/>
                <a:ea typeface="宋体" panose="02010600030101010101" pitchFamily="2" charset="-122"/>
              </a:endParaRPr>
            </a:p>
            <a:p>
              <a:r>
                <a:rPr lang="zh-CN" altLang="en-US" sz="1400" dirty="0">
                  <a:latin typeface="Arial" panose="020B0604020202020204" pitchFamily="34" charset="0"/>
                  <a:ea typeface="宋体" panose="02010600030101010101" pitchFamily="2" charset="-122"/>
                </a:rPr>
                <a:t>使用 </a:t>
              </a:r>
              <a:r>
                <a:rPr lang="en-US" altLang="zh-CN" sz="1400" dirty="0">
                  <a:solidFill>
                    <a:srgbClr val="FF0000"/>
                  </a:solidFill>
                  <a:latin typeface="Arial" panose="020B0604020202020204" pitchFamily="34" charset="0"/>
                  <a:ea typeface="宋体" panose="02010600030101010101" pitchFamily="2" charset="-122"/>
                </a:rPr>
                <a:t>ClientSocket</a:t>
              </a:r>
              <a:r>
                <a:rPr lang="en-US" altLang="zh-CN" sz="1400" dirty="0">
                  <a:latin typeface="Arial" panose="020B0604020202020204" pitchFamily="34" charset="0"/>
                  <a:ea typeface="宋体" panose="02010600030101010101" pitchFamily="2" charset="-122"/>
                </a:rPr>
                <a:t> </a:t>
              </a:r>
              <a:endParaRPr lang="en-US" altLang="zh-CN" sz="1400" dirty="0">
                <a:latin typeface="Arial" panose="020B0604020202020204" pitchFamily="34" charset="0"/>
                <a:ea typeface="宋体" panose="02010600030101010101" pitchFamily="2" charset="-122"/>
              </a:endParaRPr>
            </a:p>
            <a:p>
              <a:r>
                <a:rPr lang="zh-CN" altLang="en-US" sz="1400" dirty="0">
                  <a:latin typeface="Arial" panose="020B0604020202020204" pitchFamily="34" charset="0"/>
                  <a:ea typeface="宋体" panose="02010600030101010101" pitchFamily="2" charset="-122"/>
                </a:rPr>
                <a:t>发送数据报请求</a:t>
              </a:r>
              <a:r>
                <a:rPr lang="en-US" altLang="zh-CN" sz="1400" dirty="0">
                  <a:latin typeface="Arial" panose="020B0604020202020204" pitchFamily="34" charset="0"/>
                  <a:ea typeface="宋体" panose="02010600030101010101" pitchFamily="2" charset="-122"/>
                </a:rPr>
                <a:t> </a:t>
              </a:r>
              <a:endParaRPr lang="en-US" altLang="zh-CN" sz="1400" dirty="0">
                <a:solidFill>
                  <a:srgbClr val="FF0000"/>
                </a:solidFill>
                <a:latin typeface="Arial" panose="020B0604020202020204" pitchFamily="34" charset="0"/>
                <a:ea typeface="宋体" panose="02010600030101010101" pitchFamily="2" charset="-122"/>
              </a:endParaRPr>
            </a:p>
          </p:txBody>
        </p:sp>
        <p:sp>
          <p:nvSpPr>
            <p:cNvPr id="58389" name="Line 17"/>
            <p:cNvSpPr/>
            <p:nvPr/>
          </p:nvSpPr>
          <p:spPr>
            <a:xfrm>
              <a:off x="3828" y="1830"/>
              <a:ext cx="0" cy="204"/>
            </a:xfrm>
            <a:prstGeom prst="line">
              <a:avLst/>
            </a:prstGeom>
            <a:ln w="28575" cap="flat" cmpd="sng">
              <a:solidFill>
                <a:schemeClr val="accent2"/>
              </a:solidFill>
              <a:prstDash val="solid"/>
              <a:headEnd type="none" w="med" len="med"/>
              <a:tailEnd type="triangle" w="med" len="med"/>
            </a:ln>
          </p:spPr>
        </p:sp>
        <p:sp>
          <p:nvSpPr>
            <p:cNvPr id="58390" name="Line 18"/>
            <p:cNvSpPr/>
            <p:nvPr/>
          </p:nvSpPr>
          <p:spPr>
            <a:xfrm flipH="1">
              <a:off x="1890" y="2208"/>
              <a:ext cx="1518" cy="252"/>
            </a:xfrm>
            <a:prstGeom prst="line">
              <a:avLst/>
            </a:prstGeom>
            <a:ln w="28575" cap="flat" cmpd="sng">
              <a:solidFill>
                <a:srgbClr val="FF0000"/>
              </a:solidFill>
              <a:prstDash val="solid"/>
              <a:headEnd type="none" w="med" len="med"/>
              <a:tailEnd type="triangle" w="med" len="med"/>
            </a:ln>
          </p:spPr>
        </p:sp>
      </p:grpSp>
      <p:grpSp>
        <p:nvGrpSpPr>
          <p:cNvPr id="97299" name="Group 19"/>
          <p:cNvGrpSpPr/>
          <p:nvPr/>
        </p:nvGrpSpPr>
        <p:grpSpPr>
          <a:xfrm>
            <a:off x="1303338" y="2187575"/>
            <a:ext cx="1784350" cy="2043113"/>
            <a:chOff x="821" y="1378"/>
            <a:chExt cx="1124" cy="1287"/>
          </a:xfrm>
        </p:grpSpPr>
        <p:grpSp>
          <p:nvGrpSpPr>
            <p:cNvPr id="58381" name="Group 20"/>
            <p:cNvGrpSpPr/>
            <p:nvPr/>
          </p:nvGrpSpPr>
          <p:grpSpPr>
            <a:xfrm>
              <a:off x="821" y="1378"/>
              <a:ext cx="1124" cy="645"/>
              <a:chOff x="329" y="1276"/>
              <a:chExt cx="1124" cy="645"/>
            </a:xfrm>
          </p:grpSpPr>
          <p:sp>
            <p:nvSpPr>
              <p:cNvPr id="58384" name="Text Box 21"/>
              <p:cNvSpPr txBox="1"/>
              <p:nvPr/>
            </p:nvSpPr>
            <p:spPr>
              <a:xfrm>
                <a:off x="329" y="1276"/>
                <a:ext cx="1124"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对入请求创建套接字</a:t>
                </a:r>
                <a:endParaRPr lang="en-US" altLang="zh-CN" sz="1400" dirty="0">
                  <a:latin typeface="Arial" panose="020B0604020202020204" pitchFamily="34" charset="0"/>
                  <a:ea typeface="宋体" panose="02010600030101010101" pitchFamily="2" charset="-122"/>
                </a:endParaRPr>
              </a:p>
              <a:p>
                <a:r>
                  <a:rPr lang="en-US" altLang="zh-CN" sz="1400" dirty="0">
                    <a:latin typeface="Arial" panose="020B0604020202020204" pitchFamily="34" charset="0"/>
                    <a:ea typeface="宋体" panose="02010600030101010101" pitchFamily="2" charset="-122"/>
                  </a:rPr>
                  <a:t>port=</a:t>
                </a:r>
                <a:r>
                  <a:rPr lang="en-US" altLang="zh-CN" sz="1400" dirty="0">
                    <a:latin typeface="Courier New" panose="02070309020205020404" pitchFamily="49" charset="0"/>
                    <a:ea typeface="宋体" panose="02010600030101010101" pitchFamily="2" charset="-122"/>
                  </a:rPr>
                  <a:t>x</a:t>
                </a:r>
                <a:endParaRPr lang="en-US" altLang="zh-CN" dirty="0">
                  <a:latin typeface="Times New Roman" panose="02020603050405020304" pitchFamily="18" charset="0"/>
                  <a:ea typeface="宋体" panose="02010600030101010101" pitchFamily="2" charset="-122"/>
                </a:endParaRPr>
              </a:p>
            </p:txBody>
          </p:sp>
          <p:sp>
            <p:nvSpPr>
              <p:cNvPr id="58385" name="Text Box 22"/>
              <p:cNvSpPr txBox="1"/>
              <p:nvPr/>
            </p:nvSpPr>
            <p:spPr>
              <a:xfrm>
                <a:off x="337" y="1595"/>
                <a:ext cx="1072" cy="326"/>
              </a:xfrm>
              <a:prstGeom prst="rect">
                <a:avLst/>
              </a:prstGeom>
              <a:noFill/>
              <a:ln w="9525">
                <a:noFill/>
              </a:ln>
            </p:spPr>
            <p:txBody>
              <a:bodyPr wrap="none" anchor="ctr" anchorCtr="0">
                <a:spAutoFit/>
              </a:bodyPr>
              <a:p>
                <a:r>
                  <a:rPr lang="en-US" altLang="zh-CN" sz="1400" dirty="0">
                    <a:solidFill>
                      <a:srgbClr val="FF0000"/>
                    </a:solidFill>
                    <a:latin typeface="Arial" panose="020B0604020202020204" pitchFamily="34" charset="0"/>
                    <a:ea typeface="宋体" panose="02010600030101010101" pitchFamily="2" charset="-122"/>
                  </a:rPr>
                  <a:t>ServerSocket= </a:t>
                </a:r>
                <a:endParaRPr lang="en-US" altLang="zh-CN" sz="1400" dirty="0">
                  <a:solidFill>
                    <a:srgbClr val="FF0000"/>
                  </a:solidFill>
                  <a:latin typeface="Arial" panose="020B0604020202020204" pitchFamily="34" charset="0"/>
                  <a:ea typeface="宋体" panose="02010600030101010101" pitchFamily="2" charset="-122"/>
                </a:endParaRPr>
              </a:p>
              <a:p>
                <a:r>
                  <a:rPr lang="en-US" altLang="zh-CN" sz="1400" dirty="0">
                    <a:solidFill>
                      <a:srgbClr val="FF0000"/>
                    </a:solidFill>
                    <a:latin typeface="Arial" panose="020B0604020202020204" pitchFamily="34" charset="0"/>
                    <a:ea typeface="宋体" panose="02010600030101010101" pitchFamily="2" charset="-122"/>
                  </a:rPr>
                  <a:t>DatagramSocket()</a:t>
                </a:r>
                <a:endParaRPr lang="en-US" altLang="zh-CN" sz="1400" dirty="0">
                  <a:solidFill>
                    <a:srgbClr val="FF0000"/>
                  </a:solidFill>
                  <a:latin typeface="Arial" panose="020B0604020202020204" pitchFamily="34" charset="0"/>
                  <a:ea typeface="宋体" panose="02010600030101010101" pitchFamily="2" charset="-122"/>
                </a:endParaRPr>
              </a:p>
            </p:txBody>
          </p:sp>
        </p:grpSp>
        <p:sp>
          <p:nvSpPr>
            <p:cNvPr id="58382" name="Line 23"/>
            <p:cNvSpPr/>
            <p:nvPr/>
          </p:nvSpPr>
          <p:spPr>
            <a:xfrm>
              <a:off x="1284" y="1998"/>
              <a:ext cx="0" cy="366"/>
            </a:xfrm>
            <a:prstGeom prst="line">
              <a:avLst/>
            </a:prstGeom>
            <a:ln w="28575" cap="flat" cmpd="sng">
              <a:solidFill>
                <a:schemeClr val="accent2"/>
              </a:solidFill>
              <a:prstDash val="solid"/>
              <a:headEnd type="none" w="med" len="med"/>
              <a:tailEnd type="triangle" w="med" len="med"/>
            </a:ln>
          </p:spPr>
        </p:sp>
        <p:sp>
          <p:nvSpPr>
            <p:cNvPr id="58383" name="Text Box 24"/>
            <p:cNvSpPr txBox="1"/>
            <p:nvPr/>
          </p:nvSpPr>
          <p:spPr>
            <a:xfrm>
              <a:off x="893" y="2339"/>
              <a:ext cx="943"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从</a:t>
              </a:r>
              <a:r>
                <a:rPr lang="en-US" altLang="zh-CN" sz="1400" dirty="0">
                  <a:solidFill>
                    <a:srgbClr val="FF0000"/>
                  </a:solidFill>
                  <a:latin typeface="Arial" panose="020B0604020202020204" pitchFamily="34" charset="0"/>
                  <a:ea typeface="宋体" panose="02010600030101010101" pitchFamily="2" charset="-122"/>
                </a:rPr>
                <a:t>ServerSocket</a:t>
              </a:r>
              <a:endParaRPr lang="zh-CN" altLang="en-US" sz="1400" dirty="0">
                <a:latin typeface="Arial" panose="020B0604020202020204" pitchFamily="34" charset="0"/>
                <a:ea typeface="宋体" panose="02010600030101010101" pitchFamily="2" charset="-122"/>
              </a:endParaRPr>
            </a:p>
            <a:p>
              <a:r>
                <a:rPr lang="zh-CN" altLang="en-US" sz="1400" dirty="0">
                  <a:latin typeface="Arial" panose="020B0604020202020204" pitchFamily="34" charset="0"/>
                  <a:ea typeface="宋体" panose="02010600030101010101" pitchFamily="2" charset="-122"/>
                </a:rPr>
                <a:t>读请求</a:t>
              </a:r>
              <a:endParaRPr lang="zh-CN" altLang="en-US" sz="1400" dirty="0">
                <a:latin typeface="Arial" panose="020B0604020202020204" pitchFamily="34" charset="0"/>
                <a:ea typeface="宋体" panose="02010600030101010101" pitchFamily="2" charset="-122"/>
              </a:endParaRPr>
            </a:p>
          </p:txBody>
        </p:sp>
      </p:grpSp>
      <p:grpSp>
        <p:nvGrpSpPr>
          <p:cNvPr id="97305" name="Group 25"/>
          <p:cNvGrpSpPr/>
          <p:nvPr/>
        </p:nvGrpSpPr>
        <p:grpSpPr>
          <a:xfrm>
            <a:off x="1427163" y="4229100"/>
            <a:ext cx="3973512" cy="1039813"/>
            <a:chOff x="899" y="2664"/>
            <a:chExt cx="2503" cy="655"/>
          </a:xfrm>
        </p:grpSpPr>
        <p:sp>
          <p:nvSpPr>
            <p:cNvPr id="58378" name="Text Box 26"/>
            <p:cNvSpPr txBox="1"/>
            <p:nvPr/>
          </p:nvSpPr>
          <p:spPr>
            <a:xfrm>
              <a:off x="899" y="2993"/>
              <a:ext cx="1572" cy="326"/>
            </a:xfrm>
            <a:prstGeom prst="rect">
              <a:avLst/>
            </a:prstGeom>
            <a:noFill/>
            <a:ln w="9525">
              <a:noFill/>
            </a:ln>
          </p:spPr>
          <p:txBody>
            <a:bodyPr wrap="none" anchor="ctr" anchorCtr="0">
              <a:spAutoFit/>
            </a:bodyPr>
            <a:p>
              <a:r>
                <a:rPr lang="zh-CN" altLang="en-US" sz="1400" dirty="0">
                  <a:latin typeface="Arial" panose="020B0604020202020204" pitchFamily="34" charset="0"/>
                  <a:ea typeface="宋体" panose="02010600030101010101" pitchFamily="2" charset="-122"/>
                </a:rPr>
                <a:t>向</a:t>
              </a:r>
              <a:r>
                <a:rPr lang="en-US" altLang="zh-CN" sz="1400" dirty="0">
                  <a:solidFill>
                    <a:srgbClr val="FF0000"/>
                  </a:solidFill>
                  <a:latin typeface="Arial" panose="020B0604020202020204" pitchFamily="34" charset="0"/>
                  <a:ea typeface="宋体" panose="02010600030101010101" pitchFamily="2" charset="-122"/>
                </a:rPr>
                <a:t>ServerSocket</a:t>
              </a:r>
              <a:r>
                <a:rPr lang="zh-CN" altLang="en-US" sz="1400" dirty="0">
                  <a:latin typeface="Arial" panose="020B0604020202020204" pitchFamily="34" charset="0"/>
                  <a:ea typeface="宋体" panose="02010600030101010101" pitchFamily="2" charset="-122"/>
                </a:rPr>
                <a:t>写应答</a:t>
              </a:r>
              <a:endParaRPr lang="zh-CN" altLang="en-US" sz="1400" dirty="0">
                <a:solidFill>
                  <a:srgbClr val="FF0000"/>
                </a:solidFill>
                <a:latin typeface="Arial" panose="020B0604020202020204" pitchFamily="34" charset="0"/>
                <a:ea typeface="宋体" panose="02010600030101010101" pitchFamily="2" charset="-122"/>
              </a:endParaRPr>
            </a:p>
            <a:p>
              <a:r>
                <a:rPr lang="zh-CN" altLang="en-US" sz="1400" dirty="0">
                  <a:latin typeface="Arial" panose="020B0604020202020204" pitchFamily="34" charset="0"/>
                  <a:ea typeface="宋体" panose="02010600030101010101" pitchFamily="2" charset="-122"/>
                </a:rPr>
                <a:t>指定客户机主机地址、端口号</a:t>
              </a:r>
              <a:endParaRPr lang="en-US" altLang="zh-CN" sz="1400" dirty="0">
                <a:latin typeface="Arial" panose="020B0604020202020204" pitchFamily="34" charset="0"/>
                <a:ea typeface="宋体" panose="02010600030101010101" pitchFamily="2" charset="-122"/>
              </a:endParaRPr>
            </a:p>
          </p:txBody>
        </p:sp>
        <p:sp>
          <p:nvSpPr>
            <p:cNvPr id="58379" name="Line 27"/>
            <p:cNvSpPr/>
            <p:nvPr/>
          </p:nvSpPr>
          <p:spPr>
            <a:xfrm>
              <a:off x="1302" y="2664"/>
              <a:ext cx="0" cy="198"/>
            </a:xfrm>
            <a:prstGeom prst="line">
              <a:avLst/>
            </a:prstGeom>
            <a:ln w="28575" cap="flat" cmpd="sng">
              <a:solidFill>
                <a:schemeClr val="accent2"/>
              </a:solidFill>
              <a:prstDash val="solid"/>
              <a:headEnd type="none" w="med" len="med"/>
              <a:tailEnd type="triangle" w="med" len="med"/>
            </a:ln>
          </p:spPr>
        </p:sp>
        <p:sp>
          <p:nvSpPr>
            <p:cNvPr id="58380" name="Line 28"/>
            <p:cNvSpPr/>
            <p:nvPr/>
          </p:nvSpPr>
          <p:spPr>
            <a:xfrm>
              <a:off x="1866" y="2970"/>
              <a:ext cx="1536" cy="180"/>
            </a:xfrm>
            <a:prstGeom prst="line">
              <a:avLst/>
            </a:prstGeom>
            <a:ln w="28575" cap="flat" cmpd="sng">
              <a:solidFill>
                <a:srgbClr val="FF0000"/>
              </a:solidFill>
              <a:prstDash val="solid"/>
              <a:headEnd type="none" w="med" len="med"/>
              <a:tailEnd type="triangle" w="med" len="med"/>
            </a:ln>
          </p:spPr>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7299"/>
                                        </p:tgtEl>
                                        <p:attrNameLst>
                                          <p:attrName>style.visibility</p:attrName>
                                        </p:attrNameLst>
                                      </p:cBhvr>
                                      <p:to>
                                        <p:strVal val="visible"/>
                                      </p:to>
                                    </p:set>
                                    <p:animEffect transition="in" filter="dissolve">
                                      <p:cBhvr>
                                        <p:cTn id="7" dur="500"/>
                                        <p:tgtEl>
                                          <p:spTgt spid="972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7291"/>
                                        </p:tgtEl>
                                        <p:attrNameLst>
                                          <p:attrName>style.visibility</p:attrName>
                                        </p:attrNameLst>
                                      </p:cBhvr>
                                      <p:to>
                                        <p:strVal val="visible"/>
                                      </p:to>
                                    </p:set>
                                    <p:animEffect transition="in" filter="dissolve">
                                      <p:cBhvr>
                                        <p:cTn id="12" dur="500"/>
                                        <p:tgtEl>
                                          <p:spTgt spid="972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7305"/>
                                        </p:tgtEl>
                                        <p:attrNameLst>
                                          <p:attrName>style.visibility</p:attrName>
                                        </p:attrNameLst>
                                      </p:cBhvr>
                                      <p:to>
                                        <p:strVal val="visible"/>
                                      </p:to>
                                    </p:set>
                                    <p:animEffect transition="in" filter="dissolve">
                                      <p:cBhvr>
                                        <p:cTn id="17" dur="500"/>
                                        <p:tgtEl>
                                          <p:spTgt spid="973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7288"/>
                                        </p:tgtEl>
                                        <p:attrNameLst>
                                          <p:attrName>style.visibility</p:attrName>
                                        </p:attrNameLst>
                                      </p:cBhvr>
                                      <p:to>
                                        <p:strVal val="visible"/>
                                      </p:to>
                                    </p:set>
                                    <p:animEffect transition="in" filter="dissolve">
                                      <p:cBhvr>
                                        <p:cTn id="22" dur="500"/>
                                        <p:tgtEl>
                                          <p:spTgt spid="9728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7283"/>
                                        </p:tgtEl>
                                        <p:attrNameLst>
                                          <p:attrName>style.visibility</p:attrName>
                                        </p:attrNameLst>
                                      </p:cBhvr>
                                      <p:to>
                                        <p:strVal val="visible"/>
                                      </p:to>
                                    </p:set>
                                    <p:animEffect transition="in" filter="dissolve">
                                      <p:cBhvr>
                                        <p:cTn id="27" dur="500"/>
                                        <p:tgtEl>
                                          <p:spTgt spid="9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60419" name="灯片编号占位符 4"/>
          <p:cNvSpPr txBox="1">
            <a:spLocks noGrp="1" noChangeArrowheads="1"/>
          </p:cNvSpPr>
          <p:nvPr>
            <p:ph type="sldNum"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b" anchorCtr="0" compatLnSpc="1"/>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685C61E-3524-4B85-BB6D-6EE8DE394E0E}" type="slidenum">
              <a:rPr kumimoji="0" lang="zh-CN" altLang="en-US" sz="1800" b="0" i="0" u="none" strike="noStrike" kern="1200" cap="none" spc="0" normalizeH="0" baseline="0" noProof="0" smtClean="0">
                <a:ln>
                  <a:noFill/>
                </a:ln>
                <a:solidFill>
                  <a:srgbClr val="FFFFFF"/>
                </a:solidFill>
                <a:effectLst/>
                <a:uLnTx/>
                <a:uFillTx/>
                <a:latin typeface="+mj-ea"/>
                <a:ea typeface="+mj-ea"/>
                <a:cs typeface="+mn-cs"/>
              </a:rPr>
            </a:fld>
            <a:endParaRPr kumimoji="0" lang="en-US" altLang="zh-CN" sz="1800" b="0" i="0" u="none" strike="noStrike" kern="1200" cap="none" spc="0" normalizeH="0" baseline="0" noProof="0" smtClean="0">
              <a:ln>
                <a:noFill/>
              </a:ln>
              <a:solidFill>
                <a:srgbClr val="FFFFFF"/>
              </a:solidFill>
              <a:effectLst/>
              <a:uLnTx/>
              <a:uFillTx/>
              <a:latin typeface="+mj-ea"/>
              <a:ea typeface="+mj-ea"/>
              <a:cs typeface="+mn-cs"/>
            </a:endParaRPr>
          </a:p>
        </p:txBody>
      </p:sp>
      <p:sp>
        <p:nvSpPr>
          <p:cNvPr id="60420" name="Rectangle 14"/>
          <p:cNvSpPr>
            <a:spLocks noChangeArrowheads="1"/>
          </p:cNvSpPr>
          <p:nvPr/>
        </p:nvSpPr>
        <p:spPr bwMode="auto">
          <a:xfrm>
            <a:off x="0" y="955675"/>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1" name="Line 17"/>
          <p:cNvSpPr>
            <a:spLocks noChangeShapeType="1"/>
          </p:cNvSpPr>
          <p:nvPr/>
        </p:nvSpPr>
        <p:spPr bwMode="auto">
          <a:xfrm>
            <a:off x="3294063" y="4344988"/>
            <a:ext cx="952500" cy="43815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2" name="Line 18"/>
          <p:cNvSpPr>
            <a:spLocks noChangeShapeType="1"/>
          </p:cNvSpPr>
          <p:nvPr/>
        </p:nvSpPr>
        <p:spPr bwMode="auto">
          <a:xfrm flipH="1">
            <a:off x="5387975" y="3721100"/>
            <a:ext cx="576263" cy="788988"/>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3" name="Text Box 19"/>
          <p:cNvSpPr txBox="1">
            <a:spLocks noChangeArrowheads="1"/>
          </p:cNvSpPr>
          <p:nvPr/>
        </p:nvSpPr>
        <p:spPr bwMode="auto">
          <a:xfrm>
            <a:off x="2862263" y="3232150"/>
            <a:ext cx="1206500" cy="7080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smtClean="0">
                <a:ln>
                  <a:noFill/>
                </a:ln>
                <a:solidFill>
                  <a:schemeClr val="accent2"/>
                </a:solidFill>
                <a:effectLst/>
                <a:uLnTx/>
                <a:uFillTx/>
                <a:latin typeface="+mj-ea"/>
                <a:ea typeface="+mj-ea"/>
                <a:cs typeface="+mn-cs"/>
              </a:rPr>
              <a:t>客户机</a:t>
            </a:r>
            <a:endParaRPr kumimoji="1" lang="zh-CN" altLang="en-US" sz="2000" b="0" i="0" u="none" strike="noStrike" kern="1200" cap="none" spc="0" normalizeH="0" baseline="0" noProof="0" smtClean="0">
              <a:ln>
                <a:noFill/>
              </a:ln>
              <a:solidFill>
                <a:schemeClr val="accent2"/>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000" b="0" i="0" u="none" strike="noStrike" kern="1200" cap="none" spc="0" normalizeH="0" baseline="0" noProof="0" smtClean="0">
                <a:ln>
                  <a:noFill/>
                </a:ln>
                <a:solidFill>
                  <a:schemeClr val="accent2"/>
                </a:solidFill>
                <a:effectLst/>
                <a:uLnTx/>
                <a:uFillTx/>
                <a:latin typeface="+mj-ea"/>
                <a:ea typeface="+mj-ea"/>
                <a:cs typeface="+mn-cs"/>
              </a:rPr>
              <a:t>process</a:t>
            </a:r>
            <a:endParaRPr kumimoji="1" lang="en-US" altLang="zh-CN" sz="2000" b="0" i="0" u="none" strike="noStrike" kern="1200" cap="none" spc="0" normalizeH="0" baseline="0" noProof="0" smtClean="0">
              <a:ln>
                <a:noFill/>
              </a:ln>
              <a:solidFill>
                <a:schemeClr val="accent2"/>
              </a:solidFill>
              <a:effectLst/>
              <a:uLnTx/>
              <a:uFillTx/>
              <a:latin typeface="+mj-ea"/>
              <a:ea typeface="+mj-ea"/>
              <a:cs typeface="+mn-cs"/>
            </a:endParaRPr>
          </a:p>
        </p:txBody>
      </p:sp>
      <p:sp>
        <p:nvSpPr>
          <p:cNvPr id="60424" name="Rectangle 20"/>
          <p:cNvSpPr>
            <a:spLocks noChangeArrowheads="1"/>
          </p:cNvSpPr>
          <p:nvPr/>
        </p:nvSpPr>
        <p:spPr bwMode="auto">
          <a:xfrm>
            <a:off x="4051300" y="5518150"/>
            <a:ext cx="1625600" cy="50958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5" name="Text Box 21"/>
          <p:cNvSpPr txBox="1">
            <a:spLocks noChangeArrowheads="1"/>
          </p:cNvSpPr>
          <p:nvPr/>
        </p:nvSpPr>
        <p:spPr bwMode="auto">
          <a:xfrm>
            <a:off x="4087813" y="5449888"/>
            <a:ext cx="154146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1800" b="0" i="0" u="none" strike="noStrike" kern="1200" cap="none" spc="0" normalizeH="0" baseline="0" noProof="0" smtClean="0">
                <a:ln>
                  <a:noFill/>
                </a:ln>
                <a:solidFill>
                  <a:schemeClr val="bg1"/>
                </a:solidFill>
                <a:effectLst/>
                <a:uLnTx/>
                <a:uFillTx/>
                <a:latin typeface="+mj-ea"/>
                <a:ea typeface="+mj-ea"/>
                <a:cs typeface="+mn-cs"/>
              </a:rPr>
              <a:t>客户机 </a:t>
            </a:r>
            <a:r>
              <a:rPr kumimoji="1" lang="en-US" altLang="zh-CN" sz="1800" b="0" i="0" u="none" strike="noStrike" kern="1200" cap="none" spc="0" normalizeH="0" baseline="0" noProof="0" smtClean="0">
                <a:ln>
                  <a:noFill/>
                </a:ln>
                <a:solidFill>
                  <a:schemeClr val="bg1"/>
                </a:solidFill>
                <a:effectLst/>
                <a:uLnTx/>
                <a:uFillTx/>
                <a:latin typeface="+mj-ea"/>
                <a:ea typeface="+mj-ea"/>
                <a:cs typeface="+mn-cs"/>
              </a:rPr>
              <a:t>UDP </a:t>
            </a:r>
            <a:r>
              <a:rPr kumimoji="1" lang="zh-CN" altLang="en-US" sz="1800" b="0" i="0" u="none" strike="noStrike" kern="1200" cap="none" spc="0" normalizeH="0" baseline="0" noProof="0" smtClean="0">
                <a:ln>
                  <a:noFill/>
                </a:ln>
                <a:solidFill>
                  <a:schemeClr val="bg1"/>
                </a:solidFill>
                <a:effectLst/>
                <a:uLnTx/>
                <a:uFillTx/>
                <a:latin typeface="+mj-ea"/>
                <a:ea typeface="+mj-ea"/>
                <a:cs typeface="+mn-cs"/>
              </a:rPr>
              <a:t>套接字</a:t>
            </a:r>
            <a:endParaRPr kumimoji="1" lang="zh-CN" altLang="en-US" sz="18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6" name="Line 22"/>
          <p:cNvSpPr>
            <a:spLocks noChangeShapeType="1"/>
          </p:cNvSpPr>
          <p:nvPr/>
        </p:nvSpPr>
        <p:spPr bwMode="auto">
          <a:xfrm flipV="1">
            <a:off x="5235575" y="5997575"/>
            <a:ext cx="0" cy="28733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7" name="AutoShape 2"/>
          <p:cNvSpPr>
            <a:spLocks noChangeAspect="1" noChangeArrowheads="1" noTextEdit="1"/>
          </p:cNvSpPr>
          <p:nvPr/>
        </p:nvSpPr>
        <p:spPr bwMode="auto">
          <a:xfrm>
            <a:off x="2655888" y="2101850"/>
            <a:ext cx="4067175"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8" name="Freeform 4"/>
          <p:cNvSpPr/>
          <p:nvPr/>
        </p:nvSpPr>
        <p:spPr bwMode="auto">
          <a:xfrm>
            <a:off x="2705100" y="2668588"/>
            <a:ext cx="3968750" cy="3121025"/>
          </a:xfrm>
          <a:custGeom>
            <a:avLst/>
            <a:gdLst>
              <a:gd name="T0" fmla="*/ 2147483646 w 2500"/>
              <a:gd name="T1" fmla="*/ 2147483646 h 1966"/>
              <a:gd name="T2" fmla="*/ 2147483646 w 2500"/>
              <a:gd name="T3" fmla="*/ 2147483646 h 1966"/>
              <a:gd name="T4" fmla="*/ 2147483646 w 2500"/>
              <a:gd name="T5" fmla="*/ 2147483646 h 1966"/>
              <a:gd name="T6" fmla="*/ 2147483646 w 2500"/>
              <a:gd name="T7" fmla="*/ 2147483646 h 1966"/>
              <a:gd name="T8" fmla="*/ 2147483646 w 2500"/>
              <a:gd name="T9" fmla="*/ 2147483646 h 1966"/>
              <a:gd name="T10" fmla="*/ 2147483646 w 2500"/>
              <a:gd name="T11" fmla="*/ 2147483646 h 1966"/>
              <a:gd name="T12" fmla="*/ 2147483646 w 2500"/>
              <a:gd name="T13" fmla="*/ 2147483646 h 1966"/>
              <a:gd name="T14" fmla="*/ 2147483646 w 2500"/>
              <a:gd name="T15" fmla="*/ 2147483646 h 1966"/>
              <a:gd name="T16" fmla="*/ 2147483646 w 2500"/>
              <a:gd name="T17" fmla="*/ 2147483646 h 1966"/>
              <a:gd name="T18" fmla="*/ 2147483646 w 2500"/>
              <a:gd name="T19" fmla="*/ 2147483646 h 1966"/>
              <a:gd name="T20" fmla="*/ 2147483646 w 2500"/>
              <a:gd name="T21" fmla="*/ 2147483646 h 1966"/>
              <a:gd name="T22" fmla="*/ 2147483646 w 2500"/>
              <a:gd name="T23" fmla="*/ 2147483646 h 1966"/>
              <a:gd name="T24" fmla="*/ 2147483646 w 2500"/>
              <a:gd name="T25" fmla="*/ 2147483646 h 1966"/>
              <a:gd name="T26" fmla="*/ 2147483646 w 2500"/>
              <a:gd name="T27" fmla="*/ 2147483646 h 1966"/>
              <a:gd name="T28" fmla="*/ 2147483646 w 2500"/>
              <a:gd name="T29" fmla="*/ 2147483646 h 1966"/>
              <a:gd name="T30" fmla="*/ 2147483646 w 2500"/>
              <a:gd name="T31" fmla="*/ 2147483646 h 1966"/>
              <a:gd name="T32" fmla="*/ 2147483646 w 2500"/>
              <a:gd name="T33" fmla="*/ 2147483646 h 1966"/>
              <a:gd name="T34" fmla="*/ 2147483646 w 2500"/>
              <a:gd name="T35" fmla="*/ 2147483646 h 1966"/>
              <a:gd name="T36" fmla="*/ 2147483646 w 2500"/>
              <a:gd name="T37" fmla="*/ 0 h 1966"/>
              <a:gd name="T38" fmla="*/ 2147483646 w 2500"/>
              <a:gd name="T39" fmla="*/ 2147483646 h 1966"/>
              <a:gd name="T40" fmla="*/ 2147483646 w 2500"/>
              <a:gd name="T41" fmla="*/ 2147483646 h 1966"/>
              <a:gd name="T42" fmla="*/ 2147483646 w 2500"/>
              <a:gd name="T43" fmla="*/ 2147483646 h 1966"/>
              <a:gd name="T44" fmla="*/ 2147483646 w 2500"/>
              <a:gd name="T45" fmla="*/ 2147483646 h 1966"/>
              <a:gd name="T46" fmla="*/ 2147483646 w 2500"/>
              <a:gd name="T47" fmla="*/ 2147483646 h 1966"/>
              <a:gd name="T48" fmla="*/ 2147483646 w 2500"/>
              <a:gd name="T49" fmla="*/ 2147483646 h 1966"/>
              <a:gd name="T50" fmla="*/ 2147483646 w 2500"/>
              <a:gd name="T51" fmla="*/ 2147483646 h 1966"/>
              <a:gd name="T52" fmla="*/ 2147483646 w 2500"/>
              <a:gd name="T53" fmla="*/ 2147483646 h 1966"/>
              <a:gd name="T54" fmla="*/ 0 w 2500"/>
              <a:gd name="T55" fmla="*/ 2147483646 h 1966"/>
              <a:gd name="T56" fmla="*/ 2147483646 w 2500"/>
              <a:gd name="T57" fmla="*/ 2147483646 h 1966"/>
              <a:gd name="T58" fmla="*/ 2147483646 w 2500"/>
              <a:gd name="T59" fmla="*/ 2147483646 h 1966"/>
              <a:gd name="T60" fmla="*/ 2147483646 w 2500"/>
              <a:gd name="T61" fmla="*/ 2147483646 h 1966"/>
              <a:gd name="T62" fmla="*/ 2147483646 w 2500"/>
              <a:gd name="T63" fmla="*/ 2147483646 h 1966"/>
              <a:gd name="T64" fmla="*/ 2147483646 w 2500"/>
              <a:gd name="T65" fmla="*/ 2147483646 h 1966"/>
              <a:gd name="T66" fmla="*/ 2147483646 w 2500"/>
              <a:gd name="T67" fmla="*/ 2147483646 h 1966"/>
              <a:gd name="T68" fmla="*/ 2147483646 w 2500"/>
              <a:gd name="T69" fmla="*/ 2147483646 h 1966"/>
              <a:gd name="T70" fmla="*/ 2147483646 w 2500"/>
              <a:gd name="T71" fmla="*/ 2147483646 h 19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00" h="1966">
                <a:moveTo>
                  <a:pt x="731" y="1966"/>
                </a:moveTo>
                <a:lnTo>
                  <a:pt x="1769" y="1966"/>
                </a:lnTo>
                <a:lnTo>
                  <a:pt x="1835" y="1963"/>
                </a:lnTo>
                <a:lnTo>
                  <a:pt x="1902" y="1954"/>
                </a:lnTo>
                <a:lnTo>
                  <a:pt x="1969" y="1940"/>
                </a:lnTo>
                <a:lnTo>
                  <a:pt x="2032" y="1920"/>
                </a:lnTo>
                <a:lnTo>
                  <a:pt x="2094" y="1894"/>
                </a:lnTo>
                <a:lnTo>
                  <a:pt x="2152" y="1864"/>
                </a:lnTo>
                <a:lnTo>
                  <a:pt x="2209" y="1828"/>
                </a:lnTo>
                <a:lnTo>
                  <a:pt x="2261" y="1788"/>
                </a:lnTo>
                <a:lnTo>
                  <a:pt x="2308" y="1743"/>
                </a:lnTo>
                <a:lnTo>
                  <a:pt x="2352" y="1694"/>
                </a:lnTo>
                <a:lnTo>
                  <a:pt x="2390" y="1643"/>
                </a:lnTo>
                <a:lnTo>
                  <a:pt x="2422" y="1588"/>
                </a:lnTo>
                <a:lnTo>
                  <a:pt x="2450" y="1530"/>
                </a:lnTo>
                <a:lnTo>
                  <a:pt x="2471" y="1469"/>
                </a:lnTo>
                <a:lnTo>
                  <a:pt x="2487" y="1409"/>
                </a:lnTo>
                <a:lnTo>
                  <a:pt x="2497" y="1347"/>
                </a:lnTo>
                <a:lnTo>
                  <a:pt x="2500" y="1283"/>
                </a:lnTo>
                <a:lnTo>
                  <a:pt x="2500" y="683"/>
                </a:lnTo>
                <a:lnTo>
                  <a:pt x="2497" y="620"/>
                </a:lnTo>
                <a:lnTo>
                  <a:pt x="2487" y="557"/>
                </a:lnTo>
                <a:lnTo>
                  <a:pt x="2471" y="497"/>
                </a:lnTo>
                <a:lnTo>
                  <a:pt x="2450" y="436"/>
                </a:lnTo>
                <a:lnTo>
                  <a:pt x="2422" y="378"/>
                </a:lnTo>
                <a:lnTo>
                  <a:pt x="2390" y="324"/>
                </a:lnTo>
                <a:lnTo>
                  <a:pt x="2352" y="270"/>
                </a:lnTo>
                <a:lnTo>
                  <a:pt x="2308" y="223"/>
                </a:lnTo>
                <a:lnTo>
                  <a:pt x="2261" y="178"/>
                </a:lnTo>
                <a:lnTo>
                  <a:pt x="2209" y="138"/>
                </a:lnTo>
                <a:lnTo>
                  <a:pt x="2152" y="102"/>
                </a:lnTo>
                <a:lnTo>
                  <a:pt x="2094" y="72"/>
                </a:lnTo>
                <a:lnTo>
                  <a:pt x="2032" y="46"/>
                </a:lnTo>
                <a:lnTo>
                  <a:pt x="1969" y="26"/>
                </a:lnTo>
                <a:lnTo>
                  <a:pt x="1902" y="11"/>
                </a:lnTo>
                <a:lnTo>
                  <a:pt x="1835" y="3"/>
                </a:lnTo>
                <a:lnTo>
                  <a:pt x="1769" y="0"/>
                </a:lnTo>
                <a:lnTo>
                  <a:pt x="731" y="0"/>
                </a:lnTo>
                <a:lnTo>
                  <a:pt x="665" y="3"/>
                </a:lnTo>
                <a:lnTo>
                  <a:pt x="596" y="11"/>
                </a:lnTo>
                <a:lnTo>
                  <a:pt x="531" y="26"/>
                </a:lnTo>
                <a:lnTo>
                  <a:pt x="468" y="46"/>
                </a:lnTo>
                <a:lnTo>
                  <a:pt x="406" y="72"/>
                </a:lnTo>
                <a:lnTo>
                  <a:pt x="346" y="102"/>
                </a:lnTo>
                <a:lnTo>
                  <a:pt x="291" y="138"/>
                </a:lnTo>
                <a:lnTo>
                  <a:pt x="239" y="178"/>
                </a:lnTo>
                <a:lnTo>
                  <a:pt x="192" y="223"/>
                </a:lnTo>
                <a:lnTo>
                  <a:pt x="148" y="270"/>
                </a:lnTo>
                <a:lnTo>
                  <a:pt x="109" y="324"/>
                </a:lnTo>
                <a:lnTo>
                  <a:pt x="76" y="378"/>
                </a:lnTo>
                <a:lnTo>
                  <a:pt x="49" y="436"/>
                </a:lnTo>
                <a:lnTo>
                  <a:pt x="28" y="497"/>
                </a:lnTo>
                <a:lnTo>
                  <a:pt x="13" y="557"/>
                </a:lnTo>
                <a:lnTo>
                  <a:pt x="3" y="620"/>
                </a:lnTo>
                <a:lnTo>
                  <a:pt x="0" y="683"/>
                </a:lnTo>
                <a:lnTo>
                  <a:pt x="0" y="1283"/>
                </a:lnTo>
                <a:lnTo>
                  <a:pt x="3" y="1347"/>
                </a:lnTo>
                <a:lnTo>
                  <a:pt x="13" y="1409"/>
                </a:lnTo>
                <a:lnTo>
                  <a:pt x="28" y="1469"/>
                </a:lnTo>
                <a:lnTo>
                  <a:pt x="49" y="1530"/>
                </a:lnTo>
                <a:lnTo>
                  <a:pt x="76" y="1588"/>
                </a:lnTo>
                <a:lnTo>
                  <a:pt x="109" y="1643"/>
                </a:lnTo>
                <a:lnTo>
                  <a:pt x="148" y="1694"/>
                </a:lnTo>
                <a:lnTo>
                  <a:pt x="192" y="1743"/>
                </a:lnTo>
                <a:lnTo>
                  <a:pt x="239" y="1788"/>
                </a:lnTo>
                <a:lnTo>
                  <a:pt x="291" y="1828"/>
                </a:lnTo>
                <a:lnTo>
                  <a:pt x="346" y="1864"/>
                </a:lnTo>
                <a:lnTo>
                  <a:pt x="406" y="1894"/>
                </a:lnTo>
                <a:lnTo>
                  <a:pt x="468" y="1920"/>
                </a:lnTo>
                <a:lnTo>
                  <a:pt x="531" y="1940"/>
                </a:lnTo>
                <a:lnTo>
                  <a:pt x="596" y="1954"/>
                </a:lnTo>
                <a:lnTo>
                  <a:pt x="665" y="1963"/>
                </a:lnTo>
                <a:lnTo>
                  <a:pt x="731" y="1966"/>
                </a:lnTo>
                <a:close/>
              </a:path>
            </a:pathLst>
          </a:custGeom>
          <a:solidFill>
            <a:srgbClr val="FFFFFF"/>
          </a:solidFill>
          <a:ln w="79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29" name="Rectangle 5"/>
          <p:cNvSpPr>
            <a:spLocks noChangeArrowheads="1"/>
          </p:cNvSpPr>
          <p:nvPr/>
        </p:nvSpPr>
        <p:spPr bwMode="auto">
          <a:xfrm>
            <a:off x="4351338" y="4565650"/>
            <a:ext cx="193675" cy="814388"/>
          </a:xfrm>
          <a:prstGeom prst="rect">
            <a:avLst/>
          </a:prstGeom>
          <a:solidFill>
            <a:srgbClr val="FFFFFF"/>
          </a:solidFill>
          <a:ln w="7938">
            <a:solidFill>
              <a:srgbClr val="000000"/>
            </a:solidFill>
            <a:miter lim="800000"/>
          </a:ln>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0" name="Rectangle 6"/>
          <p:cNvSpPr>
            <a:spLocks noChangeArrowheads="1"/>
          </p:cNvSpPr>
          <p:nvPr/>
        </p:nvSpPr>
        <p:spPr bwMode="auto">
          <a:xfrm rot="-5400000">
            <a:off x="4045744" y="4812506"/>
            <a:ext cx="8112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000" b="0" i="0" u="none" strike="noStrike" kern="1200" cap="none" spc="0" normalizeH="0" baseline="0" noProof="0" smtClean="0">
                <a:ln>
                  <a:noFill/>
                </a:ln>
                <a:solidFill>
                  <a:srgbClr val="FF3300"/>
                </a:solidFill>
                <a:effectLst/>
                <a:uLnTx/>
                <a:uFillTx/>
                <a:latin typeface="+mj-ea"/>
                <a:ea typeface="+mj-ea"/>
                <a:cs typeface="+mn-cs"/>
              </a:rPr>
              <a:t>sendPacket</a:t>
            </a:r>
            <a:endParaRPr kumimoji="1" lang="en-US" altLang="zh-CN" sz="1000" b="0" i="0" u="none" strike="noStrike" kern="1200" cap="none" spc="0" normalizeH="0" baseline="0" noProof="0" smtClean="0">
              <a:ln>
                <a:noFill/>
              </a:ln>
              <a:solidFill>
                <a:srgbClr val="FF3300"/>
              </a:solidFill>
              <a:effectLst/>
              <a:uLnTx/>
              <a:uFillTx/>
              <a:latin typeface="+mj-ea"/>
              <a:ea typeface="+mj-ea"/>
              <a:cs typeface="+mn-cs"/>
            </a:endParaRPr>
          </a:p>
        </p:txBody>
      </p:sp>
      <p:sp>
        <p:nvSpPr>
          <p:cNvPr id="60431" name="Line 7"/>
          <p:cNvSpPr>
            <a:spLocks noChangeShapeType="1"/>
          </p:cNvSpPr>
          <p:nvPr/>
        </p:nvSpPr>
        <p:spPr bwMode="auto">
          <a:xfrm>
            <a:off x="4446588" y="4295775"/>
            <a:ext cx="1588" cy="214313"/>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2" name="Freeform 8"/>
          <p:cNvSpPr/>
          <p:nvPr/>
        </p:nvSpPr>
        <p:spPr bwMode="auto">
          <a:xfrm>
            <a:off x="4413250" y="4500563"/>
            <a:ext cx="69850" cy="65088"/>
          </a:xfrm>
          <a:custGeom>
            <a:avLst/>
            <a:gdLst>
              <a:gd name="T0" fmla="*/ 2147483646 w 44"/>
              <a:gd name="T1" fmla="*/ 0 h 41"/>
              <a:gd name="T2" fmla="*/ 2147483646 w 44"/>
              <a:gd name="T3" fmla="*/ 2147483646 h 41"/>
              <a:gd name="T4" fmla="*/ 0 w 44"/>
              <a:gd name="T5" fmla="*/ 0 h 41"/>
              <a:gd name="T6" fmla="*/ 2147483646 w 44"/>
              <a:gd name="T7" fmla="*/ 0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44" y="0"/>
                </a:moveTo>
                <a:lnTo>
                  <a:pt x="21" y="41"/>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3" name="Line 9"/>
          <p:cNvSpPr>
            <a:spLocks noChangeShapeType="1"/>
          </p:cNvSpPr>
          <p:nvPr/>
        </p:nvSpPr>
        <p:spPr bwMode="auto">
          <a:xfrm>
            <a:off x="4446588" y="5921375"/>
            <a:ext cx="1588" cy="303213"/>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4" name="Freeform 10"/>
          <p:cNvSpPr/>
          <p:nvPr/>
        </p:nvSpPr>
        <p:spPr bwMode="auto">
          <a:xfrm>
            <a:off x="4413250" y="6218238"/>
            <a:ext cx="69850" cy="65088"/>
          </a:xfrm>
          <a:custGeom>
            <a:avLst/>
            <a:gdLst>
              <a:gd name="T0" fmla="*/ 2147483646 w 44"/>
              <a:gd name="T1" fmla="*/ 0 h 41"/>
              <a:gd name="T2" fmla="*/ 2147483646 w 44"/>
              <a:gd name="T3" fmla="*/ 2147483646 h 41"/>
              <a:gd name="T4" fmla="*/ 0 w 44"/>
              <a:gd name="T5" fmla="*/ 0 h 41"/>
              <a:gd name="T6" fmla="*/ 2147483646 w 44"/>
              <a:gd name="T7" fmla="*/ 0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44" y="0"/>
                </a:moveTo>
                <a:lnTo>
                  <a:pt x="21" y="41"/>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5" name="Rectangle 11"/>
          <p:cNvSpPr>
            <a:spLocks noChangeArrowheads="1"/>
          </p:cNvSpPr>
          <p:nvPr/>
        </p:nvSpPr>
        <p:spPr bwMode="auto">
          <a:xfrm>
            <a:off x="4149725" y="6307138"/>
            <a:ext cx="423863"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100" b="0" i="0" u="none" strike="noStrike" kern="1200" cap="none" spc="0" normalizeH="0" baseline="0" noProof="0" smtClean="0">
                <a:ln>
                  <a:noFill/>
                </a:ln>
                <a:solidFill>
                  <a:srgbClr val="000000"/>
                </a:solidFill>
                <a:effectLst/>
                <a:uLnTx/>
                <a:uFillTx/>
                <a:latin typeface="+mj-ea"/>
                <a:ea typeface="+mj-ea"/>
                <a:cs typeface="+mn-cs"/>
              </a:rPr>
              <a:t>到网络</a:t>
            </a:r>
            <a:endParaRPr kumimoji="1" lang="zh-CN" altLang="en-US" sz="32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6" name="Line 12"/>
          <p:cNvSpPr>
            <a:spLocks noChangeShapeType="1"/>
          </p:cNvSpPr>
          <p:nvPr/>
        </p:nvSpPr>
        <p:spPr bwMode="auto">
          <a:xfrm flipV="1">
            <a:off x="5221288" y="5976938"/>
            <a:ext cx="1588" cy="306388"/>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7" name="Freeform 13"/>
          <p:cNvSpPr/>
          <p:nvPr/>
        </p:nvSpPr>
        <p:spPr bwMode="auto">
          <a:xfrm>
            <a:off x="5187950" y="5921375"/>
            <a:ext cx="69850" cy="65088"/>
          </a:xfrm>
          <a:custGeom>
            <a:avLst/>
            <a:gdLst>
              <a:gd name="T0" fmla="*/ 0 w 44"/>
              <a:gd name="T1" fmla="*/ 2147483646 h 41"/>
              <a:gd name="T2" fmla="*/ 2147483646 w 44"/>
              <a:gd name="T3" fmla="*/ 0 h 41"/>
              <a:gd name="T4" fmla="*/ 2147483646 w 44"/>
              <a:gd name="T5" fmla="*/ 2147483646 h 41"/>
              <a:gd name="T6" fmla="*/ 0 w 44"/>
              <a:gd name="T7" fmla="*/ 2147483646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0" y="41"/>
                </a:moveTo>
                <a:lnTo>
                  <a:pt x="21" y="0"/>
                </a:lnTo>
                <a:lnTo>
                  <a:pt x="44" y="4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8" name="Rectangle 14"/>
          <p:cNvSpPr>
            <a:spLocks noChangeArrowheads="1"/>
          </p:cNvSpPr>
          <p:nvPr/>
        </p:nvSpPr>
        <p:spPr bwMode="auto">
          <a:xfrm>
            <a:off x="4948238" y="6307138"/>
            <a:ext cx="563563"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100" b="0" i="0" u="none" strike="noStrike" kern="1200" cap="none" spc="0" normalizeH="0" baseline="0" noProof="0" smtClean="0">
                <a:ln>
                  <a:noFill/>
                </a:ln>
                <a:solidFill>
                  <a:srgbClr val="000000"/>
                </a:solidFill>
                <a:effectLst/>
                <a:uLnTx/>
                <a:uFillTx/>
                <a:latin typeface="+mj-ea"/>
                <a:ea typeface="+mj-ea"/>
                <a:cs typeface="+mn-cs"/>
              </a:rPr>
              <a:t>来自网络</a:t>
            </a:r>
            <a:endParaRPr kumimoji="1" lang="zh-CN" altLang="en-US" sz="32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39" name="Rectangle 15"/>
          <p:cNvSpPr>
            <a:spLocks noChangeArrowheads="1"/>
          </p:cNvSpPr>
          <p:nvPr/>
        </p:nvSpPr>
        <p:spPr bwMode="auto">
          <a:xfrm>
            <a:off x="5126038" y="4565650"/>
            <a:ext cx="193675" cy="903288"/>
          </a:xfrm>
          <a:prstGeom prst="rect">
            <a:avLst/>
          </a:prstGeom>
          <a:solidFill>
            <a:srgbClr val="FFFFFF"/>
          </a:solidFill>
          <a:ln w="7938">
            <a:solidFill>
              <a:srgbClr val="000000"/>
            </a:solidFill>
            <a:miter lim="800000"/>
          </a:ln>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0" name="Rectangle 16"/>
          <p:cNvSpPr>
            <a:spLocks noChangeArrowheads="1"/>
          </p:cNvSpPr>
          <p:nvPr/>
        </p:nvSpPr>
        <p:spPr bwMode="auto">
          <a:xfrm rot="-5400000">
            <a:off x="4804569" y="4896644"/>
            <a:ext cx="8397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000" b="0" i="0" u="none" strike="noStrike" kern="1200" cap="none" spc="0" normalizeH="0" baseline="0" noProof="0" smtClean="0">
                <a:ln>
                  <a:noFill/>
                </a:ln>
                <a:solidFill>
                  <a:srgbClr val="FF3300"/>
                </a:solidFill>
                <a:effectLst/>
                <a:uLnTx/>
                <a:uFillTx/>
                <a:latin typeface="+mj-ea"/>
                <a:ea typeface="+mj-ea"/>
                <a:cs typeface="+mn-cs"/>
              </a:rPr>
              <a:t>receivePacket</a:t>
            </a:r>
            <a:endParaRPr kumimoji="1" lang="en-US" altLang="zh-CN" sz="2400" b="0" i="0" u="none" strike="noStrike" kern="1200" cap="none" spc="0" normalizeH="0" baseline="0" noProof="0" smtClean="0">
              <a:ln>
                <a:noFill/>
              </a:ln>
              <a:solidFill>
                <a:srgbClr val="FF3300"/>
              </a:solidFill>
              <a:effectLst/>
              <a:uLnTx/>
              <a:uFillTx/>
              <a:latin typeface="+mj-ea"/>
              <a:ea typeface="+mj-ea"/>
              <a:cs typeface="+mn-cs"/>
            </a:endParaRPr>
          </a:p>
        </p:txBody>
      </p:sp>
      <p:sp>
        <p:nvSpPr>
          <p:cNvPr id="60441" name="Line 17"/>
          <p:cNvSpPr>
            <a:spLocks noChangeShapeType="1"/>
          </p:cNvSpPr>
          <p:nvPr/>
        </p:nvSpPr>
        <p:spPr bwMode="auto">
          <a:xfrm flipV="1">
            <a:off x="5221288" y="4397375"/>
            <a:ext cx="1588" cy="168275"/>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2" name="Freeform 18"/>
          <p:cNvSpPr/>
          <p:nvPr/>
        </p:nvSpPr>
        <p:spPr bwMode="auto">
          <a:xfrm>
            <a:off x="5187950" y="4338638"/>
            <a:ext cx="69850" cy="65088"/>
          </a:xfrm>
          <a:custGeom>
            <a:avLst/>
            <a:gdLst>
              <a:gd name="T0" fmla="*/ 0 w 44"/>
              <a:gd name="T1" fmla="*/ 2147483646 h 41"/>
              <a:gd name="T2" fmla="*/ 2147483646 w 44"/>
              <a:gd name="T3" fmla="*/ 0 h 41"/>
              <a:gd name="T4" fmla="*/ 2147483646 w 44"/>
              <a:gd name="T5" fmla="*/ 2147483646 h 41"/>
              <a:gd name="T6" fmla="*/ 0 w 44"/>
              <a:gd name="T7" fmla="*/ 2147483646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0" y="41"/>
                </a:moveTo>
                <a:lnTo>
                  <a:pt x="21" y="0"/>
                </a:lnTo>
                <a:lnTo>
                  <a:pt x="44" y="4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3" name="Rectangle 19"/>
          <p:cNvSpPr>
            <a:spLocks noChangeArrowheads="1"/>
          </p:cNvSpPr>
          <p:nvPr/>
        </p:nvSpPr>
        <p:spPr bwMode="auto">
          <a:xfrm>
            <a:off x="4262438" y="2578100"/>
            <a:ext cx="384175" cy="993775"/>
          </a:xfrm>
          <a:prstGeom prst="rect">
            <a:avLst/>
          </a:prstGeom>
          <a:solidFill>
            <a:srgbClr val="FFFFFF"/>
          </a:solidFill>
          <a:ln w="7938">
            <a:solidFill>
              <a:srgbClr val="000000"/>
            </a:solidFill>
            <a:miter lim="800000"/>
          </a:ln>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4" name="Rectangle 20"/>
          <p:cNvSpPr>
            <a:spLocks noChangeArrowheads="1"/>
          </p:cNvSpPr>
          <p:nvPr/>
        </p:nvSpPr>
        <p:spPr bwMode="auto">
          <a:xfrm rot="16200000">
            <a:off x="4042569" y="2978944"/>
            <a:ext cx="847725"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200" b="0" i="0" u="none" strike="noStrike" kern="1200" cap="none" spc="0" normalizeH="0" baseline="0" noProof="0" smtClean="0">
                <a:ln>
                  <a:noFill/>
                </a:ln>
                <a:solidFill>
                  <a:srgbClr val="FF3300"/>
                </a:solidFill>
                <a:effectLst/>
                <a:uLnTx/>
                <a:uFillTx/>
                <a:latin typeface="+mj-ea"/>
                <a:ea typeface="+mj-ea"/>
                <a:cs typeface="+mn-cs"/>
              </a:rPr>
              <a:t>inFromUser</a:t>
            </a:r>
            <a:endParaRPr kumimoji="1" lang="en-US" altLang="zh-CN" sz="1200" b="0" i="0" u="none" strike="noStrike" kern="1200" cap="none" spc="0" normalizeH="0" baseline="0" noProof="0" smtClean="0">
              <a:ln>
                <a:noFill/>
              </a:ln>
              <a:solidFill>
                <a:srgbClr val="FF3300"/>
              </a:solidFill>
              <a:effectLst/>
              <a:uLnTx/>
              <a:uFillTx/>
              <a:latin typeface="+mj-ea"/>
              <a:ea typeface="+mj-ea"/>
              <a:cs typeface="+mn-cs"/>
            </a:endParaRPr>
          </a:p>
        </p:txBody>
      </p:sp>
      <p:sp>
        <p:nvSpPr>
          <p:cNvPr id="60445" name="Line 21"/>
          <p:cNvSpPr>
            <a:spLocks noChangeShapeType="1"/>
          </p:cNvSpPr>
          <p:nvPr/>
        </p:nvSpPr>
        <p:spPr bwMode="auto">
          <a:xfrm>
            <a:off x="4446588" y="2216150"/>
            <a:ext cx="1588" cy="306388"/>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6" name="Freeform 22"/>
          <p:cNvSpPr/>
          <p:nvPr/>
        </p:nvSpPr>
        <p:spPr bwMode="auto">
          <a:xfrm>
            <a:off x="4413250" y="2513013"/>
            <a:ext cx="69850" cy="65088"/>
          </a:xfrm>
          <a:custGeom>
            <a:avLst/>
            <a:gdLst>
              <a:gd name="T0" fmla="*/ 2147483646 w 44"/>
              <a:gd name="T1" fmla="*/ 0 h 41"/>
              <a:gd name="T2" fmla="*/ 2147483646 w 44"/>
              <a:gd name="T3" fmla="*/ 2147483646 h 41"/>
              <a:gd name="T4" fmla="*/ 0 w 44"/>
              <a:gd name="T5" fmla="*/ 0 h 41"/>
              <a:gd name="T6" fmla="*/ 2147483646 w 44"/>
              <a:gd name="T7" fmla="*/ 0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44" y="0"/>
                </a:moveTo>
                <a:lnTo>
                  <a:pt x="21" y="41"/>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7" name="Rectangle 23"/>
          <p:cNvSpPr>
            <a:spLocks noChangeArrowheads="1"/>
          </p:cNvSpPr>
          <p:nvPr/>
        </p:nvSpPr>
        <p:spPr bwMode="auto">
          <a:xfrm>
            <a:off x="4165600" y="2052638"/>
            <a:ext cx="282575"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100" b="0" i="0" u="none" strike="noStrike" kern="1200" cap="none" spc="0" normalizeH="0" baseline="0" noProof="0" smtClean="0">
                <a:ln>
                  <a:noFill/>
                </a:ln>
                <a:solidFill>
                  <a:srgbClr val="000000"/>
                </a:solidFill>
                <a:effectLst/>
                <a:uLnTx/>
                <a:uFillTx/>
                <a:latin typeface="+mj-ea"/>
                <a:ea typeface="+mj-ea"/>
                <a:cs typeface="+mn-cs"/>
              </a:rPr>
              <a:t>键盘</a:t>
            </a:r>
            <a:endParaRPr kumimoji="1" lang="zh-CN" altLang="en-US" sz="32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8" name="Line 24"/>
          <p:cNvSpPr>
            <a:spLocks noChangeShapeType="1"/>
          </p:cNvSpPr>
          <p:nvPr/>
        </p:nvSpPr>
        <p:spPr bwMode="auto">
          <a:xfrm flipV="1">
            <a:off x="5221288" y="2273300"/>
            <a:ext cx="1588" cy="938213"/>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49" name="Freeform 25"/>
          <p:cNvSpPr/>
          <p:nvPr/>
        </p:nvSpPr>
        <p:spPr bwMode="auto">
          <a:xfrm>
            <a:off x="5187950" y="2216150"/>
            <a:ext cx="69850" cy="65088"/>
          </a:xfrm>
          <a:custGeom>
            <a:avLst/>
            <a:gdLst>
              <a:gd name="T0" fmla="*/ 0 w 44"/>
              <a:gd name="T1" fmla="*/ 2147483646 h 41"/>
              <a:gd name="T2" fmla="*/ 2147483646 w 44"/>
              <a:gd name="T3" fmla="*/ 0 h 41"/>
              <a:gd name="T4" fmla="*/ 2147483646 w 44"/>
              <a:gd name="T5" fmla="*/ 2147483646 h 41"/>
              <a:gd name="T6" fmla="*/ 0 w 44"/>
              <a:gd name="T7" fmla="*/ 2147483646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0" y="41"/>
                </a:moveTo>
                <a:lnTo>
                  <a:pt x="21" y="0"/>
                </a:lnTo>
                <a:lnTo>
                  <a:pt x="44" y="4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0" name="Rectangle 26"/>
          <p:cNvSpPr>
            <a:spLocks noChangeArrowheads="1"/>
          </p:cNvSpPr>
          <p:nvPr/>
        </p:nvSpPr>
        <p:spPr bwMode="auto">
          <a:xfrm>
            <a:off x="5006975" y="2052638"/>
            <a:ext cx="423863"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1100" b="0" i="0" u="none" strike="noStrike" kern="1200" cap="none" spc="0" normalizeH="0" baseline="0" noProof="0" smtClean="0">
                <a:ln>
                  <a:noFill/>
                </a:ln>
                <a:solidFill>
                  <a:srgbClr val="000000"/>
                </a:solidFill>
                <a:effectLst/>
                <a:uLnTx/>
                <a:uFillTx/>
                <a:latin typeface="+mj-ea"/>
                <a:ea typeface="+mj-ea"/>
                <a:cs typeface="+mn-cs"/>
              </a:rPr>
              <a:t>显示器</a:t>
            </a:r>
            <a:endParaRPr kumimoji="1" lang="zh-CN" altLang="en-US" sz="32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1" name="Rectangle 28"/>
          <p:cNvSpPr>
            <a:spLocks noChangeArrowheads="1"/>
          </p:cNvSpPr>
          <p:nvPr/>
        </p:nvSpPr>
        <p:spPr bwMode="auto">
          <a:xfrm>
            <a:off x="4059238" y="5561013"/>
            <a:ext cx="1549400" cy="360363"/>
          </a:xfrm>
          <a:prstGeom prst="rect">
            <a:avLst/>
          </a:prstGeom>
          <a:solidFill>
            <a:srgbClr val="E6E6E6"/>
          </a:solidFill>
          <a:ln w="7938">
            <a:solidFill>
              <a:srgbClr val="000000"/>
            </a:solidFill>
            <a:miter lim="800000"/>
          </a:ln>
        </p:spPr>
        <p:txBody>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2" name="Rectangle 29"/>
          <p:cNvSpPr>
            <a:spLocks noChangeArrowheads="1"/>
          </p:cNvSpPr>
          <p:nvPr/>
        </p:nvSpPr>
        <p:spPr bwMode="auto">
          <a:xfrm>
            <a:off x="4483100" y="5665788"/>
            <a:ext cx="8858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200" b="0" i="0" u="none" strike="noStrike" kern="1200" cap="none" spc="0" normalizeH="0" baseline="0" noProof="0" smtClean="0">
                <a:ln>
                  <a:noFill/>
                </a:ln>
                <a:solidFill>
                  <a:srgbClr val="FF3300"/>
                </a:solidFill>
                <a:effectLst/>
                <a:uLnTx/>
                <a:uFillTx/>
                <a:latin typeface="+mj-ea"/>
                <a:ea typeface="+mj-ea"/>
                <a:cs typeface="+mn-cs"/>
              </a:rPr>
              <a:t>clientSocket</a:t>
            </a:r>
            <a:endParaRPr kumimoji="1" lang="en-US" altLang="zh-CN" sz="1200" b="0" i="0" u="none" strike="noStrike" kern="1200" cap="none" spc="0" normalizeH="0" baseline="0" noProof="0" smtClean="0">
              <a:ln>
                <a:noFill/>
              </a:ln>
              <a:solidFill>
                <a:srgbClr val="FF3300"/>
              </a:solidFill>
              <a:effectLst/>
              <a:uLnTx/>
              <a:uFillTx/>
              <a:latin typeface="+mj-ea"/>
              <a:ea typeface="+mj-ea"/>
              <a:cs typeface="+mn-cs"/>
            </a:endParaRPr>
          </a:p>
        </p:txBody>
      </p:sp>
      <p:sp>
        <p:nvSpPr>
          <p:cNvPr id="60453" name="Rectangle 30"/>
          <p:cNvSpPr>
            <a:spLocks noChangeArrowheads="1"/>
          </p:cNvSpPr>
          <p:nvPr/>
        </p:nvSpPr>
        <p:spPr bwMode="auto">
          <a:xfrm>
            <a:off x="5473700" y="4870450"/>
            <a:ext cx="52863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000" b="0" i="0" u="none" strike="noStrike" kern="1200" cap="none" spc="0" normalizeH="0" baseline="0" noProof="0" smtClean="0">
                <a:ln>
                  <a:noFill/>
                </a:ln>
                <a:solidFill>
                  <a:srgbClr val="000000"/>
                </a:solidFill>
                <a:effectLst/>
                <a:uLnTx/>
                <a:uFillTx/>
                <a:latin typeface="+mj-ea"/>
                <a:ea typeface="+mj-ea"/>
                <a:cs typeface="+mn-cs"/>
              </a:rPr>
              <a:t>UDP</a:t>
            </a:r>
            <a:r>
              <a:rPr kumimoji="1" lang="zh-CN" altLang="en-US" sz="1000" b="0" i="0" u="none" strike="noStrike" kern="1200" cap="none" spc="0" normalizeH="0" baseline="0" noProof="0" smtClean="0">
                <a:ln>
                  <a:noFill/>
                </a:ln>
                <a:solidFill>
                  <a:srgbClr val="000000"/>
                </a:solidFill>
                <a:effectLst/>
                <a:uLnTx/>
                <a:uFillTx/>
                <a:latin typeface="+mj-ea"/>
                <a:ea typeface="+mj-ea"/>
                <a:cs typeface="+mn-cs"/>
              </a:rPr>
              <a:t>分组</a:t>
            </a: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4" name="Rectangle 32"/>
          <p:cNvSpPr>
            <a:spLocks noChangeArrowheads="1"/>
          </p:cNvSpPr>
          <p:nvPr/>
        </p:nvSpPr>
        <p:spPr bwMode="auto">
          <a:xfrm>
            <a:off x="3368675" y="2895600"/>
            <a:ext cx="889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smtClean="0">
                <a:ln>
                  <a:noFill/>
                </a:ln>
                <a:solidFill>
                  <a:srgbClr val="FF3300"/>
                </a:solidFill>
                <a:effectLst/>
                <a:uLnTx/>
                <a:uFillTx/>
                <a:latin typeface="+mj-ea"/>
                <a:ea typeface="+mj-ea"/>
                <a:cs typeface="+mn-cs"/>
              </a:rPr>
              <a:t>输入流</a:t>
            </a:r>
            <a:endParaRPr kumimoji="1" lang="zh-CN" altLang="en-US" sz="2000" b="0" i="0" u="none" strike="noStrike" kern="1200" cap="none" spc="0" normalizeH="0" baseline="0" noProof="0" smtClean="0">
              <a:ln>
                <a:noFill/>
              </a:ln>
              <a:solidFill>
                <a:srgbClr val="FF3300"/>
              </a:solidFill>
              <a:effectLst/>
              <a:uLnTx/>
              <a:uFillTx/>
              <a:latin typeface="+mj-ea"/>
              <a:ea typeface="+mj-ea"/>
              <a:cs typeface="+mn-cs"/>
            </a:endParaRPr>
          </a:p>
        </p:txBody>
      </p:sp>
      <p:sp>
        <p:nvSpPr>
          <p:cNvPr id="60455" name="Rectangle 34"/>
          <p:cNvSpPr>
            <a:spLocks noChangeArrowheads="1"/>
          </p:cNvSpPr>
          <p:nvPr/>
        </p:nvSpPr>
        <p:spPr bwMode="auto">
          <a:xfrm>
            <a:off x="3802063" y="4870450"/>
            <a:ext cx="52863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000" b="0" i="0" u="none" strike="noStrike" kern="1200" cap="none" spc="0" normalizeH="0" baseline="0" noProof="0" smtClean="0">
                <a:ln>
                  <a:noFill/>
                </a:ln>
                <a:solidFill>
                  <a:srgbClr val="000000"/>
                </a:solidFill>
                <a:effectLst/>
                <a:uLnTx/>
                <a:uFillTx/>
                <a:latin typeface="+mj-ea"/>
                <a:ea typeface="+mj-ea"/>
                <a:cs typeface="+mn-cs"/>
              </a:rPr>
              <a:t>UDP</a:t>
            </a:r>
            <a:r>
              <a:rPr kumimoji="1" lang="zh-CN" altLang="en-US" sz="1000" b="0" i="0" u="none" strike="noStrike" kern="1200" cap="none" spc="0" normalizeH="0" baseline="0" noProof="0" smtClean="0">
                <a:ln>
                  <a:noFill/>
                </a:ln>
                <a:solidFill>
                  <a:srgbClr val="000000"/>
                </a:solidFill>
                <a:effectLst/>
                <a:uLnTx/>
                <a:uFillTx/>
                <a:latin typeface="+mj-ea"/>
                <a:ea typeface="+mj-ea"/>
                <a:cs typeface="+mn-cs"/>
              </a:rPr>
              <a:t>分组</a:t>
            </a: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6" name="Rectangle 36"/>
          <p:cNvSpPr>
            <a:spLocks noChangeArrowheads="1"/>
          </p:cNvSpPr>
          <p:nvPr/>
        </p:nvSpPr>
        <p:spPr bwMode="auto">
          <a:xfrm>
            <a:off x="5675313" y="5854700"/>
            <a:ext cx="657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1000" b="0" i="0" u="none" strike="noStrike" kern="1200" cap="none" spc="0" normalizeH="0" baseline="0" noProof="0" smtClean="0">
                <a:ln>
                  <a:noFill/>
                </a:ln>
                <a:solidFill>
                  <a:srgbClr val="000000"/>
                </a:solidFill>
                <a:effectLst/>
                <a:uLnTx/>
                <a:uFillTx/>
                <a:latin typeface="+mj-ea"/>
                <a:ea typeface="+mj-ea"/>
                <a:cs typeface="+mn-cs"/>
              </a:rPr>
              <a:t>UDP</a:t>
            </a:r>
            <a:r>
              <a:rPr kumimoji="1" lang="zh-CN" altLang="en-US" sz="1000" b="0" i="0" u="none" strike="noStrike" kern="1200" cap="none" spc="0" normalizeH="0" baseline="0" noProof="0" smtClean="0">
                <a:ln>
                  <a:noFill/>
                </a:ln>
                <a:solidFill>
                  <a:srgbClr val="000000"/>
                </a:solidFill>
                <a:effectLst/>
                <a:uLnTx/>
                <a:uFillTx/>
                <a:latin typeface="+mj-ea"/>
                <a:ea typeface="+mj-ea"/>
                <a:cs typeface="+mn-cs"/>
              </a:rPr>
              <a:t>套接字</a:t>
            </a: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7" name="Line 38"/>
          <p:cNvSpPr>
            <a:spLocks noChangeShapeType="1"/>
          </p:cNvSpPr>
          <p:nvPr/>
        </p:nvSpPr>
        <p:spPr bwMode="auto">
          <a:xfrm>
            <a:off x="4446588" y="5380038"/>
            <a:ext cx="1588" cy="122238"/>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8" name="Freeform 39"/>
          <p:cNvSpPr/>
          <p:nvPr/>
        </p:nvSpPr>
        <p:spPr bwMode="auto">
          <a:xfrm>
            <a:off x="4413250" y="5495925"/>
            <a:ext cx="69850" cy="65088"/>
          </a:xfrm>
          <a:custGeom>
            <a:avLst/>
            <a:gdLst>
              <a:gd name="T0" fmla="*/ 2147483646 w 44"/>
              <a:gd name="T1" fmla="*/ 0 h 41"/>
              <a:gd name="T2" fmla="*/ 2147483646 w 44"/>
              <a:gd name="T3" fmla="*/ 2147483646 h 41"/>
              <a:gd name="T4" fmla="*/ 0 w 44"/>
              <a:gd name="T5" fmla="*/ 0 h 41"/>
              <a:gd name="T6" fmla="*/ 2147483646 w 44"/>
              <a:gd name="T7" fmla="*/ 0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44" y="0"/>
                </a:moveTo>
                <a:lnTo>
                  <a:pt x="21" y="41"/>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59" name="Line 40"/>
          <p:cNvSpPr>
            <a:spLocks noChangeShapeType="1"/>
          </p:cNvSpPr>
          <p:nvPr/>
        </p:nvSpPr>
        <p:spPr bwMode="auto">
          <a:xfrm flipV="1">
            <a:off x="5221288" y="5526088"/>
            <a:ext cx="1588" cy="34925"/>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60" name="Freeform 41"/>
          <p:cNvSpPr/>
          <p:nvPr/>
        </p:nvSpPr>
        <p:spPr bwMode="auto">
          <a:xfrm>
            <a:off x="5187950" y="5468938"/>
            <a:ext cx="69850" cy="65088"/>
          </a:xfrm>
          <a:custGeom>
            <a:avLst/>
            <a:gdLst>
              <a:gd name="T0" fmla="*/ 0 w 44"/>
              <a:gd name="T1" fmla="*/ 2147483646 h 41"/>
              <a:gd name="T2" fmla="*/ 2147483646 w 44"/>
              <a:gd name="T3" fmla="*/ 0 h 41"/>
              <a:gd name="T4" fmla="*/ 2147483646 w 44"/>
              <a:gd name="T5" fmla="*/ 2147483646 h 41"/>
              <a:gd name="T6" fmla="*/ 0 w 44"/>
              <a:gd name="T7" fmla="*/ 2147483646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41">
                <a:moveTo>
                  <a:pt x="0" y="41"/>
                </a:moveTo>
                <a:lnTo>
                  <a:pt x="21" y="0"/>
                </a:lnTo>
                <a:lnTo>
                  <a:pt x="44" y="41"/>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61" name="Text Box 43"/>
          <p:cNvSpPr txBox="1">
            <a:spLocks noChangeArrowheads="1"/>
          </p:cNvSpPr>
          <p:nvPr/>
        </p:nvSpPr>
        <p:spPr bwMode="auto">
          <a:xfrm>
            <a:off x="1397000" y="1085850"/>
            <a:ext cx="77216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defRPr/>
            </a:pP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一个套接字</a:t>
            </a:r>
            <a:r>
              <a:rPr kumimoji="1" lang="en-US" altLang="zh-CN" sz="2400" b="0" i="0" u="none" strike="noStrike" kern="1200" cap="none" spc="0" normalizeH="0" baseline="0" noProof="0" dirty="0" err="1" smtClean="0">
                <a:ln>
                  <a:noFill/>
                </a:ln>
                <a:solidFill>
                  <a:schemeClr val="tx1"/>
                </a:solidFill>
                <a:effectLst/>
                <a:uLnTx/>
                <a:uFillTx/>
                <a:latin typeface="+mj-ea"/>
                <a:ea typeface="+mj-ea"/>
                <a:cs typeface="+mn-cs"/>
              </a:rPr>
              <a:t>ClientSocket</a:t>
            </a: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：发送和接收分组。</a:t>
            </a:r>
            <a:endParaRPr kumimoji="1" lang="zh-CN" altLang="en-US" sz="2400" b="0" i="0" u="none" strike="noStrike" kern="1200" cap="none" spc="0" normalizeH="0" baseline="0" noProof="0" dirty="0" smtClean="0">
              <a:ln>
                <a:noFill/>
              </a:ln>
              <a:solidFill>
                <a:schemeClr val="tx1"/>
              </a:solidFill>
              <a:effectLst/>
              <a:uLnTx/>
              <a:uFillTx/>
              <a:latin typeface="+mj-ea"/>
              <a:ea typeface="+mj-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defRPr/>
            </a:pP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一个输入流</a:t>
            </a:r>
            <a:r>
              <a:rPr kumimoji="1" lang="en-US" altLang="zh-CN" sz="2400" b="0" i="0" u="none" strike="noStrike" kern="1200" cap="none" spc="0" normalizeH="0" baseline="0" noProof="0" dirty="0" err="1" smtClean="0">
                <a:ln>
                  <a:noFill/>
                </a:ln>
                <a:solidFill>
                  <a:schemeClr val="tx1"/>
                </a:solidFill>
                <a:effectLst/>
                <a:uLnTx/>
                <a:uFillTx/>
                <a:latin typeface="+mj-ea"/>
                <a:ea typeface="+mj-ea"/>
                <a:cs typeface="+mn-cs"/>
              </a:rPr>
              <a:t>InfromUser</a:t>
            </a: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：与标准输入联系（键盘）。</a:t>
            </a:r>
            <a:endParaRPr kumimoji="1" lang="zh-CN" altLang="en-US" sz="2400" b="0" i="0" u="none" strike="noStrike" kern="1200" cap="none" spc="0" normalizeH="0" baseline="0" noProof="0" dirty="0" smtClean="0">
              <a:ln>
                <a:noFill/>
              </a:ln>
              <a:solidFill>
                <a:schemeClr val="tx1"/>
              </a:solidFill>
              <a:effectLst/>
              <a:uLnTx/>
              <a:uFillTx/>
              <a:latin typeface="+mj-ea"/>
              <a:ea typeface="+mj-ea"/>
              <a:cs typeface="+mn-cs"/>
            </a:endParaRPr>
          </a:p>
        </p:txBody>
      </p:sp>
      <p:sp>
        <p:nvSpPr>
          <p:cNvPr id="60462" name="AutoShape 44"/>
          <p:cNvSpPr>
            <a:spLocks noChangeArrowheads="1"/>
          </p:cNvSpPr>
          <p:nvPr/>
        </p:nvSpPr>
        <p:spPr bwMode="auto">
          <a:xfrm>
            <a:off x="6261100" y="2120900"/>
            <a:ext cx="1409700" cy="673100"/>
          </a:xfrm>
          <a:prstGeom prst="wedgeRoundRectCallout">
            <a:avLst>
              <a:gd name="adj1" fmla="val -43750"/>
              <a:gd name="adj2" fmla="val 70000"/>
              <a:gd name="adj3"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63" name="AutoShape 45"/>
          <p:cNvSpPr>
            <a:spLocks noChangeArrowheads="1"/>
          </p:cNvSpPr>
          <p:nvPr/>
        </p:nvSpPr>
        <p:spPr bwMode="auto">
          <a:xfrm>
            <a:off x="5410200" y="3657600"/>
            <a:ext cx="2552700" cy="635000"/>
          </a:xfrm>
          <a:prstGeom prst="wedgeRoundRectCallout">
            <a:avLst>
              <a:gd name="adj1" fmla="val -49505"/>
              <a:gd name="adj2" fmla="val 112000"/>
              <a:gd name="adj3" fmla="val 16667"/>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000" b="0" i="0" u="none" strike="noStrike" kern="1200" cap="none" spc="0" normalizeH="0" baseline="0" noProof="0" smtClean="0">
                <a:ln>
                  <a:noFill/>
                </a:ln>
                <a:solidFill>
                  <a:srgbClr val="FF0000"/>
                </a:solidFill>
                <a:effectLst/>
                <a:uLnTx/>
                <a:uFillTx/>
                <a:latin typeface="+mj-ea"/>
                <a:ea typeface="+mj-ea"/>
                <a:cs typeface="+mn-cs"/>
              </a:rPr>
              <a:t> </a:t>
            </a:r>
            <a:r>
              <a:rPr kumimoji="1" lang="zh-CN" altLang="en-US" sz="2000" b="0" i="0" u="none" strike="noStrike" kern="1200" cap="none" spc="0" normalizeH="0" baseline="0" noProof="0" smtClean="0">
                <a:ln>
                  <a:noFill/>
                </a:ln>
                <a:solidFill>
                  <a:schemeClr val="tx1"/>
                </a:solidFill>
                <a:effectLst/>
                <a:uLnTx/>
                <a:uFillTx/>
                <a:latin typeface="+mj-ea"/>
                <a:ea typeface="+mj-ea"/>
                <a:cs typeface="+mn-cs"/>
              </a:rPr>
              <a:t>接收分组 </a:t>
            </a:r>
            <a:r>
              <a:rPr kumimoji="1" lang="en-US" altLang="zh-CN" sz="2000" b="0" i="0" u="none" strike="noStrike" kern="1200" cap="none" spc="0" normalizeH="0" baseline="0" noProof="0" smtClean="0">
                <a:ln>
                  <a:noFill/>
                </a:ln>
                <a:solidFill>
                  <a:schemeClr val="tx1"/>
                </a:solidFill>
                <a:effectLst/>
                <a:uLnTx/>
                <a:uFillTx/>
                <a:latin typeface="+mj-ea"/>
                <a:ea typeface="+mj-ea"/>
                <a:cs typeface="+mn-cs"/>
              </a:rPr>
              <a:t>(</a:t>
            </a:r>
            <a:r>
              <a:rPr kumimoji="1" lang="zh-CN" altLang="en-US" sz="2000" b="0" i="0" u="none" strike="noStrike" kern="1200" cap="none" spc="0" normalizeH="0" baseline="0" noProof="0" smtClean="0">
                <a:ln>
                  <a:noFill/>
                </a:ln>
                <a:solidFill>
                  <a:schemeClr val="tx1"/>
                </a:solidFill>
                <a:effectLst/>
                <a:uLnTx/>
                <a:uFillTx/>
                <a:latin typeface="+mj-ea"/>
                <a:ea typeface="+mj-ea"/>
                <a:cs typeface="+mn-cs"/>
              </a:rPr>
              <a:t>字节流</a:t>
            </a:r>
            <a:r>
              <a:rPr kumimoji="1" lang="en-US" altLang="zh-CN" sz="2000" b="0" i="0" u="none" strike="noStrike" kern="1200" cap="none" spc="0" normalizeH="0" baseline="0" noProof="0" smtClean="0">
                <a:ln>
                  <a:noFill/>
                </a:ln>
                <a:solidFill>
                  <a:schemeClr val="tx1"/>
                </a:solidFill>
                <a:effectLst/>
                <a:uLnTx/>
                <a:uFillTx/>
                <a:latin typeface="+mj-ea"/>
                <a:ea typeface="+mj-ea"/>
                <a:cs typeface="+mn-cs"/>
              </a:rPr>
              <a:t>)</a:t>
            </a:r>
            <a:endParaRPr kumimoji="1" lang="zh-CN" altLang="en-US" sz="2000" b="0" i="0" u="none" strike="noStrike" kern="1200" cap="none" spc="0" normalizeH="0" baseline="0" noProof="0" smtClean="0">
              <a:ln>
                <a:noFill/>
              </a:ln>
              <a:solidFill>
                <a:schemeClr val="tx1"/>
              </a:solidFill>
              <a:effectLst/>
              <a:uLnTx/>
              <a:uFillTx/>
              <a:latin typeface="+mj-ea"/>
              <a:ea typeface="+mj-ea"/>
              <a:cs typeface="+mn-cs"/>
            </a:endParaRPr>
          </a:p>
        </p:txBody>
      </p:sp>
      <p:sp>
        <p:nvSpPr>
          <p:cNvPr id="60464" name="AutoShape 46"/>
          <p:cNvSpPr>
            <a:spLocks noChangeArrowheads="1"/>
          </p:cNvSpPr>
          <p:nvPr/>
        </p:nvSpPr>
        <p:spPr bwMode="auto">
          <a:xfrm>
            <a:off x="1244600" y="4038600"/>
            <a:ext cx="2552700" cy="635000"/>
          </a:xfrm>
          <a:prstGeom prst="wedgeRoundRectCallout">
            <a:avLst>
              <a:gd name="adj1" fmla="val 65921"/>
              <a:gd name="adj2" fmla="val 62000"/>
              <a:gd name="adj3" fmla="val 16667"/>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mj-ea"/>
                <a:ea typeface="+mj-ea"/>
                <a:cs typeface="+mn-cs"/>
              </a:rPr>
              <a:t>发送分组 </a:t>
            </a:r>
            <a:r>
              <a:rPr kumimoji="1" lang="en-US" altLang="zh-CN" sz="2000" b="0" i="0" u="none" strike="noStrike" kern="1200" cap="none" spc="0" normalizeH="0" baseline="0" noProof="0" smtClean="0">
                <a:ln>
                  <a:noFill/>
                </a:ln>
                <a:solidFill>
                  <a:schemeClr val="tx1"/>
                </a:solidFill>
                <a:effectLst/>
                <a:uLnTx/>
                <a:uFillTx/>
                <a:latin typeface="+mj-ea"/>
                <a:ea typeface="+mj-ea"/>
                <a:cs typeface="+mn-cs"/>
              </a:rPr>
              <a:t>(</a:t>
            </a:r>
            <a:r>
              <a:rPr kumimoji="1" lang="zh-CN" altLang="en-US" sz="2000" b="0" i="0" u="none" strike="noStrike" kern="1200" cap="none" spc="0" normalizeH="0" baseline="0" noProof="0" smtClean="0">
                <a:ln>
                  <a:noFill/>
                </a:ln>
                <a:solidFill>
                  <a:schemeClr val="tx1"/>
                </a:solidFill>
                <a:effectLst/>
                <a:uLnTx/>
                <a:uFillTx/>
                <a:latin typeface="+mj-ea"/>
                <a:ea typeface="+mj-ea"/>
                <a:cs typeface="+mn-cs"/>
              </a:rPr>
              <a:t>字节流</a:t>
            </a:r>
            <a:r>
              <a:rPr kumimoji="1" lang="en-US" altLang="zh-CN" sz="2000" b="0" i="0" u="none" strike="noStrike" kern="1200" cap="none" spc="0" normalizeH="0" baseline="0" noProof="0" smtClean="0">
                <a:ln>
                  <a:noFill/>
                </a:ln>
                <a:solidFill>
                  <a:schemeClr val="tx1"/>
                </a:solidFill>
                <a:effectLst/>
                <a:uLnTx/>
                <a:uFillTx/>
                <a:latin typeface="+mj-ea"/>
                <a:ea typeface="+mj-ea"/>
                <a:cs typeface="+mn-cs"/>
              </a:rPr>
              <a:t>)</a:t>
            </a:r>
            <a:endParaRPr kumimoji="1" lang="zh-CN" altLang="en-US" sz="2000" b="0" i="0" u="none" strike="noStrike" kern="1200" cap="none" spc="0" normalizeH="0" baseline="0" noProof="0" smtClean="0">
              <a:ln>
                <a:noFill/>
              </a:ln>
              <a:solidFill>
                <a:schemeClr val="tx1"/>
              </a:solidFill>
              <a:effectLst/>
              <a:uLnTx/>
              <a:uFillTx/>
              <a:latin typeface="+mj-ea"/>
              <a:ea typeface="+mj-ea"/>
              <a:cs typeface="+mn-cs"/>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noChangeArrowheads="1"/>
          </p:cNvSpPr>
          <p:nvPr>
            <p:ph type="title"/>
          </p:nvPr>
        </p:nvSpPr>
        <p:spPr>
          <a:xfrm>
            <a:off x="2390775" y="-4762"/>
            <a:ext cx="4400550" cy="8064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客户机 </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r>
              <a:rPr kumimoji="0" lang="zh-CN" altLang="en-US" sz="2400" b="1" i="1" u="none" strike="noStrike" kern="1200" cap="none" spc="0" normalizeH="0" baseline="0" noProof="0" dirty="0">
                <a:ln>
                  <a:noFill/>
                </a:ln>
                <a:solidFill>
                  <a:srgbClr val="339933"/>
                </a:solidFill>
                <a:effectLst/>
                <a:uLnTx/>
                <a:uFillTx/>
                <a:latin typeface="+mj-ea"/>
                <a:ea typeface="+mj-ea"/>
                <a:cs typeface="+mj-cs"/>
              </a:rPr>
              <a:t>Ｕ</a:t>
            </a:r>
            <a:r>
              <a:rPr kumimoji="0" lang="en-US" altLang="zh-CN" sz="2400" b="1" i="1" u="none" strike="noStrike" kern="1200" cap="none" spc="0" normalizeH="0" baseline="0" noProof="0" dirty="0">
                <a:ln>
                  <a:noFill/>
                </a:ln>
                <a:solidFill>
                  <a:srgbClr val="339933"/>
                </a:solidFill>
                <a:effectLst/>
                <a:uLnTx/>
                <a:uFillTx/>
                <a:latin typeface="+mj-ea"/>
                <a:ea typeface="+mj-ea"/>
                <a:cs typeface="+mj-cs"/>
              </a:rPr>
              <a:t>DPClient.java</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62467" name="灯片编号占位符 4"/>
          <p:cNvSpPr txBox="1">
            <a:spLocks noGrp="1" noChangeArrowheads="1"/>
          </p:cNvSpPr>
          <p:nvPr>
            <p:ph type="sldNum"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b" anchorCtr="0" compatLnSpc="1"/>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EA96274-DFF2-4D60-A20D-D064336143E2}" type="slidenum">
              <a:rPr kumimoji="0" lang="zh-CN" altLang="en-US" sz="1800" b="0" i="0" u="none" strike="noStrike" kern="1200" cap="none" spc="0" normalizeH="0" baseline="0" noProof="0" smtClean="0">
                <a:ln>
                  <a:noFill/>
                </a:ln>
                <a:solidFill>
                  <a:srgbClr val="FFFFFF"/>
                </a:solidFill>
                <a:effectLst/>
                <a:uLnTx/>
                <a:uFillTx/>
                <a:latin typeface="+mj-ea"/>
                <a:ea typeface="+mj-ea"/>
                <a:cs typeface="+mn-cs"/>
              </a:rPr>
            </a:fld>
            <a:endParaRPr kumimoji="0" lang="en-US" altLang="zh-CN" sz="1800" b="0" i="0" u="none" strike="noStrike" kern="1200" cap="none" spc="0" normalizeH="0" baseline="0" noProof="0" smtClean="0">
              <a:ln>
                <a:noFill/>
              </a:ln>
              <a:solidFill>
                <a:srgbClr val="FFFFFF"/>
              </a:solidFill>
              <a:effectLst/>
              <a:uLnTx/>
              <a:uFillTx/>
              <a:latin typeface="+mj-ea"/>
              <a:ea typeface="+mj-ea"/>
              <a:cs typeface="+mn-cs"/>
            </a:endParaRPr>
          </a:p>
        </p:txBody>
      </p:sp>
      <p:sp>
        <p:nvSpPr>
          <p:cNvPr id="104451" name="Rectangle 3"/>
          <p:cNvSpPr>
            <a:spLocks noChangeArrowheads="1"/>
          </p:cNvSpPr>
          <p:nvPr/>
        </p:nvSpPr>
        <p:spPr bwMode="auto">
          <a:xfrm>
            <a:off x="2185988" y="1581150"/>
            <a:ext cx="6754813" cy="485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import java.io.*;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import java.net.*;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class UDPSocket {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public static void main(String args[]) throws Exception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BufferedReader </a:t>
            </a:r>
            <a:r>
              <a:rPr kumimoji="1" lang="en-US" altLang="zh-CN" sz="1600" b="0" i="0" u="none" strike="noStrike" kern="1200" cap="none" spc="0" normalizeH="0" baseline="0" noProof="0" smtClean="0">
                <a:ln>
                  <a:noFill/>
                </a:ln>
                <a:solidFill>
                  <a:srgbClr val="FF3300"/>
                </a:solidFill>
                <a:effectLst/>
                <a:uLnTx/>
                <a:uFillTx/>
                <a:latin typeface="+mj-ea"/>
                <a:ea typeface="+mj-ea"/>
                <a:cs typeface="+mn-cs"/>
              </a:rPr>
              <a:t>inFromUser</a:t>
            </a: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new BufferedReader(new InputStreamReader(System.in));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DatagramSocket </a:t>
            </a:r>
            <a:r>
              <a:rPr kumimoji="1" lang="en-US" altLang="zh-CN" sz="1600" b="0" i="0" u="none" strike="noStrike" kern="1200" cap="none" spc="0" normalizeH="0" baseline="0" noProof="0" smtClean="0">
                <a:ln>
                  <a:noFill/>
                </a:ln>
                <a:solidFill>
                  <a:srgbClr val="FF3300"/>
                </a:solidFill>
                <a:effectLst/>
                <a:uLnTx/>
                <a:uFillTx/>
                <a:latin typeface="+mj-ea"/>
                <a:ea typeface="+mj-ea"/>
                <a:cs typeface="+mn-cs"/>
              </a:rPr>
              <a:t>ClientSocket</a:t>
            </a: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 new DatagramSocket();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InetAddress</a:t>
            </a:r>
            <a:r>
              <a:rPr kumimoji="1" lang="en-US" altLang="zh-CN" sz="1600" b="0" i="0" u="none" strike="noStrike" kern="1200" cap="none" spc="0" normalizeH="0" baseline="0" noProof="0" smtClean="0">
                <a:ln>
                  <a:noFill/>
                </a:ln>
                <a:solidFill>
                  <a:srgbClr val="FF3300"/>
                </a:solidFill>
                <a:effectLst/>
                <a:uLnTx/>
                <a:uFillTx/>
                <a:latin typeface="+mj-ea"/>
                <a:ea typeface="+mj-ea"/>
                <a:cs typeface="+mn-cs"/>
              </a:rPr>
              <a:t> IPAddress</a:t>
            </a: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 InetAddress.getByName("hostname");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byte[ ] sendData = new byte[1024];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byte[ ] receiveData = new byte[1024];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String sentence = </a:t>
            </a:r>
            <a:r>
              <a:rPr kumimoji="1" lang="en-US" altLang="zh-CN" sz="1600" b="0" i="0" u="none" strike="noStrike" kern="1200" cap="none" spc="0" normalizeH="0" baseline="0" noProof="0" smtClean="0">
                <a:ln>
                  <a:noFill/>
                </a:ln>
                <a:solidFill>
                  <a:srgbClr val="FF3300"/>
                </a:solidFill>
                <a:effectLst/>
                <a:uLnTx/>
                <a:uFillTx/>
                <a:latin typeface="+mj-ea"/>
                <a:ea typeface="+mj-ea"/>
                <a:cs typeface="+mn-cs"/>
              </a:rPr>
              <a:t>inFromUser.readLine();</a:t>
            </a: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sendData = sentence.getBytes();</a:t>
            </a:r>
            <a:r>
              <a:rPr kumimoji="1" lang="en-US" altLang="zh-CN" sz="2400" b="0" i="0" u="none" strike="noStrike" kern="1200" cap="none" spc="0" normalizeH="0" baseline="0" noProof="0" smtClean="0">
                <a:ln>
                  <a:noFill/>
                </a:ln>
                <a:solidFill>
                  <a:schemeClr val="tx1"/>
                </a:solidFill>
                <a:effectLst/>
                <a:uLnTx/>
                <a:uFillTx/>
                <a:latin typeface="+mj-ea"/>
                <a:ea typeface="+mj-ea"/>
                <a:cs typeface="+mn-cs"/>
              </a:rPr>
              <a:t> </a:t>
            </a:r>
            <a:r>
              <a:rPr kumimoji="1" lang="en-US" altLang="zh-CN" sz="1600" b="0" i="0" u="none" strike="noStrike" kern="1200" cap="none" spc="0" normalizeH="0" baseline="0" noProof="0" smtClean="0">
                <a:ln>
                  <a:noFill/>
                </a:ln>
                <a:solidFill>
                  <a:schemeClr val="tx1"/>
                </a:solidFill>
                <a:effectLst/>
                <a:uLnTx/>
                <a:uFillTx/>
                <a:latin typeface="+mj-ea"/>
                <a:ea typeface="+mj-ea"/>
                <a:cs typeface="+mn-cs"/>
              </a:rPr>
              <a:t>        </a:t>
            </a:r>
            <a:endParaRPr kumimoji="1" lang="en-US" altLang="zh-CN" sz="16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2" name="Text Box 4"/>
          <p:cNvSpPr txBox="1">
            <a:spLocks noChangeArrowheads="1"/>
          </p:cNvSpPr>
          <p:nvPr/>
        </p:nvSpPr>
        <p:spPr bwMode="auto">
          <a:xfrm>
            <a:off x="887413" y="3070225"/>
            <a:ext cx="1327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1800" b="0" i="0" u="none" strike="noStrike" kern="1200" cap="none" spc="0" normalizeH="0" baseline="0" noProof="0" smtClean="0">
                <a:ln>
                  <a:noFill/>
                </a:ln>
                <a:solidFill>
                  <a:schemeClr val="accent2"/>
                </a:solidFill>
                <a:effectLst/>
                <a:uLnTx/>
                <a:uFillTx/>
                <a:latin typeface="+mj-ea"/>
                <a:ea typeface="+mj-ea"/>
                <a:cs typeface="+mn-cs"/>
              </a:rPr>
              <a:t>生成输入流</a:t>
            </a:r>
            <a:endParaRPr kumimoji="1" lang="zh-CN" altLang="en-US" sz="1800" b="0" i="0" u="none" strike="noStrike" kern="1200" cap="none" spc="0" normalizeH="0" baseline="0" noProof="0" smtClean="0">
              <a:ln>
                <a:noFill/>
              </a:ln>
              <a:solidFill>
                <a:schemeClr val="accent2"/>
              </a:solidFill>
              <a:effectLst/>
              <a:uLnTx/>
              <a:uFillTx/>
              <a:latin typeface="+mj-ea"/>
              <a:ea typeface="+mj-ea"/>
              <a:cs typeface="+mn-cs"/>
            </a:endParaRPr>
          </a:p>
        </p:txBody>
      </p:sp>
      <p:sp>
        <p:nvSpPr>
          <p:cNvPr id="104453" name="Text Box 5"/>
          <p:cNvSpPr txBox="1">
            <a:spLocks noChangeArrowheads="1"/>
          </p:cNvSpPr>
          <p:nvPr/>
        </p:nvSpPr>
        <p:spPr bwMode="auto">
          <a:xfrm>
            <a:off x="906463" y="3632200"/>
            <a:ext cx="135731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1800" b="0" i="0" u="none" strike="noStrike" kern="1200" cap="none" spc="0" normalizeH="0" baseline="0" noProof="0" smtClean="0">
                <a:ln>
                  <a:noFill/>
                </a:ln>
                <a:solidFill>
                  <a:schemeClr val="accent2"/>
                </a:solidFill>
                <a:effectLst/>
                <a:uLnTx/>
                <a:uFillTx/>
                <a:latin typeface="+mj-ea"/>
                <a:ea typeface="+mj-ea"/>
                <a:cs typeface="+mn-cs"/>
              </a:rPr>
              <a:t>生成客户机套接字</a:t>
            </a:r>
            <a:endParaRPr kumimoji="1" lang="zh-CN" altLang="en-US" sz="18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4" name="Text Box 6"/>
          <p:cNvSpPr txBox="1">
            <a:spLocks noChangeArrowheads="1"/>
          </p:cNvSpPr>
          <p:nvPr/>
        </p:nvSpPr>
        <p:spPr bwMode="auto">
          <a:xfrm>
            <a:off x="139700" y="4465638"/>
            <a:ext cx="206533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1800" b="0" i="0" u="none" strike="noStrike" kern="1200" cap="none" spc="0" normalizeH="0" baseline="0" noProof="0" smtClean="0">
                <a:ln>
                  <a:noFill/>
                </a:ln>
                <a:solidFill>
                  <a:srgbClr val="FF0000"/>
                </a:solidFill>
                <a:effectLst/>
                <a:uLnTx/>
                <a:uFillTx/>
                <a:latin typeface="+mj-ea"/>
                <a:ea typeface="+mj-ea"/>
                <a:cs typeface="+mn-cs"/>
              </a:rPr>
              <a:t>使用</a:t>
            </a:r>
            <a:r>
              <a:rPr kumimoji="1" lang="en-US" altLang="zh-CN" sz="1800" b="0" i="0" u="none" strike="noStrike" kern="1200" cap="none" spc="0" normalizeH="0" baseline="0" noProof="0" smtClean="0">
                <a:ln>
                  <a:noFill/>
                </a:ln>
                <a:solidFill>
                  <a:srgbClr val="FF0000"/>
                </a:solidFill>
                <a:effectLst/>
                <a:uLnTx/>
                <a:uFillTx/>
                <a:latin typeface="+mj-ea"/>
                <a:ea typeface="+mj-ea"/>
                <a:cs typeface="+mn-cs"/>
              </a:rPr>
              <a:t>DNS</a:t>
            </a:r>
            <a:r>
              <a:rPr kumimoji="1" lang="zh-CN" altLang="en-US" sz="1800" b="0" i="0" u="none" strike="noStrike" kern="1200" cap="none" spc="0" normalizeH="0" baseline="0" noProof="0" smtClean="0">
                <a:ln>
                  <a:noFill/>
                </a:ln>
                <a:solidFill>
                  <a:schemeClr val="accent2"/>
                </a:solidFill>
                <a:effectLst/>
                <a:uLnTx/>
                <a:uFillTx/>
                <a:latin typeface="+mj-ea"/>
                <a:ea typeface="+mj-ea"/>
                <a:cs typeface="+mn-cs"/>
              </a:rPr>
              <a:t>将主机名转换为</a:t>
            </a:r>
            <a:r>
              <a:rPr kumimoji="1" lang="en-US" altLang="zh-CN" sz="1800" b="0" i="0" u="none" strike="noStrike" kern="1200" cap="none" spc="0" normalizeH="0" baseline="0" noProof="0" smtClean="0">
                <a:ln>
                  <a:noFill/>
                </a:ln>
                <a:solidFill>
                  <a:schemeClr val="accent2"/>
                </a:solidFill>
                <a:effectLst/>
                <a:uLnTx/>
                <a:uFillTx/>
                <a:latin typeface="+mj-ea"/>
                <a:ea typeface="+mj-ea"/>
                <a:cs typeface="+mn-cs"/>
              </a:rPr>
              <a:t>IP</a:t>
            </a:r>
            <a:r>
              <a:rPr kumimoji="1" lang="zh-CN" altLang="en-US" sz="1800" b="0" i="0" u="none" strike="noStrike" kern="1200" cap="none" spc="0" normalizeH="0" baseline="0" noProof="0" smtClean="0">
                <a:ln>
                  <a:noFill/>
                </a:ln>
                <a:solidFill>
                  <a:schemeClr val="accent2"/>
                </a:solidFill>
                <a:effectLst/>
                <a:uLnTx/>
                <a:uFillTx/>
                <a:latin typeface="+mj-ea"/>
                <a:ea typeface="+mj-ea"/>
                <a:cs typeface="+mn-cs"/>
              </a:rPr>
              <a:t>地址</a:t>
            </a:r>
            <a:endParaRPr kumimoji="1" lang="en-US" altLang="zh-CN" sz="18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5" name="Freeform 7"/>
          <p:cNvSpPr/>
          <p:nvPr/>
        </p:nvSpPr>
        <p:spPr bwMode="auto">
          <a:xfrm>
            <a:off x="2071688" y="3027363"/>
            <a:ext cx="184150" cy="460375"/>
          </a:xfrm>
          <a:custGeom>
            <a:avLst/>
            <a:gdLst>
              <a:gd name="T0" fmla="*/ 0 w 78"/>
              <a:gd name="T1" fmla="*/ 0 h 342"/>
              <a:gd name="T2" fmla="*/ 2147483646 w 78"/>
              <a:gd name="T3" fmla="*/ 0 h 342"/>
              <a:gd name="T4" fmla="*/ 2147483646 w 78"/>
              <a:gd name="T5" fmla="*/ 2147483646 h 342"/>
              <a:gd name="T6" fmla="*/ 2147483646 w 78"/>
              <a:gd name="T7" fmla="*/ 2147483646 h 3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342">
                <a:moveTo>
                  <a:pt x="0" y="0"/>
                </a:moveTo>
                <a:lnTo>
                  <a:pt x="78" y="0"/>
                </a:lnTo>
                <a:lnTo>
                  <a:pt x="78" y="342"/>
                </a:lnTo>
                <a:lnTo>
                  <a:pt x="6" y="342"/>
                </a:lnTo>
              </a:path>
            </a:pathLst>
          </a:custGeom>
          <a:noFill/>
          <a:ln w="28575" cap="flat" cmpd="sng">
            <a:solidFill>
              <a:schemeClr val="accent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6" name="Line 8"/>
          <p:cNvSpPr>
            <a:spLocks noChangeShapeType="1"/>
          </p:cNvSpPr>
          <p:nvPr/>
        </p:nvSpPr>
        <p:spPr bwMode="auto">
          <a:xfrm flipV="1">
            <a:off x="2282825" y="3419475"/>
            <a:ext cx="246063" cy="17463"/>
          </a:xfrm>
          <a:prstGeom prst="line">
            <a:avLst/>
          </a:prstGeom>
          <a:noFill/>
          <a:ln w="2857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7" name="Freeform 9"/>
          <p:cNvSpPr/>
          <p:nvPr/>
        </p:nvSpPr>
        <p:spPr bwMode="auto">
          <a:xfrm>
            <a:off x="2081213" y="3733800"/>
            <a:ext cx="123825" cy="461963"/>
          </a:xfrm>
          <a:custGeom>
            <a:avLst/>
            <a:gdLst>
              <a:gd name="T0" fmla="*/ 0 w 78"/>
              <a:gd name="T1" fmla="*/ 0 h 342"/>
              <a:gd name="T2" fmla="*/ 2147483646 w 78"/>
              <a:gd name="T3" fmla="*/ 0 h 342"/>
              <a:gd name="T4" fmla="*/ 2147483646 w 78"/>
              <a:gd name="T5" fmla="*/ 2147483646 h 342"/>
              <a:gd name="T6" fmla="*/ 2147483646 w 78"/>
              <a:gd name="T7" fmla="*/ 2147483646 h 3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342">
                <a:moveTo>
                  <a:pt x="0" y="0"/>
                </a:moveTo>
                <a:lnTo>
                  <a:pt x="78" y="0"/>
                </a:lnTo>
                <a:lnTo>
                  <a:pt x="78" y="342"/>
                </a:lnTo>
                <a:lnTo>
                  <a:pt x="6" y="342"/>
                </a:lnTo>
              </a:path>
            </a:pathLst>
          </a:custGeom>
          <a:noFill/>
          <a:ln w="28575" cap="flat" cmpd="sng">
            <a:solidFill>
              <a:schemeClr val="accent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8" name="Line 10"/>
          <p:cNvSpPr>
            <a:spLocks noChangeShapeType="1"/>
          </p:cNvSpPr>
          <p:nvPr/>
        </p:nvSpPr>
        <p:spPr bwMode="auto">
          <a:xfrm flipV="1">
            <a:off x="2200275" y="4067175"/>
            <a:ext cx="328613" cy="6350"/>
          </a:xfrm>
          <a:prstGeom prst="line">
            <a:avLst/>
          </a:prstGeom>
          <a:noFill/>
          <a:ln w="2857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59" name="Freeform 11"/>
          <p:cNvSpPr/>
          <p:nvPr/>
        </p:nvSpPr>
        <p:spPr bwMode="auto">
          <a:xfrm>
            <a:off x="2081213" y="4595813"/>
            <a:ext cx="123825" cy="461963"/>
          </a:xfrm>
          <a:custGeom>
            <a:avLst/>
            <a:gdLst>
              <a:gd name="T0" fmla="*/ 0 w 78"/>
              <a:gd name="T1" fmla="*/ 0 h 342"/>
              <a:gd name="T2" fmla="*/ 2147483646 w 78"/>
              <a:gd name="T3" fmla="*/ 0 h 342"/>
              <a:gd name="T4" fmla="*/ 2147483646 w 78"/>
              <a:gd name="T5" fmla="*/ 2147483646 h 342"/>
              <a:gd name="T6" fmla="*/ 2147483646 w 78"/>
              <a:gd name="T7" fmla="*/ 2147483646 h 3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342">
                <a:moveTo>
                  <a:pt x="0" y="0"/>
                </a:moveTo>
                <a:lnTo>
                  <a:pt x="78" y="0"/>
                </a:lnTo>
                <a:lnTo>
                  <a:pt x="78" y="342"/>
                </a:lnTo>
                <a:lnTo>
                  <a:pt x="6" y="342"/>
                </a:lnTo>
              </a:path>
            </a:pathLst>
          </a:custGeom>
          <a:noFill/>
          <a:ln w="28575" cap="flat" cmpd="sng">
            <a:solidFill>
              <a:schemeClr val="accent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104460" name="Line 12"/>
          <p:cNvSpPr>
            <a:spLocks noChangeShapeType="1"/>
          </p:cNvSpPr>
          <p:nvPr/>
        </p:nvSpPr>
        <p:spPr bwMode="auto">
          <a:xfrm flipV="1">
            <a:off x="2209800" y="4602163"/>
            <a:ext cx="361950" cy="14288"/>
          </a:xfrm>
          <a:prstGeom prst="line">
            <a:avLst/>
          </a:prstGeom>
          <a:noFill/>
          <a:ln w="2857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
        <p:nvSpPr>
          <p:cNvPr id="62478" name="Text Box 2"/>
          <p:cNvSpPr txBox="1">
            <a:spLocks noChangeArrowheads="1"/>
          </p:cNvSpPr>
          <p:nvPr/>
        </p:nvSpPr>
        <p:spPr bwMode="auto">
          <a:xfrm>
            <a:off x="254000" y="876300"/>
            <a:ext cx="7810500" cy="466725"/>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ctr" defTabSz="914400" rtl="0" eaLnBrk="0" fontAlgn="base" latinLnBrk="0" hangingPunct="0">
              <a:lnSpc>
                <a:spcPct val="10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产生输入流、套接字</a:t>
            </a:r>
            <a:r>
              <a:rPr kumimoji="1" lang="zh-CN" altLang="en-US" sz="2400" b="0" i="0" u="none" strike="noStrike" kern="1200" cap="none" spc="0" normalizeH="0" baseline="0" noProof="0" dirty="0" smtClean="0">
                <a:ln>
                  <a:noFill/>
                </a:ln>
                <a:solidFill>
                  <a:srgbClr val="FF3300"/>
                </a:solidFill>
                <a:effectLst/>
                <a:uLnTx/>
                <a:uFillTx/>
                <a:latin typeface="+mj-ea"/>
                <a:ea typeface="+mj-ea"/>
                <a:cs typeface="+mn-cs"/>
                <a:sym typeface="Symbol" panose="05050102010706020507" pitchFamily="18" charset="2"/>
              </a:rPr>
              <a:t></a:t>
            </a: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sym typeface="Symbol" panose="05050102010706020507" pitchFamily="18" charset="2"/>
              </a:rPr>
              <a:t>输入</a:t>
            </a:r>
            <a:r>
              <a:rPr kumimoji="1" lang="zh-CN" altLang="en-US" sz="2400" b="0" i="0" u="none" strike="noStrike" kern="1200" cap="none" spc="0" normalizeH="0" baseline="0" noProof="0" dirty="0" smtClean="0">
                <a:ln>
                  <a:noFill/>
                </a:ln>
                <a:solidFill>
                  <a:srgbClr val="FF3300"/>
                </a:solidFill>
                <a:effectLst/>
                <a:uLnTx/>
                <a:uFillTx/>
                <a:latin typeface="+mj-ea"/>
                <a:ea typeface="+mj-ea"/>
                <a:cs typeface="+mn-cs"/>
                <a:sym typeface="Symbol" panose="05050102010706020507" pitchFamily="18" charset="2"/>
              </a:rPr>
              <a:t></a:t>
            </a: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封装</a:t>
            </a:r>
            <a:r>
              <a:rPr kumimoji="1" lang="zh-CN" altLang="en-US" sz="2400" b="0" i="0" u="none" strike="noStrike" kern="1200" cap="none" spc="0" normalizeH="0" baseline="0" noProof="0" dirty="0" smtClean="0">
                <a:ln>
                  <a:noFill/>
                </a:ln>
                <a:solidFill>
                  <a:srgbClr val="FF3300"/>
                </a:solidFill>
                <a:effectLst/>
                <a:uLnTx/>
                <a:uFillTx/>
                <a:latin typeface="+mj-ea"/>
                <a:ea typeface="+mj-ea"/>
                <a:cs typeface="+mn-cs"/>
                <a:sym typeface="Symbol" panose="05050102010706020507" pitchFamily="18" charset="2"/>
              </a:rPr>
              <a:t></a:t>
            </a:r>
            <a:r>
              <a:rPr kumimoji="1" lang="zh-CN" altLang="en-US" sz="2400" b="0" i="0" u="none" strike="noStrike" kern="1200" cap="none" spc="0" normalizeH="0" baseline="0" noProof="0" dirty="0" smtClean="0">
                <a:ln>
                  <a:noFill/>
                </a:ln>
                <a:solidFill>
                  <a:schemeClr val="tx1"/>
                </a:solidFill>
                <a:effectLst/>
                <a:uLnTx/>
                <a:uFillTx/>
                <a:latin typeface="+mj-ea"/>
                <a:ea typeface="+mj-ea"/>
                <a:cs typeface="+mn-cs"/>
              </a:rPr>
              <a:t>发送</a:t>
            </a:r>
            <a:endParaRPr kumimoji="1" lang="zh-CN" altLang="en-US" sz="2400" b="0" i="0" u="none" strike="noStrike" kern="1200" cap="none" spc="0" normalizeH="0" baseline="0" noProof="0" dirty="0" smtClean="0">
              <a:ln>
                <a:noFill/>
              </a:ln>
              <a:solidFill>
                <a:schemeClr val="tx1"/>
              </a:solidFill>
              <a:effectLst/>
              <a:uLnTx/>
              <a:uFillTx/>
              <a:latin typeface="+mj-ea"/>
              <a:ea typeface="+mj-ea"/>
              <a:cs typeface="+mn-cs"/>
            </a:endParaRPr>
          </a:p>
        </p:txBody>
      </p:sp>
      <p:sp>
        <p:nvSpPr>
          <p:cNvPr id="256003" name="AutoShape 3"/>
          <p:cNvSpPr>
            <a:spLocks noChangeArrowheads="1"/>
          </p:cNvSpPr>
          <p:nvPr/>
        </p:nvSpPr>
        <p:spPr bwMode="auto">
          <a:xfrm>
            <a:off x="1066800" y="5435600"/>
            <a:ext cx="1092200" cy="558800"/>
          </a:xfrm>
          <a:prstGeom prst="wedgeRoundRectCallout">
            <a:avLst>
              <a:gd name="adj1" fmla="val 85319"/>
              <a:gd name="adj2" fmla="val 31250"/>
              <a:gd name="adj3" fmla="val 16667"/>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657225" indent="-24638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922655" indent="-219075">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179830" indent="-200025">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1389380" indent="-18288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18465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3037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27609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218180" indent="-18288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r>
              <a:rPr kumimoji="1" lang="zh-CN" altLang="en-US" sz="2400" b="0" i="0" u="none" strike="noStrike" kern="1200" cap="none" spc="0" normalizeH="0" baseline="0" noProof="0" smtClean="0">
                <a:ln>
                  <a:noFill/>
                </a:ln>
                <a:solidFill>
                  <a:schemeClr val="tx1"/>
                </a:solidFill>
                <a:effectLst/>
                <a:uLnTx/>
                <a:uFillTx/>
                <a:latin typeface="+mj-ea"/>
                <a:ea typeface="+mj-ea"/>
                <a:cs typeface="+mn-cs"/>
              </a:rPr>
              <a:t>输入</a:t>
            </a:r>
            <a:endParaRPr kumimoji="1" lang="zh-CN" altLang="en-US" sz="2400" b="0" i="0" u="none" strike="noStrike" kern="1200" cap="none" spc="0" normalizeH="0" baseline="0" noProof="0" smtClean="0">
              <a:ln>
                <a:noFill/>
              </a:ln>
              <a:solidFill>
                <a:schemeClr val="tx1"/>
              </a:solidFill>
              <a:effectLst/>
              <a:uLnTx/>
              <a:uFillTx/>
              <a:latin typeface="+mj-ea"/>
              <a:ea typeface="+mj-ea"/>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dissolve">
                                      <p:cBhvr>
                                        <p:cTn id="7" dur="500"/>
                                        <p:tgtEl>
                                          <p:spTgt spid="1044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4456"/>
                                        </p:tgtEl>
                                        <p:attrNameLst>
                                          <p:attrName>style.visibility</p:attrName>
                                        </p:attrNameLst>
                                      </p:cBhvr>
                                      <p:to>
                                        <p:strVal val="visible"/>
                                      </p:to>
                                    </p:set>
                                    <p:animEffect transition="in" filter="blinds(horizontal)">
                                      <p:cBhvr>
                                        <p:cTn id="12" dur="500"/>
                                        <p:tgtEl>
                                          <p:spTgt spid="104456"/>
                                        </p:tgtEl>
                                      </p:cBhvr>
                                    </p:animEffect>
                                  </p:childTnLst>
                                </p:cTn>
                              </p:par>
                              <p:par>
                                <p:cTn id="13" presetID="3" presetClass="entr" presetSubtype="10" fill="hold" nodeType="withEffect">
                                  <p:stCondLst>
                                    <p:cond delay="0"/>
                                  </p:stCondLst>
                                  <p:childTnLst>
                                    <p:set>
                                      <p:cBhvr>
                                        <p:cTn id="14" dur="1" fill="hold">
                                          <p:stCondLst>
                                            <p:cond delay="0"/>
                                          </p:stCondLst>
                                        </p:cTn>
                                        <p:tgtEl>
                                          <p:spTgt spid="104455"/>
                                        </p:tgtEl>
                                        <p:attrNameLst>
                                          <p:attrName>style.visibility</p:attrName>
                                        </p:attrNameLst>
                                      </p:cBhvr>
                                      <p:to>
                                        <p:strVal val="visible"/>
                                      </p:to>
                                    </p:set>
                                    <p:animEffect transition="in" filter="blinds(horizontal)">
                                      <p:cBhvr>
                                        <p:cTn id="15" dur="500"/>
                                        <p:tgtEl>
                                          <p:spTgt spid="10445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4452"/>
                                        </p:tgtEl>
                                        <p:attrNameLst>
                                          <p:attrName>style.visibility</p:attrName>
                                        </p:attrNameLst>
                                      </p:cBhvr>
                                      <p:to>
                                        <p:strVal val="visible"/>
                                      </p:to>
                                    </p:set>
                                    <p:animEffect transition="in" filter="blinds(horizontal)">
                                      <p:cBhvr>
                                        <p:cTn id="18" dur="500"/>
                                        <p:tgtEl>
                                          <p:spTgt spid="10445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04458"/>
                                        </p:tgtEl>
                                        <p:attrNameLst>
                                          <p:attrName>style.visibility</p:attrName>
                                        </p:attrNameLst>
                                      </p:cBhvr>
                                      <p:to>
                                        <p:strVal val="visible"/>
                                      </p:to>
                                    </p:set>
                                    <p:animEffect transition="in" filter="dissolve">
                                      <p:cBhvr>
                                        <p:cTn id="23" dur="500"/>
                                        <p:tgtEl>
                                          <p:spTgt spid="104458"/>
                                        </p:tgtEl>
                                      </p:cBhvr>
                                    </p:animEffect>
                                  </p:childTnLst>
                                </p:cTn>
                              </p:par>
                              <p:par>
                                <p:cTn id="24" presetID="9" presetClass="entr" presetSubtype="0" fill="hold" nodeType="withEffect">
                                  <p:stCondLst>
                                    <p:cond delay="0"/>
                                  </p:stCondLst>
                                  <p:childTnLst>
                                    <p:set>
                                      <p:cBhvr>
                                        <p:cTn id="25" dur="1" fill="hold">
                                          <p:stCondLst>
                                            <p:cond delay="0"/>
                                          </p:stCondLst>
                                        </p:cTn>
                                        <p:tgtEl>
                                          <p:spTgt spid="104457"/>
                                        </p:tgtEl>
                                        <p:attrNameLst>
                                          <p:attrName>style.visibility</p:attrName>
                                        </p:attrNameLst>
                                      </p:cBhvr>
                                      <p:to>
                                        <p:strVal val="visible"/>
                                      </p:to>
                                    </p:set>
                                    <p:animEffect transition="in" filter="dissolve">
                                      <p:cBhvr>
                                        <p:cTn id="26" dur="500"/>
                                        <p:tgtEl>
                                          <p:spTgt spid="10445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04453"/>
                                        </p:tgtEl>
                                        <p:attrNameLst>
                                          <p:attrName>style.visibility</p:attrName>
                                        </p:attrNameLst>
                                      </p:cBhvr>
                                      <p:to>
                                        <p:strVal val="visible"/>
                                      </p:to>
                                    </p:set>
                                    <p:animEffect transition="in" filter="dissolve">
                                      <p:cBhvr>
                                        <p:cTn id="29" dur="500"/>
                                        <p:tgtEl>
                                          <p:spTgt spid="10445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04459"/>
                                        </p:tgtEl>
                                        <p:attrNameLst>
                                          <p:attrName>style.visibility</p:attrName>
                                        </p:attrNameLst>
                                      </p:cBhvr>
                                      <p:to>
                                        <p:strVal val="visible"/>
                                      </p:to>
                                    </p:set>
                                    <p:animEffect transition="in" filter="blinds(horizontal)">
                                      <p:cBhvr>
                                        <p:cTn id="34" dur="500"/>
                                        <p:tgtEl>
                                          <p:spTgt spid="104459"/>
                                        </p:tgtEl>
                                      </p:cBhvr>
                                    </p:animEffect>
                                  </p:childTnLst>
                                </p:cTn>
                              </p:par>
                              <p:par>
                                <p:cTn id="35" presetID="3" presetClass="entr" presetSubtype="10" fill="hold" nodeType="withEffect">
                                  <p:stCondLst>
                                    <p:cond delay="0"/>
                                  </p:stCondLst>
                                  <p:childTnLst>
                                    <p:set>
                                      <p:cBhvr>
                                        <p:cTn id="36" dur="1" fill="hold">
                                          <p:stCondLst>
                                            <p:cond delay="0"/>
                                          </p:stCondLst>
                                        </p:cTn>
                                        <p:tgtEl>
                                          <p:spTgt spid="104460"/>
                                        </p:tgtEl>
                                        <p:attrNameLst>
                                          <p:attrName>style.visibility</p:attrName>
                                        </p:attrNameLst>
                                      </p:cBhvr>
                                      <p:to>
                                        <p:strVal val="visible"/>
                                      </p:to>
                                    </p:set>
                                    <p:animEffect transition="in" filter="blinds(horizontal)">
                                      <p:cBhvr>
                                        <p:cTn id="37" dur="500"/>
                                        <p:tgtEl>
                                          <p:spTgt spid="10446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04454"/>
                                        </p:tgtEl>
                                        <p:attrNameLst>
                                          <p:attrName>style.visibility</p:attrName>
                                        </p:attrNameLst>
                                      </p:cBhvr>
                                      <p:to>
                                        <p:strVal val="visible"/>
                                      </p:to>
                                    </p:set>
                                    <p:animEffect transition="in" filter="blinds(horizontal)">
                                      <p:cBhvr>
                                        <p:cTn id="40" dur="500"/>
                                        <p:tgtEl>
                                          <p:spTgt spid="10445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6003"/>
                                        </p:tgtEl>
                                        <p:attrNameLst>
                                          <p:attrName>style.visibility</p:attrName>
                                        </p:attrNameLst>
                                      </p:cBhvr>
                                      <p:to>
                                        <p:strVal val="visible"/>
                                      </p:to>
                                    </p:set>
                                    <p:animEffect transition="in" filter="blinds(horizontal)">
                                      <p:cBhvr>
                                        <p:cTn id="45" dur="500"/>
                                        <p:tgtEl>
                                          <p:spTgt spid="256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p:bldP spid="104452" grpId="0"/>
      <p:bldP spid="104453" grpId="0"/>
      <p:bldP spid="104454" grpId="0"/>
      <p:bldP spid="25600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64515" name="Rectangle 3"/>
          <p:cNvSpPr/>
          <p:nvPr/>
        </p:nvSpPr>
        <p:spPr>
          <a:xfrm>
            <a:off x="2176463" y="1752600"/>
            <a:ext cx="7292975" cy="4368800"/>
          </a:xfrm>
          <a:prstGeom prst="rect">
            <a:avLst/>
          </a:prstGeom>
          <a:noFill/>
          <a:ln w="9525">
            <a:noFill/>
          </a:ln>
        </p:spPr>
        <p:txBody>
          <a:bodyPr wrap="none" anchor="ctr" anchorCtr="0">
            <a:spAutoFit/>
          </a:bodyPr>
          <a:p>
            <a:r>
              <a:rPr lang="zh-CN" altLang="en-US" sz="1600" dirty="0">
                <a:latin typeface="Arial" panose="020B0604020202020204" pitchFamily="34" charset="0"/>
                <a:ea typeface="宋体" panose="02010600030101010101" pitchFamily="2" charset="-122"/>
              </a:rPr>
              <a:t>      </a:t>
            </a:r>
            <a:r>
              <a:rPr lang="en-US" altLang="zh-CN" sz="1600" dirty="0">
                <a:latin typeface="Arial" panose="020B0604020202020204" pitchFamily="34" charset="0"/>
                <a:ea typeface="宋体" panose="02010600030101010101" pitchFamily="2" charset="-122"/>
              </a:rPr>
              <a:t>DatagramPacket </a:t>
            </a:r>
            <a:r>
              <a:rPr lang="en-US" altLang="zh-CN" sz="1600" dirty="0">
                <a:solidFill>
                  <a:srgbClr val="FF3300"/>
                </a:solidFill>
                <a:latin typeface="Arial" panose="020B0604020202020204" pitchFamily="34" charset="0"/>
                <a:ea typeface="宋体" panose="02010600030101010101" pitchFamily="2" charset="-122"/>
              </a:rPr>
              <a:t>sendPacket</a:t>
            </a:r>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DatagramPacket(sendData, sendData.length, IPAddress, 9876);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ClientSocket.send(sendPacket);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DatagramPacket receivePacket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DatagramPacket(receiveData, receiveData.length);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ClientSocket.receive(</a:t>
            </a:r>
            <a:r>
              <a:rPr lang="en-US" altLang="zh-CN" sz="1600" dirty="0">
                <a:solidFill>
                  <a:srgbClr val="FF3300"/>
                </a:solidFill>
                <a:latin typeface="Arial" panose="020B0604020202020204" pitchFamily="34" charset="0"/>
                <a:ea typeface="宋体" panose="02010600030101010101" pitchFamily="2" charset="-122"/>
              </a:rPr>
              <a:t>receivePacket</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String modifiedSentence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a:t>
            </a:r>
            <a:r>
              <a:rPr lang="en-US" altLang="zh-CN" sz="1600" dirty="0">
                <a:solidFill>
                  <a:srgbClr val="FF3300"/>
                </a:solidFill>
                <a:latin typeface="Arial" panose="020B0604020202020204" pitchFamily="34" charset="0"/>
                <a:ea typeface="宋体" panose="02010600030101010101" pitchFamily="2" charset="-122"/>
              </a:rPr>
              <a:t>String(receivePacket.getData());</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System.out.println("</a:t>
            </a:r>
            <a:r>
              <a:rPr lang="en-US" altLang="zh-CN" sz="1600" dirty="0">
                <a:solidFill>
                  <a:srgbClr val="FF3300"/>
                </a:solidFill>
                <a:latin typeface="Arial" panose="020B0604020202020204" pitchFamily="34" charset="0"/>
                <a:ea typeface="宋体" panose="02010600030101010101" pitchFamily="2" charset="-122"/>
              </a:rPr>
              <a:t>FROM Server:" + modifiedSentence</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ServerSocket.close();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99332" name="Text Box 4"/>
          <p:cNvSpPr txBox="1"/>
          <p:nvPr/>
        </p:nvSpPr>
        <p:spPr>
          <a:xfrm>
            <a:off x="0" y="1484313"/>
            <a:ext cx="2392363" cy="915987"/>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使用要发送的数据、长度、</a:t>
            </a:r>
            <a:r>
              <a:rPr lang="en-US" altLang="zh-CN" sz="1800" dirty="0">
                <a:solidFill>
                  <a:schemeClr val="accent2"/>
                </a:solidFill>
                <a:latin typeface="Times New Roman" panose="02020603050405020304" pitchFamily="18" charset="0"/>
                <a:ea typeface="宋体" panose="02010600030101010101" pitchFamily="2" charset="-122"/>
              </a:rPr>
              <a:t>IP</a:t>
            </a:r>
            <a:r>
              <a:rPr lang="zh-CN" altLang="en-US" sz="1800" dirty="0">
                <a:solidFill>
                  <a:schemeClr val="accent2"/>
                </a:solidFill>
                <a:latin typeface="Times New Roman" panose="02020603050405020304" pitchFamily="18" charset="0"/>
                <a:ea typeface="宋体" panose="02010600030101010101" pitchFamily="2" charset="-122"/>
              </a:rPr>
              <a:t>地址、端口生成数据报</a:t>
            </a:r>
            <a:endParaRPr lang="zh-CN" altLang="en-US" sz="1800" dirty="0">
              <a:latin typeface="Times New Roman" panose="02020603050405020304" pitchFamily="18" charset="0"/>
              <a:ea typeface="宋体" panose="02010600030101010101" pitchFamily="2" charset="-122"/>
            </a:endParaRPr>
          </a:p>
        </p:txBody>
      </p:sp>
      <p:sp>
        <p:nvSpPr>
          <p:cNvPr id="99333" name="Text Box 5"/>
          <p:cNvSpPr txBox="1"/>
          <p:nvPr/>
        </p:nvSpPr>
        <p:spPr>
          <a:xfrm>
            <a:off x="933450" y="2473325"/>
            <a:ext cx="1327150" cy="641350"/>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向服务器</a:t>
            </a:r>
            <a:endParaRPr lang="zh-CN" altLang="en-US" sz="1800" dirty="0">
              <a:latin typeface="Times New Roman" panose="02020603050405020304" pitchFamily="18" charset="0"/>
              <a:ea typeface="宋体" panose="02010600030101010101" pitchFamily="2" charset="-122"/>
            </a:endParaRPr>
          </a:p>
          <a:p>
            <a:pPr algn="r"/>
            <a:r>
              <a:rPr lang="zh-CN" altLang="en-US" sz="1800" dirty="0">
                <a:solidFill>
                  <a:schemeClr val="accent2"/>
                </a:solidFill>
                <a:latin typeface="Times New Roman" panose="02020603050405020304" pitchFamily="18" charset="0"/>
                <a:ea typeface="宋体" panose="02010600030101010101" pitchFamily="2" charset="-122"/>
              </a:rPr>
              <a:t>发送数据报</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9334" name="Text Box 6"/>
          <p:cNvSpPr txBox="1"/>
          <p:nvPr/>
        </p:nvSpPr>
        <p:spPr>
          <a:xfrm>
            <a:off x="246063" y="3675063"/>
            <a:ext cx="2012950" cy="366712"/>
          </a:xfrm>
          <a:prstGeom prst="rect">
            <a:avLst/>
          </a:prstGeom>
          <a:noFill/>
          <a:ln w="9525">
            <a:noFill/>
          </a:ln>
        </p:spPr>
        <p:txBody>
          <a:bodyPr wrap="none"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从服务器读数据报</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99335" name="Freeform 7"/>
          <p:cNvSpPr/>
          <p:nvPr/>
        </p:nvSpPr>
        <p:spPr>
          <a:xfrm>
            <a:off x="2228850" y="1592263"/>
            <a:ext cx="114300" cy="790575"/>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9336" name="Line 8"/>
          <p:cNvSpPr/>
          <p:nvPr/>
        </p:nvSpPr>
        <p:spPr>
          <a:xfrm flipV="1">
            <a:off x="2381250" y="2016125"/>
            <a:ext cx="342900" cy="14288"/>
          </a:xfrm>
          <a:prstGeom prst="line">
            <a:avLst/>
          </a:prstGeom>
          <a:ln w="28575" cap="flat" cmpd="sng">
            <a:solidFill>
              <a:schemeClr val="accent2"/>
            </a:solidFill>
            <a:prstDash val="solid"/>
            <a:headEnd type="none" w="med" len="med"/>
            <a:tailEnd type="triangle" w="med" len="med"/>
          </a:ln>
        </p:spPr>
      </p:sp>
      <p:sp>
        <p:nvSpPr>
          <p:cNvPr id="99337" name="Freeform 9"/>
          <p:cNvSpPr/>
          <p:nvPr/>
        </p:nvSpPr>
        <p:spPr>
          <a:xfrm>
            <a:off x="2076450" y="2509838"/>
            <a:ext cx="123825" cy="5857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9338" name="Line 10"/>
          <p:cNvSpPr/>
          <p:nvPr/>
        </p:nvSpPr>
        <p:spPr>
          <a:xfrm flipV="1">
            <a:off x="2214563" y="2647950"/>
            <a:ext cx="309562" cy="15875"/>
          </a:xfrm>
          <a:prstGeom prst="line">
            <a:avLst/>
          </a:prstGeom>
          <a:ln w="28575" cap="flat" cmpd="sng">
            <a:solidFill>
              <a:schemeClr val="accent2"/>
            </a:solidFill>
            <a:prstDash val="solid"/>
            <a:headEnd type="none" w="med" len="med"/>
            <a:tailEnd type="triangle" w="med" len="med"/>
          </a:ln>
        </p:spPr>
      </p:sp>
      <p:sp>
        <p:nvSpPr>
          <p:cNvPr id="99339" name="Freeform 11"/>
          <p:cNvSpPr/>
          <p:nvPr/>
        </p:nvSpPr>
        <p:spPr>
          <a:xfrm>
            <a:off x="2095500" y="3605213"/>
            <a:ext cx="123825" cy="5095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99340" name="Line 12"/>
          <p:cNvSpPr/>
          <p:nvPr/>
        </p:nvSpPr>
        <p:spPr>
          <a:xfrm flipV="1">
            <a:off x="2233613" y="3924300"/>
            <a:ext cx="295275" cy="4763"/>
          </a:xfrm>
          <a:prstGeom prst="line">
            <a:avLst/>
          </a:prstGeom>
          <a:ln w="28575" cap="flat" cmpd="sng">
            <a:solidFill>
              <a:schemeClr val="accent2"/>
            </a:solidFill>
            <a:prstDash val="solid"/>
            <a:headEnd type="none" w="med" len="med"/>
            <a:tailEnd type="triangle" w="med" len="med"/>
          </a:ln>
        </p:spPr>
      </p:sp>
      <p:sp>
        <p:nvSpPr>
          <p:cNvPr id="254979" name="AutoShape 3"/>
          <p:cNvSpPr/>
          <p:nvPr/>
        </p:nvSpPr>
        <p:spPr>
          <a:xfrm>
            <a:off x="889000" y="4851400"/>
            <a:ext cx="1092200" cy="558800"/>
          </a:xfrm>
          <a:prstGeom prst="wedgeRoundRectCallout">
            <a:avLst>
              <a:gd name="adj1" fmla="val 95787"/>
              <a:gd name="adj2" fmla="val 28977"/>
              <a:gd name="adj3" fmla="val 16667"/>
            </a:avLst>
          </a:prstGeom>
          <a:solidFill>
            <a:srgbClr val="00CC99"/>
          </a:solidFill>
          <a:ln w="9525">
            <a:noFill/>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20000"/>
              </a:spcBef>
              <a:buClrTx/>
              <a:buFontTx/>
              <a:buNone/>
            </a:pPr>
            <a:r>
              <a:rPr lang="zh-CN" altLang="en-US" sz="2400" dirty="0">
                <a:latin typeface="Comic Sans MS" panose="030F0702030302020204" pitchFamily="66" charset="0"/>
                <a:ea typeface="宋体" panose="02010600030101010101" pitchFamily="2" charset="-122"/>
              </a:rPr>
              <a:t>显示</a:t>
            </a:r>
            <a:endParaRPr lang="zh-CN" altLang="en-US" sz="2400" dirty="0">
              <a:latin typeface="Comic Sans MS" panose="030F0702030302020204" pitchFamily="66"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blinds(horizontal)">
                                      <p:cBhvr>
                                        <p:cTn id="7" dur="500"/>
                                        <p:tgtEl>
                                          <p:spTgt spid="99336"/>
                                        </p:tgtEl>
                                      </p:cBhvr>
                                    </p:animEffect>
                                  </p:childTnLst>
                                </p:cTn>
                              </p:par>
                              <p:par>
                                <p:cTn id="8" presetID="3" presetClass="entr" presetSubtype="10" fill="hold" nodeType="withEffect">
                                  <p:stCondLst>
                                    <p:cond delay="0"/>
                                  </p:stCondLst>
                                  <p:childTnLst>
                                    <p:set>
                                      <p:cBhvr>
                                        <p:cTn id="9" dur="1" fill="hold">
                                          <p:stCondLst>
                                            <p:cond delay="0"/>
                                          </p:stCondLst>
                                        </p:cTn>
                                        <p:tgtEl>
                                          <p:spTgt spid="99335"/>
                                        </p:tgtEl>
                                        <p:attrNameLst>
                                          <p:attrName>style.visibility</p:attrName>
                                        </p:attrNameLst>
                                      </p:cBhvr>
                                      <p:to>
                                        <p:strVal val="visible"/>
                                      </p:to>
                                    </p:set>
                                    <p:animEffect transition="in" filter="blinds(horizontal)">
                                      <p:cBhvr>
                                        <p:cTn id="10" dur="500"/>
                                        <p:tgtEl>
                                          <p:spTgt spid="9933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9332"/>
                                        </p:tgtEl>
                                        <p:attrNameLst>
                                          <p:attrName>style.visibility</p:attrName>
                                        </p:attrNameLst>
                                      </p:cBhvr>
                                      <p:to>
                                        <p:strVal val="visible"/>
                                      </p:to>
                                    </p:set>
                                    <p:animEffect transition="in" filter="blinds(horizontal)">
                                      <p:cBhvr>
                                        <p:cTn id="13" dur="500"/>
                                        <p:tgtEl>
                                          <p:spTgt spid="9933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99338"/>
                                        </p:tgtEl>
                                        <p:attrNameLst>
                                          <p:attrName>style.visibility</p:attrName>
                                        </p:attrNameLst>
                                      </p:cBhvr>
                                      <p:to>
                                        <p:strVal val="visible"/>
                                      </p:to>
                                    </p:set>
                                    <p:animEffect transition="in" filter="dissolve">
                                      <p:cBhvr>
                                        <p:cTn id="18" dur="500"/>
                                        <p:tgtEl>
                                          <p:spTgt spid="99338"/>
                                        </p:tgtEl>
                                      </p:cBhvr>
                                    </p:animEffect>
                                  </p:childTnLst>
                                </p:cTn>
                              </p:par>
                              <p:par>
                                <p:cTn id="19" presetID="9" presetClass="entr" presetSubtype="0" fill="hold" nodeType="withEffect">
                                  <p:stCondLst>
                                    <p:cond delay="0"/>
                                  </p:stCondLst>
                                  <p:childTnLst>
                                    <p:set>
                                      <p:cBhvr>
                                        <p:cTn id="20" dur="1" fill="hold">
                                          <p:stCondLst>
                                            <p:cond delay="0"/>
                                          </p:stCondLst>
                                        </p:cTn>
                                        <p:tgtEl>
                                          <p:spTgt spid="99337"/>
                                        </p:tgtEl>
                                        <p:attrNameLst>
                                          <p:attrName>style.visibility</p:attrName>
                                        </p:attrNameLst>
                                      </p:cBhvr>
                                      <p:to>
                                        <p:strVal val="visible"/>
                                      </p:to>
                                    </p:set>
                                    <p:animEffect transition="in" filter="dissolve">
                                      <p:cBhvr>
                                        <p:cTn id="21" dur="500"/>
                                        <p:tgtEl>
                                          <p:spTgt spid="9933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99333"/>
                                        </p:tgtEl>
                                        <p:attrNameLst>
                                          <p:attrName>style.visibility</p:attrName>
                                        </p:attrNameLst>
                                      </p:cBhvr>
                                      <p:to>
                                        <p:strVal val="visible"/>
                                      </p:to>
                                    </p:set>
                                    <p:animEffect transition="in" filter="dissolve">
                                      <p:cBhvr>
                                        <p:cTn id="24" dur="500"/>
                                        <p:tgtEl>
                                          <p:spTgt spid="9933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9340"/>
                                        </p:tgtEl>
                                        <p:attrNameLst>
                                          <p:attrName>style.visibility</p:attrName>
                                        </p:attrNameLst>
                                      </p:cBhvr>
                                      <p:to>
                                        <p:strVal val="visible"/>
                                      </p:to>
                                    </p:set>
                                    <p:animEffect transition="in" filter="blinds(horizontal)">
                                      <p:cBhvr>
                                        <p:cTn id="29" dur="500"/>
                                        <p:tgtEl>
                                          <p:spTgt spid="99340"/>
                                        </p:tgtEl>
                                      </p:cBhvr>
                                    </p:animEffect>
                                  </p:childTnLst>
                                </p:cTn>
                              </p:par>
                              <p:par>
                                <p:cTn id="30" presetID="3" presetClass="entr" presetSubtype="10" fill="hold" nodeType="withEffect">
                                  <p:stCondLst>
                                    <p:cond delay="0"/>
                                  </p:stCondLst>
                                  <p:childTnLst>
                                    <p:set>
                                      <p:cBhvr>
                                        <p:cTn id="31" dur="1" fill="hold">
                                          <p:stCondLst>
                                            <p:cond delay="0"/>
                                          </p:stCondLst>
                                        </p:cTn>
                                        <p:tgtEl>
                                          <p:spTgt spid="99339"/>
                                        </p:tgtEl>
                                        <p:attrNameLst>
                                          <p:attrName>style.visibility</p:attrName>
                                        </p:attrNameLst>
                                      </p:cBhvr>
                                      <p:to>
                                        <p:strVal val="visible"/>
                                      </p:to>
                                    </p:set>
                                    <p:animEffect transition="in" filter="blinds(horizontal)">
                                      <p:cBhvr>
                                        <p:cTn id="32" dur="500"/>
                                        <p:tgtEl>
                                          <p:spTgt spid="9933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99334"/>
                                        </p:tgtEl>
                                        <p:attrNameLst>
                                          <p:attrName>style.visibility</p:attrName>
                                        </p:attrNameLst>
                                      </p:cBhvr>
                                      <p:to>
                                        <p:strVal val="visible"/>
                                      </p:to>
                                    </p:set>
                                    <p:animEffect transition="in" filter="blinds(horizontal)">
                                      <p:cBhvr>
                                        <p:cTn id="35" dur="500"/>
                                        <p:tgtEl>
                                          <p:spTgt spid="9933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54979"/>
                                        </p:tgtEl>
                                        <p:attrNameLst>
                                          <p:attrName>style.visibility</p:attrName>
                                        </p:attrNameLst>
                                      </p:cBhvr>
                                      <p:to>
                                        <p:strVal val="visible"/>
                                      </p:to>
                                    </p:set>
                                    <p:animEffect transition="in" filter="blinds(horizontal)">
                                      <p:cBhvr>
                                        <p:cTn id="40" dur="500"/>
                                        <p:tgtEl>
                                          <p:spTgt spid="254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P spid="99333" grpId="0"/>
      <p:bldP spid="99334" grpId="0"/>
      <p:bldP spid="25497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8691"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a:ln>
                  <a:noFill/>
                </a:ln>
                <a:solidFill>
                  <a:schemeClr val="tx1"/>
                </a:solidFill>
                <a:effectLst/>
                <a:uLnTx/>
                <a:uFillTx/>
                <a:latin typeface="+mj-ea"/>
                <a:ea typeface="+mj-ea"/>
                <a:cs typeface="+mn-cs"/>
              </a:rPr>
              <a:t>一个套接字</a:t>
            </a:r>
            <a:r>
              <a:rPr kumimoji="0" lang="en-US" altLang="zh-CN" sz="2000" b="1" i="0" u="none" strike="noStrike" kern="1200" cap="none" spc="0" normalizeH="0" baseline="0" noProof="0">
                <a:ln>
                  <a:noFill/>
                </a:ln>
                <a:solidFill>
                  <a:schemeClr val="tx1"/>
                </a:solidFill>
                <a:effectLst/>
                <a:uLnTx/>
                <a:uFillTx/>
                <a:latin typeface="+mj-ea"/>
                <a:ea typeface="+mj-ea"/>
                <a:cs typeface="+mn-cs"/>
              </a:rPr>
              <a:t>serverSocket</a:t>
            </a:r>
            <a:r>
              <a:rPr kumimoji="0" lang="zh-CN" altLang="en-US" sz="2000" b="1" i="0" u="none" strike="noStrike" kern="1200" cap="none" spc="0" normalizeH="0" baseline="0" noProof="0">
                <a:ln>
                  <a:noFill/>
                </a:ln>
                <a:solidFill>
                  <a:schemeClr val="tx1"/>
                </a:solidFill>
                <a:effectLst/>
                <a:uLnTx/>
                <a:uFillTx/>
                <a:latin typeface="+mj-ea"/>
                <a:ea typeface="+mj-ea"/>
                <a:cs typeface="+mn-cs"/>
              </a:rPr>
              <a:t>：发送和接收分组。 </a:t>
            </a:r>
            <a:endParaRPr kumimoji="0" lang="zh-CN" altLang="en-US" sz="2000" b="1" i="0" u="none" strike="noStrike" kern="1200" cap="none" spc="0" normalizeH="0" baseline="0" noProof="0">
              <a:ln>
                <a:noFill/>
              </a:ln>
              <a:solidFill>
                <a:schemeClr val="tx1"/>
              </a:solidFill>
              <a:effectLst/>
              <a:uLnTx/>
              <a:uFillTx/>
              <a:latin typeface="+mj-ea"/>
              <a:ea typeface="+mj-ea"/>
              <a:cs typeface="+mn-cs"/>
            </a:endParaRPr>
          </a:p>
        </p:txBody>
      </p:sp>
      <p:sp>
        <p:nvSpPr>
          <p:cNvPr id="498690" name="Rectangle 2"/>
          <p:cNvSpPr>
            <a:spLocks noGrp="1" noChangeArrowheads="1"/>
          </p:cNvSpPr>
          <p:nvPr>
            <p:ph type="title"/>
          </p:nvPr>
        </p:nvSpPr>
        <p:spPr>
          <a:xfrm>
            <a:off x="325438" y="987425"/>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服务器：</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66564"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pic>
        <p:nvPicPr>
          <p:cNvPr id="66565" name="Picture 4"/>
          <p:cNvPicPr>
            <a:picLocks noChangeAspect="1"/>
          </p:cNvPicPr>
          <p:nvPr/>
        </p:nvPicPr>
        <p:blipFill>
          <a:blip r:embed="rId1"/>
          <a:stretch>
            <a:fillRect/>
          </a:stretch>
        </p:blipFill>
        <p:spPr>
          <a:xfrm>
            <a:off x="1803400" y="2525713"/>
            <a:ext cx="4967288" cy="3663950"/>
          </a:xfrm>
          <a:prstGeom prst="rect">
            <a:avLst/>
          </a:prstGeom>
          <a:noFill/>
          <a:ln w="9525">
            <a:noFill/>
          </a:ln>
        </p:spPr>
      </p:pic>
      <p:sp>
        <p:nvSpPr>
          <p:cNvPr id="66566" name="AutoShape 5"/>
          <p:cNvSpPr/>
          <p:nvPr/>
        </p:nvSpPr>
        <p:spPr>
          <a:xfrm>
            <a:off x="5448300" y="2921000"/>
            <a:ext cx="2552700" cy="635000"/>
          </a:xfrm>
          <a:prstGeom prst="wedgeRoundRectCallout">
            <a:avLst>
              <a:gd name="adj1" fmla="val -76370"/>
              <a:gd name="adj2" fmla="val 126000"/>
              <a:gd name="adj3" fmla="val 16667"/>
            </a:avLst>
          </a:prstGeom>
          <a:solidFill>
            <a:srgbClr val="00CC99"/>
          </a:solidFill>
          <a:ln w="9525">
            <a:noFill/>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en-US" altLang="zh-CN" sz="2000" dirty="0">
                <a:solidFill>
                  <a:srgbClr val="FF3300"/>
                </a:solidFill>
                <a:latin typeface="Comic Sans MS" panose="030F0702030302020204" pitchFamily="66" charset="0"/>
                <a:ea typeface="宋体" panose="02010600030101010101" pitchFamily="2" charset="-122"/>
              </a:rPr>
              <a:t> </a:t>
            </a:r>
            <a:r>
              <a:rPr lang="zh-CN" altLang="en-US" sz="2000" dirty="0">
                <a:solidFill>
                  <a:srgbClr val="FF3300"/>
                </a:solidFill>
                <a:latin typeface="Comic Sans MS" panose="030F0702030302020204" pitchFamily="66" charset="0"/>
                <a:ea typeface="宋体" panose="02010600030101010101" pitchFamily="2" charset="-122"/>
              </a:rPr>
              <a:t>接收分组 </a:t>
            </a:r>
            <a:r>
              <a:rPr lang="en-US" altLang="zh-CN" sz="2000" dirty="0">
                <a:solidFill>
                  <a:srgbClr val="FF3300"/>
                </a:solidFill>
                <a:latin typeface="Comic Sans MS" panose="030F0702030302020204" pitchFamily="66" charset="0"/>
                <a:ea typeface="宋体" panose="02010600030101010101" pitchFamily="2" charset="-122"/>
              </a:rPr>
              <a:t>(</a:t>
            </a:r>
            <a:r>
              <a:rPr lang="zh-CN" altLang="en-US" sz="2000" dirty="0">
                <a:solidFill>
                  <a:srgbClr val="FF3300"/>
                </a:solidFill>
                <a:latin typeface="Comic Sans MS" panose="030F0702030302020204" pitchFamily="66" charset="0"/>
                <a:ea typeface="宋体" panose="02010600030101010101" pitchFamily="2" charset="-122"/>
              </a:rPr>
              <a:t>字节流</a:t>
            </a:r>
            <a:r>
              <a:rPr lang="en-US" altLang="zh-CN" sz="2000" dirty="0">
                <a:solidFill>
                  <a:srgbClr val="FF3300"/>
                </a:solidFill>
                <a:latin typeface="Comic Sans MS" panose="030F0702030302020204" pitchFamily="66" charset="0"/>
                <a:ea typeface="宋体" panose="02010600030101010101" pitchFamily="2" charset="-122"/>
              </a:rPr>
              <a:t>)</a:t>
            </a:r>
            <a:endParaRPr lang="zh-CN" altLang="en-US" sz="2000" dirty="0">
              <a:solidFill>
                <a:srgbClr val="FF3300"/>
              </a:solidFill>
              <a:latin typeface="Comic Sans MS" panose="030F0702030302020204" pitchFamily="66" charset="0"/>
              <a:ea typeface="宋体" panose="02010600030101010101" pitchFamily="2" charset="-122"/>
            </a:endParaRPr>
          </a:p>
        </p:txBody>
      </p:sp>
      <p:sp>
        <p:nvSpPr>
          <p:cNvPr id="66567" name="AutoShape 6"/>
          <p:cNvSpPr/>
          <p:nvPr/>
        </p:nvSpPr>
        <p:spPr>
          <a:xfrm>
            <a:off x="939800" y="3162300"/>
            <a:ext cx="2552700" cy="635000"/>
          </a:xfrm>
          <a:prstGeom prst="wedgeRoundRectCallout">
            <a:avLst>
              <a:gd name="adj1" fmla="val 53481"/>
              <a:gd name="adj2" fmla="val 126000"/>
              <a:gd name="adj3" fmla="val 16667"/>
            </a:avLst>
          </a:prstGeom>
          <a:solidFill>
            <a:srgbClr val="00CC99"/>
          </a:solidFill>
          <a:ln w="9525">
            <a:noFill/>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20000"/>
              </a:spcBef>
              <a:buClrTx/>
              <a:buFontTx/>
              <a:buNone/>
            </a:pPr>
            <a:r>
              <a:rPr lang="zh-CN" altLang="en-US" sz="2000" dirty="0">
                <a:solidFill>
                  <a:srgbClr val="FF3300"/>
                </a:solidFill>
                <a:latin typeface="Comic Sans MS" panose="030F0702030302020204" pitchFamily="66" charset="0"/>
                <a:ea typeface="宋体" panose="02010600030101010101" pitchFamily="2" charset="-122"/>
              </a:rPr>
              <a:t>发送分组 </a:t>
            </a:r>
            <a:r>
              <a:rPr lang="en-US" altLang="zh-CN" sz="2000" dirty="0">
                <a:solidFill>
                  <a:srgbClr val="FF3300"/>
                </a:solidFill>
                <a:latin typeface="Comic Sans MS" panose="030F0702030302020204" pitchFamily="66" charset="0"/>
                <a:ea typeface="宋体" panose="02010600030101010101" pitchFamily="2" charset="-122"/>
              </a:rPr>
              <a:t>(</a:t>
            </a:r>
            <a:r>
              <a:rPr lang="zh-CN" altLang="en-US" sz="2000" dirty="0">
                <a:solidFill>
                  <a:srgbClr val="FF3300"/>
                </a:solidFill>
                <a:latin typeface="Comic Sans MS" panose="030F0702030302020204" pitchFamily="66" charset="0"/>
                <a:ea typeface="宋体" panose="02010600030101010101" pitchFamily="2" charset="-122"/>
              </a:rPr>
              <a:t>字节流</a:t>
            </a:r>
            <a:r>
              <a:rPr lang="en-US" altLang="zh-CN" sz="2000" dirty="0">
                <a:solidFill>
                  <a:srgbClr val="FF3300"/>
                </a:solidFill>
                <a:latin typeface="Comic Sans MS" panose="030F0702030302020204" pitchFamily="66" charset="0"/>
                <a:ea typeface="宋体" panose="02010600030101010101" pitchFamily="2" charset="-122"/>
              </a:rPr>
              <a:t>)</a:t>
            </a:r>
            <a:endParaRPr lang="zh-CN" altLang="en-US" sz="2000" dirty="0">
              <a:solidFill>
                <a:srgbClr val="FF3300"/>
              </a:solidFill>
              <a:latin typeface="Comic Sans MS" panose="030F0702030302020204" pitchFamily="66" charset="0"/>
              <a:ea typeface="宋体" panose="02010600030101010101" pitchFamily="2" charset="-122"/>
            </a:endParaRPr>
          </a:p>
        </p:txBody>
      </p:sp>
      <p:sp>
        <p:nvSpPr>
          <p:cNvPr id="66568" name="Text Box 8"/>
          <p:cNvSpPr txBox="1"/>
          <p:nvPr/>
        </p:nvSpPr>
        <p:spPr>
          <a:xfrm>
            <a:off x="3429000" y="5257800"/>
            <a:ext cx="1892300" cy="366713"/>
          </a:xfrm>
          <a:prstGeom prst="rect">
            <a:avLst/>
          </a:prstGeom>
          <a:noFill/>
          <a:ln w="9525">
            <a:noFill/>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spcBef>
                <a:spcPct val="50000"/>
              </a:spcBef>
              <a:buClrTx/>
              <a:buFontTx/>
              <a:buNone/>
            </a:pPr>
            <a:r>
              <a:rPr lang="en-US" altLang="zh-CN" sz="1800" dirty="0">
                <a:solidFill>
                  <a:srgbClr val="FF3300"/>
                </a:solidFill>
                <a:latin typeface="Times New Roman" panose="02020603050405020304" pitchFamily="18" charset="0"/>
                <a:ea typeface="宋体" panose="02010600030101010101" pitchFamily="2" charset="-122"/>
              </a:rPr>
              <a:t>serverSocket</a:t>
            </a:r>
            <a:endParaRPr lang="zh-CN" altLang="en-US" sz="1800" dirty="0">
              <a:solidFill>
                <a:srgbClr val="FF3300"/>
              </a:solidFill>
              <a:latin typeface="Times New Roman" panose="02020603050405020304" pitchFamily="18" charset="0"/>
              <a:ea typeface="宋体" panose="02010600030101010101" pitchFamily="2" charset="-122"/>
            </a:endParaRP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noChangeArrowheads="1"/>
          </p:cNvSpPr>
          <p:nvPr>
            <p:ph type="title"/>
          </p:nvPr>
        </p:nvSpPr>
        <p:spPr>
          <a:xfrm>
            <a:off x="2286000" y="-20637"/>
            <a:ext cx="4408488" cy="8064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服务器</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r>
              <a:rPr kumimoji="0" lang="en-US" altLang="zh-CN" sz="2400" b="1" i="1" u="none" strike="noStrike" kern="1200" cap="none" spc="0" normalizeH="0" baseline="0" noProof="0" dirty="0">
                <a:ln>
                  <a:noFill/>
                </a:ln>
                <a:solidFill>
                  <a:srgbClr val="339933"/>
                </a:solidFill>
                <a:effectLst/>
                <a:uLnTx/>
                <a:uFillTx/>
                <a:latin typeface="+mj-ea"/>
                <a:ea typeface="+mj-ea"/>
                <a:cs typeface="+mj-cs"/>
              </a:rPr>
              <a:t>UDPServer.java</a:t>
            </a: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a:t>
            </a:r>
            <a:endParaRPr kumimoji="0" lang="en-US" altLang="zh-CN"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67587"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67588" name="Rectangle 3"/>
          <p:cNvSpPr/>
          <p:nvPr/>
        </p:nvSpPr>
        <p:spPr>
          <a:xfrm>
            <a:off x="2565400" y="1541463"/>
            <a:ext cx="6483350" cy="4613275"/>
          </a:xfrm>
          <a:prstGeom prst="rect">
            <a:avLst/>
          </a:prstGeom>
          <a:noFill/>
          <a:ln w="9525">
            <a:noFill/>
          </a:ln>
        </p:spPr>
        <p:txBody>
          <a:bodyPr wrap="none" anchor="ctr" anchorCtr="0">
            <a:spAutoFit/>
          </a:bodyPr>
          <a:p>
            <a:r>
              <a:rPr lang="en-US" altLang="zh-CN" sz="1600" dirty="0">
                <a:latin typeface="Arial" panose="020B0604020202020204" pitchFamily="34" charset="0"/>
                <a:ea typeface="宋体" panose="02010600030101010101" pitchFamily="2" charset="-122"/>
              </a:rPr>
              <a:t>import java.io.*;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import java.net.*;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class UDPServer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public static void main(String args[]) throws Exception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DatagramSocket </a:t>
            </a:r>
            <a:r>
              <a:rPr lang="en-US" altLang="zh-CN" sz="1600" dirty="0">
                <a:solidFill>
                  <a:srgbClr val="FF3300"/>
                </a:solidFill>
                <a:latin typeface="Arial" panose="020B0604020202020204" pitchFamily="34" charset="0"/>
                <a:ea typeface="宋体" panose="02010600030101010101" pitchFamily="2" charset="-122"/>
              </a:rPr>
              <a:t>ServerSocket</a:t>
            </a:r>
            <a:r>
              <a:rPr lang="en-US" altLang="zh-CN" sz="1600" dirty="0">
                <a:latin typeface="Arial" panose="020B0604020202020204" pitchFamily="34" charset="0"/>
                <a:ea typeface="宋体" panose="02010600030101010101" pitchFamily="2" charset="-122"/>
              </a:rPr>
              <a:t> = new DatagramSocket(9876);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byte[] receiveData = new byte[1024];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byte[] sendData  = new byte[1024];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while(true)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DatagramPacket receivePacket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DatagramPacket(receiveData, receiveData.length);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ServerSocket.receive(</a:t>
            </a:r>
            <a:r>
              <a:rPr lang="en-US" altLang="zh-CN" sz="1600" dirty="0">
                <a:solidFill>
                  <a:srgbClr val="FF3300"/>
                </a:solidFill>
                <a:latin typeface="Arial" panose="020B0604020202020204" pitchFamily="34" charset="0"/>
                <a:ea typeface="宋体" panose="02010600030101010101" pitchFamily="2" charset="-122"/>
              </a:rPr>
              <a:t>receivePacket</a:t>
            </a:r>
            <a:r>
              <a:rPr lang="en-US" altLang="zh-CN" sz="1600" dirty="0">
                <a:latin typeface="Arial" panose="020B0604020202020204" pitchFamily="34"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00356" name="Text Box 4"/>
          <p:cNvSpPr txBox="1"/>
          <p:nvPr/>
        </p:nvSpPr>
        <p:spPr>
          <a:xfrm>
            <a:off x="396875" y="2947988"/>
            <a:ext cx="2014538"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在端口</a:t>
            </a:r>
            <a:r>
              <a:rPr lang="en-US" altLang="zh-CN" sz="1800" dirty="0">
                <a:solidFill>
                  <a:schemeClr val="accent2"/>
                </a:solidFill>
                <a:latin typeface="Times New Roman" panose="02020603050405020304" pitchFamily="18" charset="0"/>
                <a:ea typeface="宋体" panose="02010600030101010101" pitchFamily="2" charset="-122"/>
              </a:rPr>
              <a:t>9876</a:t>
            </a:r>
            <a:r>
              <a:rPr lang="zh-CN" altLang="en-US" sz="1800" dirty="0">
                <a:solidFill>
                  <a:schemeClr val="accent2"/>
                </a:solidFill>
                <a:latin typeface="Times New Roman" panose="02020603050405020304" pitchFamily="18" charset="0"/>
                <a:ea typeface="宋体" panose="02010600030101010101" pitchFamily="2" charset="-122"/>
              </a:rPr>
              <a:t>生成数据报套接字</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100357" name="Text Box 5"/>
          <p:cNvSpPr txBox="1"/>
          <p:nvPr/>
        </p:nvSpPr>
        <p:spPr>
          <a:xfrm>
            <a:off x="587375" y="5018088"/>
            <a:ext cx="1892300"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为接收的数据报生成空间</a:t>
            </a:r>
            <a:endParaRPr lang="en-US" altLang="zh-CN" sz="1800" dirty="0">
              <a:latin typeface="Times New Roman" panose="02020603050405020304" pitchFamily="18" charset="0"/>
              <a:ea typeface="宋体" panose="02010600030101010101" pitchFamily="2" charset="-122"/>
            </a:endParaRPr>
          </a:p>
        </p:txBody>
      </p:sp>
      <p:sp>
        <p:nvSpPr>
          <p:cNvPr id="100358" name="Text Box 6"/>
          <p:cNvSpPr txBox="1"/>
          <p:nvPr/>
        </p:nvSpPr>
        <p:spPr>
          <a:xfrm>
            <a:off x="1176338" y="5924550"/>
            <a:ext cx="1377950" cy="366713"/>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接收数据报</a:t>
            </a:r>
            <a:endParaRPr lang="zh-CN" altLang="en-US" sz="1800" dirty="0">
              <a:latin typeface="Times New Roman" panose="02020603050405020304" pitchFamily="18" charset="0"/>
              <a:ea typeface="宋体" panose="02010600030101010101" pitchFamily="2" charset="-122"/>
            </a:endParaRPr>
          </a:p>
        </p:txBody>
      </p:sp>
      <p:sp>
        <p:nvSpPr>
          <p:cNvPr id="100359" name="Freeform 7"/>
          <p:cNvSpPr/>
          <p:nvPr/>
        </p:nvSpPr>
        <p:spPr>
          <a:xfrm>
            <a:off x="2286000" y="2871788"/>
            <a:ext cx="152400" cy="80010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0360" name="Line 8"/>
          <p:cNvSpPr/>
          <p:nvPr/>
        </p:nvSpPr>
        <p:spPr>
          <a:xfrm>
            <a:off x="2457450" y="3405188"/>
            <a:ext cx="419100" cy="4762"/>
          </a:xfrm>
          <a:prstGeom prst="line">
            <a:avLst/>
          </a:prstGeom>
          <a:ln w="28575" cap="flat" cmpd="sng">
            <a:solidFill>
              <a:schemeClr val="accent2"/>
            </a:solidFill>
            <a:prstDash val="solid"/>
            <a:headEnd type="none" w="med" len="med"/>
            <a:tailEnd type="triangle" w="med" len="med"/>
          </a:ln>
        </p:spPr>
      </p:sp>
      <p:sp>
        <p:nvSpPr>
          <p:cNvPr id="100361" name="Freeform 9"/>
          <p:cNvSpPr/>
          <p:nvPr/>
        </p:nvSpPr>
        <p:spPr>
          <a:xfrm>
            <a:off x="2362200" y="5072063"/>
            <a:ext cx="85725" cy="5476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0362" name="Line 10"/>
          <p:cNvSpPr/>
          <p:nvPr/>
        </p:nvSpPr>
        <p:spPr>
          <a:xfrm>
            <a:off x="2471738" y="5407025"/>
            <a:ext cx="604837" cy="12700"/>
          </a:xfrm>
          <a:prstGeom prst="line">
            <a:avLst/>
          </a:prstGeom>
          <a:ln w="28575" cap="flat" cmpd="sng">
            <a:solidFill>
              <a:schemeClr val="accent2"/>
            </a:solidFill>
            <a:prstDash val="solid"/>
            <a:headEnd type="none" w="med" len="med"/>
            <a:tailEnd type="triangle" w="med" len="med"/>
          </a:ln>
        </p:spPr>
      </p:sp>
      <p:sp>
        <p:nvSpPr>
          <p:cNvPr id="100363" name="Freeform 11"/>
          <p:cNvSpPr/>
          <p:nvPr/>
        </p:nvSpPr>
        <p:spPr>
          <a:xfrm>
            <a:off x="2352675" y="5805488"/>
            <a:ext cx="138113" cy="5857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0364" name="Line 12"/>
          <p:cNvSpPr/>
          <p:nvPr/>
        </p:nvSpPr>
        <p:spPr>
          <a:xfrm flipV="1">
            <a:off x="2490788" y="5972175"/>
            <a:ext cx="592137" cy="14288"/>
          </a:xfrm>
          <a:prstGeom prst="line">
            <a:avLst/>
          </a:prstGeom>
          <a:ln w="28575" cap="flat" cmpd="sng">
            <a:solidFill>
              <a:schemeClr val="accent2"/>
            </a:solidFill>
            <a:prstDash val="solid"/>
            <a:headEnd type="none" w="med" len="med"/>
            <a:tailEnd type="triangle" w="med" len="med"/>
          </a:ln>
        </p:spPr>
      </p:sp>
      <p:sp>
        <p:nvSpPr>
          <p:cNvPr id="67598" name="Text Box 2"/>
          <p:cNvSpPr txBox="1"/>
          <p:nvPr/>
        </p:nvSpPr>
        <p:spPr>
          <a:xfrm>
            <a:off x="254000" y="876300"/>
            <a:ext cx="7810500" cy="466725"/>
          </a:xfrm>
          <a:prstGeom prst="rect">
            <a:avLst/>
          </a:prstGeom>
          <a:noFill/>
          <a:ln w="9525" cap="flat" cmpd="sng">
            <a:solidFill>
              <a:srgbClr val="FF0000"/>
            </a:solidFill>
            <a:prstDash val="solid"/>
            <a:miter/>
            <a:headEnd type="none" w="med" len="med"/>
            <a:tailEnd type="none" w="med" len="med"/>
          </a:ln>
        </p:spPr>
        <p:txBody>
          <a:bodyPr>
            <a:sp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50000"/>
              </a:spcBef>
              <a:buClrTx/>
              <a:buFontTx/>
              <a:buNone/>
            </a:pPr>
            <a:r>
              <a:rPr lang="zh-CN" altLang="en-US" sz="2400" dirty="0">
                <a:latin typeface="华文中宋" panose="02010600040101010101" pitchFamily="2" charset="-122"/>
                <a:ea typeface="华文中宋" panose="02010600040101010101" pitchFamily="2" charset="-122"/>
              </a:rPr>
              <a:t>产生套接字</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sym typeface="Symbol" panose="05050102010706020507" pitchFamily="18" charset="2"/>
              </a:rPr>
              <a:t>接收</a:t>
            </a:r>
            <a:r>
              <a:rPr lang="zh-CN" altLang="en-US" sz="2400" dirty="0">
                <a:solidFill>
                  <a:srgbClr val="FF3300"/>
                </a:solidFill>
                <a:latin typeface="Comic Sans MS" panose="030F0702030302020204" pitchFamily="66" charset="0"/>
                <a:ea typeface="宋体" panose="02010600030101010101" pitchFamily="2" charset="-122"/>
                <a:sym typeface="Symbol" panose="05050102010706020507" pitchFamily="18" charset="2"/>
              </a:rPr>
              <a:t></a:t>
            </a:r>
            <a:r>
              <a:rPr lang="zh-CN" altLang="en-US" sz="2400" dirty="0">
                <a:solidFill>
                  <a:schemeClr val="tx2"/>
                </a:solidFill>
                <a:latin typeface="Comic Sans MS" panose="030F0702030302020204" pitchFamily="66" charset="0"/>
                <a:ea typeface="华文中宋" panose="02010600040101010101" pitchFamily="2" charset="-122"/>
                <a:sym typeface="Symbol" panose="05050102010706020507" pitchFamily="18" charset="2"/>
              </a:rPr>
              <a:t>解封</a:t>
            </a:r>
            <a:r>
              <a:rPr lang="zh-CN" altLang="en-US" sz="2400" dirty="0">
                <a:solidFill>
                  <a:srgbClr val="FF3300"/>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400" dirty="0">
                <a:latin typeface="华文中宋" panose="02010600040101010101" pitchFamily="2" charset="-122"/>
                <a:ea typeface="华文中宋" panose="02010600040101010101" pitchFamily="2" charset="-122"/>
              </a:rPr>
              <a:t>发送</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60"/>
                                        </p:tgtEl>
                                        <p:attrNameLst>
                                          <p:attrName>style.visibility</p:attrName>
                                        </p:attrNameLst>
                                      </p:cBhvr>
                                      <p:to>
                                        <p:strVal val="visible"/>
                                      </p:to>
                                    </p:set>
                                    <p:animEffect transition="in" filter="blinds(horizontal)">
                                      <p:cBhvr>
                                        <p:cTn id="7" dur="500"/>
                                        <p:tgtEl>
                                          <p:spTgt spid="100360"/>
                                        </p:tgtEl>
                                      </p:cBhvr>
                                    </p:animEffect>
                                  </p:childTnLst>
                                </p:cTn>
                              </p:par>
                              <p:par>
                                <p:cTn id="8" presetID="3" presetClass="entr" presetSubtype="10" fill="hold" nodeType="withEffect">
                                  <p:stCondLst>
                                    <p:cond delay="0"/>
                                  </p:stCondLst>
                                  <p:childTnLst>
                                    <p:set>
                                      <p:cBhvr>
                                        <p:cTn id="9" dur="1" fill="hold">
                                          <p:stCondLst>
                                            <p:cond delay="0"/>
                                          </p:stCondLst>
                                        </p:cTn>
                                        <p:tgtEl>
                                          <p:spTgt spid="100359"/>
                                        </p:tgtEl>
                                        <p:attrNameLst>
                                          <p:attrName>style.visibility</p:attrName>
                                        </p:attrNameLst>
                                      </p:cBhvr>
                                      <p:to>
                                        <p:strVal val="visible"/>
                                      </p:to>
                                    </p:set>
                                    <p:animEffect transition="in" filter="blinds(horizontal)">
                                      <p:cBhvr>
                                        <p:cTn id="10" dur="500"/>
                                        <p:tgtEl>
                                          <p:spTgt spid="10035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0356"/>
                                        </p:tgtEl>
                                        <p:attrNameLst>
                                          <p:attrName>style.visibility</p:attrName>
                                        </p:attrNameLst>
                                      </p:cBhvr>
                                      <p:to>
                                        <p:strVal val="visible"/>
                                      </p:to>
                                    </p:set>
                                    <p:animEffect transition="in" filter="blinds(horizontal)">
                                      <p:cBhvr>
                                        <p:cTn id="13" dur="500"/>
                                        <p:tgtEl>
                                          <p:spTgt spid="10035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00362"/>
                                        </p:tgtEl>
                                        <p:attrNameLst>
                                          <p:attrName>style.visibility</p:attrName>
                                        </p:attrNameLst>
                                      </p:cBhvr>
                                      <p:to>
                                        <p:strVal val="visible"/>
                                      </p:to>
                                    </p:set>
                                    <p:animEffect transition="in" filter="wipe(down)">
                                      <p:cBhvr>
                                        <p:cTn id="18" dur="500"/>
                                        <p:tgtEl>
                                          <p:spTgt spid="100362"/>
                                        </p:tgtEl>
                                      </p:cBhvr>
                                    </p:animEffect>
                                  </p:childTnLst>
                                </p:cTn>
                              </p:par>
                              <p:par>
                                <p:cTn id="19" presetID="22" presetClass="entr" presetSubtype="4" fill="hold" nodeType="withEffect">
                                  <p:stCondLst>
                                    <p:cond delay="0"/>
                                  </p:stCondLst>
                                  <p:childTnLst>
                                    <p:set>
                                      <p:cBhvr>
                                        <p:cTn id="20" dur="1" fill="hold">
                                          <p:stCondLst>
                                            <p:cond delay="0"/>
                                          </p:stCondLst>
                                        </p:cTn>
                                        <p:tgtEl>
                                          <p:spTgt spid="100361"/>
                                        </p:tgtEl>
                                        <p:attrNameLst>
                                          <p:attrName>style.visibility</p:attrName>
                                        </p:attrNameLst>
                                      </p:cBhvr>
                                      <p:to>
                                        <p:strVal val="visible"/>
                                      </p:to>
                                    </p:set>
                                    <p:animEffect transition="in" filter="wipe(down)">
                                      <p:cBhvr>
                                        <p:cTn id="21" dur="500"/>
                                        <p:tgtEl>
                                          <p:spTgt spid="10036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00357"/>
                                        </p:tgtEl>
                                        <p:attrNameLst>
                                          <p:attrName>style.visibility</p:attrName>
                                        </p:attrNameLst>
                                      </p:cBhvr>
                                      <p:to>
                                        <p:strVal val="visible"/>
                                      </p:to>
                                    </p:set>
                                    <p:animEffect transition="in" filter="wipe(down)">
                                      <p:cBhvr>
                                        <p:cTn id="24" dur="500"/>
                                        <p:tgtEl>
                                          <p:spTgt spid="10035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00364"/>
                                        </p:tgtEl>
                                        <p:attrNameLst>
                                          <p:attrName>style.visibility</p:attrName>
                                        </p:attrNameLst>
                                      </p:cBhvr>
                                      <p:to>
                                        <p:strVal val="visible"/>
                                      </p:to>
                                    </p:set>
                                    <p:animEffect transition="in" filter="blinds(horizontal)">
                                      <p:cBhvr>
                                        <p:cTn id="29" dur="500"/>
                                        <p:tgtEl>
                                          <p:spTgt spid="100364"/>
                                        </p:tgtEl>
                                      </p:cBhvr>
                                    </p:animEffect>
                                  </p:childTnLst>
                                </p:cTn>
                              </p:par>
                              <p:par>
                                <p:cTn id="30" presetID="3" presetClass="entr" presetSubtype="10" fill="hold" nodeType="withEffect">
                                  <p:stCondLst>
                                    <p:cond delay="0"/>
                                  </p:stCondLst>
                                  <p:childTnLst>
                                    <p:set>
                                      <p:cBhvr>
                                        <p:cTn id="31" dur="1" fill="hold">
                                          <p:stCondLst>
                                            <p:cond delay="0"/>
                                          </p:stCondLst>
                                        </p:cTn>
                                        <p:tgtEl>
                                          <p:spTgt spid="100363"/>
                                        </p:tgtEl>
                                        <p:attrNameLst>
                                          <p:attrName>style.visibility</p:attrName>
                                        </p:attrNameLst>
                                      </p:cBhvr>
                                      <p:to>
                                        <p:strVal val="visible"/>
                                      </p:to>
                                    </p:set>
                                    <p:animEffect transition="in" filter="blinds(horizontal)">
                                      <p:cBhvr>
                                        <p:cTn id="32" dur="500"/>
                                        <p:tgtEl>
                                          <p:spTgt spid="10036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0358"/>
                                        </p:tgtEl>
                                        <p:attrNameLst>
                                          <p:attrName>style.visibility</p:attrName>
                                        </p:attrNameLst>
                                      </p:cBhvr>
                                      <p:to>
                                        <p:strVal val="visible"/>
                                      </p:to>
                                    </p:set>
                                    <p:animEffect transition="in" filter="blinds(horizontal)">
                                      <p:cBhvr>
                                        <p:cTn id="35"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P spid="100357" grpId="0"/>
      <p:bldP spid="10035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69635" name="Rectangle 3"/>
          <p:cNvSpPr/>
          <p:nvPr/>
        </p:nvSpPr>
        <p:spPr>
          <a:xfrm>
            <a:off x="1851025" y="1173163"/>
            <a:ext cx="6877050" cy="4857750"/>
          </a:xfrm>
          <a:prstGeom prst="rect">
            <a:avLst/>
          </a:prstGeom>
          <a:noFill/>
          <a:ln w="9525">
            <a:noFill/>
          </a:ln>
        </p:spPr>
        <p:txBody>
          <a:bodyPr wrap="none" anchor="ctr" anchorCtr="0">
            <a:spAutoFit/>
          </a:bodyPr>
          <a:p>
            <a:endParaRPr lang="zh-CN" altLang="en-US" sz="1600" dirty="0">
              <a:latin typeface="Arial" panose="020B0604020202020204" pitchFamily="34" charset="0"/>
              <a:ea typeface="宋体" panose="02010600030101010101" pitchFamily="2" charset="-122"/>
            </a:endParaRPr>
          </a:p>
          <a:p>
            <a:r>
              <a:rPr lang="zh-CN" altLang="en-US" sz="1600" dirty="0">
                <a:latin typeface="Arial" panose="020B0604020202020204" pitchFamily="34" charset="0"/>
                <a:ea typeface="宋体" panose="02010600030101010101" pitchFamily="2" charset="-122"/>
              </a:rPr>
              <a:t>          </a:t>
            </a:r>
            <a:r>
              <a:rPr lang="en-US" altLang="zh-CN" sz="1600" dirty="0">
                <a:latin typeface="Arial" panose="020B0604020202020204" pitchFamily="34" charset="0"/>
                <a:ea typeface="宋体" panose="02010600030101010101" pitchFamily="2" charset="-122"/>
              </a:rPr>
              <a:t>String sentence = new String(receivePacket.getData());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InetAddress IPAddress = receivePacket.getAddress();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int port = receivePacket.getPort();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String capitalizedSentence = </a:t>
            </a:r>
            <a:r>
              <a:rPr lang="en-US" altLang="zh-CN" sz="1600" dirty="0">
                <a:solidFill>
                  <a:srgbClr val="FF3300"/>
                </a:solidFill>
                <a:latin typeface="Arial" panose="020B0604020202020204" pitchFamily="34" charset="0"/>
                <a:ea typeface="宋体" panose="02010600030101010101" pitchFamily="2" charset="-122"/>
              </a:rPr>
              <a:t>sentence.toUpperCase();</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sendData = capitalizedSentence.getBytes();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DatagramPacket </a:t>
            </a:r>
            <a:r>
              <a:rPr lang="en-US" altLang="zh-CN" sz="1600" dirty="0">
                <a:solidFill>
                  <a:srgbClr val="FF3300"/>
                </a:solidFill>
                <a:latin typeface="Arial" panose="020B0604020202020204" pitchFamily="34" charset="0"/>
                <a:ea typeface="宋体" panose="02010600030101010101" pitchFamily="2" charset="-122"/>
              </a:rPr>
              <a:t>sendPacket</a:t>
            </a:r>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new DatagramPacket(sendData, sendData.length, IPAddress,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port);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ServerSocket.send(sendPacket);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    } </a:t>
            </a:r>
            <a:endParaRPr lang="en-US" altLang="zh-CN" sz="1600" dirty="0">
              <a:latin typeface="Arial" panose="020B0604020202020204" pitchFamily="34" charset="0"/>
              <a:ea typeface="宋体" panose="02010600030101010101" pitchFamily="2" charset="-122"/>
            </a:endParaRPr>
          </a:p>
          <a:p>
            <a:r>
              <a:rPr lang="en-US" altLang="zh-CN" sz="1600" dirty="0">
                <a:latin typeface="Arial" panose="020B0604020202020204" pitchFamily="34"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01380" name="Text Box 4"/>
          <p:cNvSpPr txBox="1"/>
          <p:nvPr/>
        </p:nvSpPr>
        <p:spPr>
          <a:xfrm>
            <a:off x="127000" y="1736725"/>
            <a:ext cx="2093913" cy="915988"/>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获得发送方的 </a:t>
            </a:r>
            <a:r>
              <a:rPr lang="en-US" altLang="zh-CN" sz="1800" dirty="0">
                <a:solidFill>
                  <a:schemeClr val="accent2"/>
                </a:solidFill>
                <a:latin typeface="Times New Roman" panose="02020603050405020304" pitchFamily="18" charset="0"/>
                <a:ea typeface="宋体" panose="02010600030101010101" pitchFamily="2" charset="-122"/>
              </a:rPr>
              <a:t>IP </a:t>
            </a:r>
            <a:r>
              <a:rPr lang="zh-CN" altLang="en-US" sz="1800" dirty="0">
                <a:solidFill>
                  <a:schemeClr val="accent2"/>
                </a:solidFill>
                <a:latin typeface="Times New Roman" panose="02020603050405020304" pitchFamily="18" charset="0"/>
                <a:ea typeface="宋体" panose="02010600030101010101" pitchFamily="2" charset="-122"/>
              </a:rPr>
              <a:t>地址，端口</a:t>
            </a:r>
            <a:r>
              <a:rPr lang="en-US" altLang="zh-CN" sz="1800" dirty="0">
                <a:solidFill>
                  <a:schemeClr val="accent2"/>
                </a:solidFill>
                <a:latin typeface="Times New Roman" panose="02020603050405020304" pitchFamily="18" charset="0"/>
                <a:ea typeface="宋体" panose="02010600030101010101" pitchFamily="2" charset="-122"/>
              </a:rPr>
              <a:t>#</a:t>
            </a:r>
            <a:endParaRPr lang="en-US" altLang="zh-CN" sz="1800" dirty="0">
              <a:solidFill>
                <a:schemeClr val="accent2"/>
              </a:solidFill>
              <a:latin typeface="Times New Roman" panose="02020603050405020304" pitchFamily="18" charset="0"/>
              <a:ea typeface="宋体" panose="02010600030101010101" pitchFamily="2" charset="-122"/>
            </a:endParaRPr>
          </a:p>
          <a:p>
            <a:pPr algn="r"/>
            <a:endParaRPr lang="en-US" altLang="zh-CN" sz="1800" dirty="0">
              <a:latin typeface="Times New Roman" panose="02020603050405020304" pitchFamily="18" charset="0"/>
              <a:ea typeface="宋体" panose="02010600030101010101" pitchFamily="2" charset="-122"/>
            </a:endParaRPr>
          </a:p>
        </p:txBody>
      </p:sp>
      <p:sp>
        <p:nvSpPr>
          <p:cNvPr id="101381" name="Freeform 5"/>
          <p:cNvSpPr/>
          <p:nvPr/>
        </p:nvSpPr>
        <p:spPr>
          <a:xfrm>
            <a:off x="2057400" y="1795463"/>
            <a:ext cx="133350" cy="814387"/>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1382" name="Line 6"/>
          <p:cNvSpPr/>
          <p:nvPr/>
        </p:nvSpPr>
        <p:spPr>
          <a:xfrm flipV="1">
            <a:off x="2214563" y="2533650"/>
            <a:ext cx="285750" cy="14288"/>
          </a:xfrm>
          <a:prstGeom prst="line">
            <a:avLst/>
          </a:prstGeom>
          <a:ln w="28575" cap="flat" cmpd="sng">
            <a:solidFill>
              <a:schemeClr val="accent2"/>
            </a:solidFill>
            <a:prstDash val="solid"/>
            <a:headEnd type="none" w="med" len="med"/>
            <a:tailEnd type="triangle" w="med" len="med"/>
          </a:ln>
        </p:spPr>
      </p:sp>
      <p:sp>
        <p:nvSpPr>
          <p:cNvPr id="101383" name="Text Box 7"/>
          <p:cNvSpPr txBox="1"/>
          <p:nvPr/>
        </p:nvSpPr>
        <p:spPr>
          <a:xfrm>
            <a:off x="658813" y="4646613"/>
            <a:ext cx="1419225"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向套接字写出数据报</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101384" name="Freeform 8"/>
          <p:cNvSpPr/>
          <p:nvPr/>
        </p:nvSpPr>
        <p:spPr>
          <a:xfrm>
            <a:off x="1895475" y="4595813"/>
            <a:ext cx="161925" cy="81915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1385" name="Line 9"/>
          <p:cNvSpPr/>
          <p:nvPr/>
        </p:nvSpPr>
        <p:spPr>
          <a:xfrm flipV="1">
            <a:off x="2076450" y="4991100"/>
            <a:ext cx="333375" cy="4763"/>
          </a:xfrm>
          <a:prstGeom prst="line">
            <a:avLst/>
          </a:prstGeom>
          <a:ln w="28575" cap="flat" cmpd="sng">
            <a:solidFill>
              <a:schemeClr val="accent2"/>
            </a:solidFill>
            <a:prstDash val="solid"/>
            <a:headEnd type="none" w="med" len="med"/>
            <a:tailEnd type="triangle" w="med" len="med"/>
          </a:ln>
        </p:spPr>
      </p:sp>
      <p:sp>
        <p:nvSpPr>
          <p:cNvPr id="101386" name="Text Box 10"/>
          <p:cNvSpPr txBox="1"/>
          <p:nvPr/>
        </p:nvSpPr>
        <p:spPr>
          <a:xfrm>
            <a:off x="3228975" y="5770563"/>
            <a:ext cx="2655888" cy="641350"/>
          </a:xfrm>
          <a:prstGeom prst="rect">
            <a:avLst/>
          </a:prstGeom>
          <a:noFill/>
          <a:ln w="9525">
            <a:noFill/>
          </a:ln>
        </p:spPr>
        <p:txBody>
          <a:bodyPr anchor="ctr" anchorCtr="0">
            <a:spAutoFit/>
          </a:bodyPr>
          <a:p>
            <a:r>
              <a:rPr lang="zh-CN" altLang="en-US" sz="1800" dirty="0">
                <a:solidFill>
                  <a:schemeClr val="accent2"/>
                </a:solidFill>
                <a:latin typeface="Times New Roman" panose="02020603050405020304" pitchFamily="18" charset="0"/>
                <a:ea typeface="宋体" panose="02010600030101010101" pitchFamily="2" charset="-122"/>
              </a:rPr>
              <a:t>循环结束，返回等待另一个数据报</a:t>
            </a:r>
            <a:endParaRPr lang="en-US" altLang="zh-CN" sz="1800" dirty="0">
              <a:latin typeface="Times New Roman" panose="02020603050405020304" pitchFamily="18" charset="0"/>
              <a:ea typeface="宋体" panose="02010600030101010101" pitchFamily="2" charset="-122"/>
            </a:endParaRPr>
          </a:p>
        </p:txBody>
      </p:sp>
      <p:sp>
        <p:nvSpPr>
          <p:cNvPr id="101387" name="Freeform 11"/>
          <p:cNvSpPr/>
          <p:nvPr/>
        </p:nvSpPr>
        <p:spPr>
          <a:xfrm rot="10784139">
            <a:off x="3209925" y="5622925"/>
            <a:ext cx="160338" cy="912813"/>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1388" name="Line 12"/>
          <p:cNvSpPr/>
          <p:nvPr/>
        </p:nvSpPr>
        <p:spPr>
          <a:xfrm flipH="1" flipV="1">
            <a:off x="2562225" y="5295900"/>
            <a:ext cx="647700" cy="604838"/>
          </a:xfrm>
          <a:prstGeom prst="line">
            <a:avLst/>
          </a:prstGeom>
          <a:ln w="28575" cap="flat" cmpd="sng">
            <a:solidFill>
              <a:schemeClr val="accent2"/>
            </a:solidFill>
            <a:prstDash val="solid"/>
            <a:headEnd type="none" w="med" len="med"/>
            <a:tailEnd type="triangle" w="med" len="med"/>
          </a:ln>
        </p:spPr>
      </p:sp>
      <p:sp>
        <p:nvSpPr>
          <p:cNvPr id="101389" name="Line 13"/>
          <p:cNvSpPr/>
          <p:nvPr/>
        </p:nvSpPr>
        <p:spPr>
          <a:xfrm flipV="1">
            <a:off x="2205038" y="2095500"/>
            <a:ext cx="285750" cy="14288"/>
          </a:xfrm>
          <a:prstGeom prst="line">
            <a:avLst/>
          </a:prstGeom>
          <a:ln w="28575" cap="flat" cmpd="sng">
            <a:solidFill>
              <a:schemeClr val="accent2"/>
            </a:solidFill>
            <a:prstDash val="solid"/>
            <a:headEnd type="none" w="med" len="med"/>
            <a:tailEnd type="triangle" w="med" len="med"/>
          </a:ln>
        </p:spPr>
      </p:sp>
      <p:sp>
        <p:nvSpPr>
          <p:cNvPr id="101390" name="Text Box 14"/>
          <p:cNvSpPr txBox="1"/>
          <p:nvPr/>
        </p:nvSpPr>
        <p:spPr>
          <a:xfrm>
            <a:off x="379413" y="3702050"/>
            <a:ext cx="1717675" cy="641350"/>
          </a:xfrm>
          <a:prstGeom prst="rect">
            <a:avLst/>
          </a:prstGeom>
          <a:noFill/>
          <a:ln w="9525">
            <a:noFill/>
          </a:ln>
        </p:spPr>
        <p:txBody>
          <a:bodyPr anchor="ctr" anchorCtr="0">
            <a:spAutoFit/>
          </a:bodyPr>
          <a:p>
            <a:pPr algn="r"/>
            <a:r>
              <a:rPr lang="zh-CN" altLang="en-US" sz="1800" dirty="0">
                <a:solidFill>
                  <a:schemeClr val="accent2"/>
                </a:solidFill>
                <a:latin typeface="Times New Roman" panose="02020603050405020304" pitchFamily="18" charset="0"/>
                <a:ea typeface="宋体" panose="02010600030101010101" pitchFamily="2" charset="-122"/>
              </a:rPr>
              <a:t>产生数据报发送给客户机</a:t>
            </a:r>
            <a:endParaRPr lang="zh-CN" altLang="en-US" sz="1800" dirty="0">
              <a:latin typeface="Times New Roman" panose="02020603050405020304" pitchFamily="18" charset="0"/>
              <a:ea typeface="宋体" panose="02010600030101010101" pitchFamily="2" charset="-122"/>
            </a:endParaRPr>
          </a:p>
        </p:txBody>
      </p:sp>
      <p:sp>
        <p:nvSpPr>
          <p:cNvPr id="101391" name="Freeform 15"/>
          <p:cNvSpPr/>
          <p:nvPr/>
        </p:nvSpPr>
        <p:spPr>
          <a:xfrm>
            <a:off x="1933575" y="3757613"/>
            <a:ext cx="161925" cy="571500"/>
          </a:xfrm>
          <a:custGeom>
            <a:avLst/>
            <a:gdLst/>
            <a:ahLst/>
            <a:cxnLst>
              <a:cxn ang="0">
                <a:pos x="0" y="0"/>
              </a:cxn>
              <a:cxn ang="0">
                <a:pos x="2147483646" y="0"/>
              </a:cxn>
              <a:cxn ang="0">
                <a:pos x="2147483646" y="2147483646"/>
              </a:cxn>
              <a:cxn ang="0">
                <a:pos x="2147483646" y="2147483646"/>
              </a:cxn>
            </a:cxnLst>
            <a:pathLst>
              <a:path w="78" h="342">
                <a:moveTo>
                  <a:pt x="0" y="0"/>
                </a:moveTo>
                <a:lnTo>
                  <a:pt x="78" y="0"/>
                </a:lnTo>
                <a:lnTo>
                  <a:pt x="78" y="342"/>
                </a:lnTo>
                <a:lnTo>
                  <a:pt x="6" y="342"/>
                </a:lnTo>
              </a:path>
            </a:pathLst>
          </a:custGeom>
          <a:noFill/>
          <a:ln w="28575" cap="flat" cmpd="sng">
            <a:solidFill>
              <a:schemeClr val="accent2">
                <a:alpha val="100000"/>
              </a:schemeClr>
            </a:solidFill>
            <a:prstDash val="solid"/>
            <a:round/>
            <a:headEnd type="none" w="med" len="med"/>
            <a:tailEnd type="none" w="med" len="med"/>
          </a:ln>
        </p:spPr>
        <p:txBody>
          <a:bodyPr/>
          <a:p>
            <a:endParaRPr lang="zh-CN" altLang="en-US"/>
          </a:p>
        </p:txBody>
      </p:sp>
      <p:sp>
        <p:nvSpPr>
          <p:cNvPr id="101392" name="Line 16"/>
          <p:cNvSpPr/>
          <p:nvPr/>
        </p:nvSpPr>
        <p:spPr>
          <a:xfrm flipV="1">
            <a:off x="2114550" y="4019550"/>
            <a:ext cx="333375" cy="4763"/>
          </a:xfrm>
          <a:prstGeom prst="line">
            <a:avLst/>
          </a:prstGeom>
          <a:ln w="28575" cap="flat" cmpd="sng">
            <a:solidFill>
              <a:schemeClr val="accent2"/>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1381"/>
                                        </p:tgtEl>
                                        <p:attrNameLst>
                                          <p:attrName>style.visibility</p:attrName>
                                        </p:attrNameLst>
                                      </p:cBhvr>
                                      <p:to>
                                        <p:strVal val="visible"/>
                                      </p:to>
                                    </p:set>
                                    <p:animEffect transition="in" filter="blinds(horizontal)">
                                      <p:cBhvr>
                                        <p:cTn id="7" dur="500"/>
                                        <p:tgtEl>
                                          <p:spTgt spid="101381"/>
                                        </p:tgtEl>
                                      </p:cBhvr>
                                    </p:animEffect>
                                  </p:childTnLst>
                                </p:cTn>
                              </p:par>
                              <p:par>
                                <p:cTn id="8" presetID="3" presetClass="entr" presetSubtype="10" fill="hold" nodeType="withEffect">
                                  <p:stCondLst>
                                    <p:cond delay="0"/>
                                  </p:stCondLst>
                                  <p:childTnLst>
                                    <p:set>
                                      <p:cBhvr>
                                        <p:cTn id="9" dur="1" fill="hold">
                                          <p:stCondLst>
                                            <p:cond delay="0"/>
                                          </p:stCondLst>
                                        </p:cTn>
                                        <p:tgtEl>
                                          <p:spTgt spid="101382"/>
                                        </p:tgtEl>
                                        <p:attrNameLst>
                                          <p:attrName>style.visibility</p:attrName>
                                        </p:attrNameLst>
                                      </p:cBhvr>
                                      <p:to>
                                        <p:strVal val="visible"/>
                                      </p:to>
                                    </p:set>
                                    <p:animEffect transition="in" filter="blinds(horizontal)">
                                      <p:cBhvr>
                                        <p:cTn id="10" dur="500"/>
                                        <p:tgtEl>
                                          <p:spTgt spid="101382"/>
                                        </p:tgtEl>
                                      </p:cBhvr>
                                    </p:animEffect>
                                  </p:childTnLst>
                                </p:cTn>
                              </p:par>
                              <p:par>
                                <p:cTn id="11" presetID="3" presetClass="entr" presetSubtype="10" fill="hold" nodeType="withEffect">
                                  <p:stCondLst>
                                    <p:cond delay="0"/>
                                  </p:stCondLst>
                                  <p:childTnLst>
                                    <p:set>
                                      <p:cBhvr>
                                        <p:cTn id="12" dur="1" fill="hold">
                                          <p:stCondLst>
                                            <p:cond delay="0"/>
                                          </p:stCondLst>
                                        </p:cTn>
                                        <p:tgtEl>
                                          <p:spTgt spid="101389"/>
                                        </p:tgtEl>
                                        <p:attrNameLst>
                                          <p:attrName>style.visibility</p:attrName>
                                        </p:attrNameLst>
                                      </p:cBhvr>
                                      <p:to>
                                        <p:strVal val="visible"/>
                                      </p:to>
                                    </p:set>
                                    <p:animEffect transition="in" filter="blinds(horizontal)">
                                      <p:cBhvr>
                                        <p:cTn id="13" dur="500"/>
                                        <p:tgtEl>
                                          <p:spTgt spid="10138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01380"/>
                                        </p:tgtEl>
                                        <p:attrNameLst>
                                          <p:attrName>style.visibility</p:attrName>
                                        </p:attrNameLst>
                                      </p:cBhvr>
                                      <p:to>
                                        <p:strVal val="visible"/>
                                      </p:to>
                                    </p:set>
                                    <p:animEffect transition="in" filter="blinds(horizontal)">
                                      <p:cBhvr>
                                        <p:cTn id="16" dur="500"/>
                                        <p:tgtEl>
                                          <p:spTgt spid="10138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1390"/>
                                        </p:tgtEl>
                                        <p:attrNameLst>
                                          <p:attrName>style.visibility</p:attrName>
                                        </p:attrNameLst>
                                      </p:cBhvr>
                                      <p:to>
                                        <p:strVal val="visible"/>
                                      </p:to>
                                    </p:set>
                                    <p:animEffect transition="in" filter="blinds(horizontal)">
                                      <p:cBhvr>
                                        <p:cTn id="21" dur="500"/>
                                        <p:tgtEl>
                                          <p:spTgt spid="101390"/>
                                        </p:tgtEl>
                                      </p:cBhvr>
                                    </p:animEffect>
                                  </p:childTnLst>
                                </p:cTn>
                              </p:par>
                              <p:par>
                                <p:cTn id="22" presetID="3" presetClass="entr" presetSubtype="10" fill="hold" nodeType="withEffect">
                                  <p:stCondLst>
                                    <p:cond delay="0"/>
                                  </p:stCondLst>
                                  <p:childTnLst>
                                    <p:set>
                                      <p:cBhvr>
                                        <p:cTn id="23" dur="1" fill="hold">
                                          <p:stCondLst>
                                            <p:cond delay="0"/>
                                          </p:stCondLst>
                                        </p:cTn>
                                        <p:tgtEl>
                                          <p:spTgt spid="101392"/>
                                        </p:tgtEl>
                                        <p:attrNameLst>
                                          <p:attrName>style.visibility</p:attrName>
                                        </p:attrNameLst>
                                      </p:cBhvr>
                                      <p:to>
                                        <p:strVal val="visible"/>
                                      </p:to>
                                    </p:set>
                                    <p:animEffect transition="in" filter="blinds(horizontal)">
                                      <p:cBhvr>
                                        <p:cTn id="24" dur="500"/>
                                        <p:tgtEl>
                                          <p:spTgt spid="101392"/>
                                        </p:tgtEl>
                                      </p:cBhvr>
                                    </p:animEffect>
                                  </p:childTnLst>
                                </p:cTn>
                              </p:par>
                              <p:par>
                                <p:cTn id="25" presetID="3" presetClass="entr" presetSubtype="10" fill="hold" nodeType="withEffect">
                                  <p:stCondLst>
                                    <p:cond delay="0"/>
                                  </p:stCondLst>
                                  <p:childTnLst>
                                    <p:set>
                                      <p:cBhvr>
                                        <p:cTn id="26" dur="1" fill="hold">
                                          <p:stCondLst>
                                            <p:cond delay="0"/>
                                          </p:stCondLst>
                                        </p:cTn>
                                        <p:tgtEl>
                                          <p:spTgt spid="101391"/>
                                        </p:tgtEl>
                                        <p:attrNameLst>
                                          <p:attrName>style.visibility</p:attrName>
                                        </p:attrNameLst>
                                      </p:cBhvr>
                                      <p:to>
                                        <p:strVal val="visible"/>
                                      </p:to>
                                    </p:set>
                                    <p:animEffect transition="in" filter="blinds(horizontal)">
                                      <p:cBhvr>
                                        <p:cTn id="27" dur="500"/>
                                        <p:tgtEl>
                                          <p:spTgt spid="10139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1385"/>
                                        </p:tgtEl>
                                        <p:attrNameLst>
                                          <p:attrName>style.visibility</p:attrName>
                                        </p:attrNameLst>
                                      </p:cBhvr>
                                      <p:to>
                                        <p:strVal val="visible"/>
                                      </p:to>
                                    </p:set>
                                    <p:animEffect transition="in" filter="blinds(horizontal)">
                                      <p:cBhvr>
                                        <p:cTn id="32" dur="500"/>
                                        <p:tgtEl>
                                          <p:spTgt spid="101385"/>
                                        </p:tgtEl>
                                      </p:cBhvr>
                                    </p:animEffect>
                                  </p:childTnLst>
                                </p:cTn>
                              </p:par>
                              <p:par>
                                <p:cTn id="33" presetID="3" presetClass="entr" presetSubtype="10" fill="hold" nodeType="withEffect">
                                  <p:stCondLst>
                                    <p:cond delay="0"/>
                                  </p:stCondLst>
                                  <p:childTnLst>
                                    <p:set>
                                      <p:cBhvr>
                                        <p:cTn id="34" dur="1" fill="hold">
                                          <p:stCondLst>
                                            <p:cond delay="0"/>
                                          </p:stCondLst>
                                        </p:cTn>
                                        <p:tgtEl>
                                          <p:spTgt spid="101384"/>
                                        </p:tgtEl>
                                        <p:attrNameLst>
                                          <p:attrName>style.visibility</p:attrName>
                                        </p:attrNameLst>
                                      </p:cBhvr>
                                      <p:to>
                                        <p:strVal val="visible"/>
                                      </p:to>
                                    </p:set>
                                    <p:animEffect transition="in" filter="blinds(horizontal)">
                                      <p:cBhvr>
                                        <p:cTn id="35" dur="500"/>
                                        <p:tgtEl>
                                          <p:spTgt spid="101384"/>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01383"/>
                                        </p:tgtEl>
                                        <p:attrNameLst>
                                          <p:attrName>style.visibility</p:attrName>
                                        </p:attrNameLst>
                                      </p:cBhvr>
                                      <p:to>
                                        <p:strVal val="visible"/>
                                      </p:to>
                                    </p:set>
                                    <p:animEffect transition="in" filter="blinds(horizontal)">
                                      <p:cBhvr>
                                        <p:cTn id="38" dur="500"/>
                                        <p:tgtEl>
                                          <p:spTgt spid="10138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1388"/>
                                        </p:tgtEl>
                                        <p:attrNameLst>
                                          <p:attrName>style.visibility</p:attrName>
                                        </p:attrNameLst>
                                      </p:cBhvr>
                                      <p:to>
                                        <p:strVal val="visible"/>
                                      </p:to>
                                    </p:set>
                                    <p:animEffect transition="in" filter="blinds(horizontal)">
                                      <p:cBhvr>
                                        <p:cTn id="43" dur="500"/>
                                        <p:tgtEl>
                                          <p:spTgt spid="101388"/>
                                        </p:tgtEl>
                                      </p:cBhvr>
                                    </p:animEffect>
                                  </p:childTnLst>
                                </p:cTn>
                              </p:par>
                              <p:par>
                                <p:cTn id="44" presetID="3" presetClass="entr" presetSubtype="10" fill="hold" nodeType="withEffect">
                                  <p:stCondLst>
                                    <p:cond delay="0"/>
                                  </p:stCondLst>
                                  <p:childTnLst>
                                    <p:set>
                                      <p:cBhvr>
                                        <p:cTn id="45" dur="1" fill="hold">
                                          <p:stCondLst>
                                            <p:cond delay="0"/>
                                          </p:stCondLst>
                                        </p:cTn>
                                        <p:tgtEl>
                                          <p:spTgt spid="101387"/>
                                        </p:tgtEl>
                                        <p:attrNameLst>
                                          <p:attrName>style.visibility</p:attrName>
                                        </p:attrNameLst>
                                      </p:cBhvr>
                                      <p:to>
                                        <p:strVal val="visible"/>
                                      </p:to>
                                    </p:set>
                                    <p:animEffect transition="in" filter="blinds(horizontal)">
                                      <p:cBhvr>
                                        <p:cTn id="46" dur="500"/>
                                        <p:tgtEl>
                                          <p:spTgt spid="10138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01386"/>
                                        </p:tgtEl>
                                        <p:attrNameLst>
                                          <p:attrName>style.visibility</p:attrName>
                                        </p:attrNameLst>
                                      </p:cBhvr>
                                      <p:to>
                                        <p:strVal val="visible"/>
                                      </p:to>
                                    </p:set>
                                    <p:animEffect transition="in" filter="blinds(horizontal)">
                                      <p:cBhvr>
                                        <p:cTn id="49" dur="500"/>
                                        <p:tgtEl>
                                          <p:spTgt spid="101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P spid="101383" grpId="0"/>
      <p:bldP spid="101386" grpId="0"/>
      <p:bldP spid="10139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3"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应用程序体系结构</a:t>
            </a:r>
            <a:endParaRPr kumimoji="0" lang="zh-CN" altLang="en-US" sz="2000" b="1" i="0" u="none" strike="noStrike" kern="1200" cap="none" spc="0" normalizeH="0" baseline="0" noProof="0" dirty="0">
              <a:ln>
                <a:noFill/>
              </a:ln>
              <a:solidFill>
                <a:srgbClr val="FF3300"/>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客户机</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服务器</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en-US" altLang="zh-CN" sz="2000" b="1" i="0" u="none" strike="noStrike" kern="1200" cap="none" spc="0" normalizeH="0" baseline="0" noProof="0" dirty="0">
                <a:ln>
                  <a:noFill/>
                </a:ln>
                <a:solidFill>
                  <a:schemeClr val="tx1"/>
                </a:solidFill>
                <a:effectLst/>
                <a:uLnTx/>
                <a:uFillTx/>
                <a:latin typeface="+mj-ea"/>
                <a:ea typeface="+mj-ea"/>
                <a:cs typeface="+mn-cs"/>
              </a:rPr>
              <a:t>P2P</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混合</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应用程序服务要求</a:t>
            </a:r>
            <a:r>
              <a:rPr kumimoji="0" lang="en-US" altLang="zh-CN" sz="2000" b="1" i="0" u="none" strike="noStrike" kern="1200" cap="none" spc="0" normalizeH="0" baseline="0" noProof="0" dirty="0">
                <a:ln>
                  <a:noFill/>
                </a:ln>
                <a:solidFill>
                  <a:srgbClr val="FF3300"/>
                </a:solidFill>
                <a:effectLst/>
                <a:uLnTx/>
                <a:uFillTx/>
                <a:latin typeface="+mj-ea"/>
                <a:ea typeface="+mj-ea"/>
                <a:cs typeface="+mn-cs"/>
              </a:rPr>
              <a:t>:</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可靠，带宽，时延</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65125" marR="0" lvl="0" indent="-255905" algn="l" defTabSz="914400" rtl="0" eaLnBrk="1" fontAlgn="base" latinLnBrk="0" hangingPunct="1">
              <a:lnSpc>
                <a:spcPct val="100000"/>
              </a:lnSpc>
              <a:spcBef>
                <a:spcPts val="300"/>
              </a:spcBef>
              <a:spcAft>
                <a:spcPts val="600"/>
              </a:spcAft>
              <a:buClr>
                <a:srgbClr val="A04DA3"/>
              </a:buClr>
              <a:buSzTx/>
              <a:buFont typeface="Georgia" panose="02040502050405020303" pitchFamily="18" charset="0"/>
              <a:buChar char="•"/>
              <a:defRPr/>
            </a:pPr>
            <a:r>
              <a:rPr kumimoji="0" lang="zh-CN" altLang="en-US" sz="2000" b="1" i="0" u="none" strike="noStrike" kern="1200" cap="none" spc="0" normalizeH="0" baseline="0" noProof="0" dirty="0">
                <a:ln>
                  <a:noFill/>
                </a:ln>
                <a:solidFill>
                  <a:srgbClr val="FF3300"/>
                </a:solidFill>
                <a:effectLst/>
                <a:uLnTx/>
                <a:uFillTx/>
                <a:latin typeface="+mj-ea"/>
                <a:ea typeface="+mj-ea"/>
                <a:cs typeface="+mn-cs"/>
              </a:rPr>
              <a:t>因特网传输服务模型</a:t>
            </a:r>
            <a:endParaRPr kumimoji="0" lang="en-US" altLang="zh-CN" sz="2000" b="1" i="0" u="none" strike="noStrike" kern="1200" cap="none" spc="0" normalizeH="0" baseline="0" noProof="0" dirty="0">
              <a:ln>
                <a:noFill/>
              </a:ln>
              <a:solidFill>
                <a:srgbClr val="FF3300"/>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面向连接，可靠</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TCP</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657225" marR="0" lvl="1" indent="-246380" algn="l" defTabSz="914400" rtl="0" eaLnBrk="1" fontAlgn="base" latinLnBrk="0" hangingPunct="1">
              <a:lnSpc>
                <a:spcPct val="100000"/>
              </a:lnSpc>
              <a:spcBef>
                <a:spcPts val="600"/>
              </a:spcBef>
              <a:spcAft>
                <a:spcPts val="600"/>
              </a:spcAft>
              <a:buClr>
                <a:schemeClr val="accent2"/>
              </a:buClr>
              <a:buSzTx/>
              <a:buFont typeface="Georgia" panose="02040502050405020303" pitchFamily="18" charset="0"/>
              <a:buChar char="▫"/>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不可靠，数据报</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 UDP</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102402" name="Rectangle 2"/>
          <p:cNvSpPr>
            <a:spLocks noGrp="1" noChangeArrowheads="1"/>
          </p:cNvSpPr>
          <p:nvPr>
            <p:ph type="title"/>
          </p:nvPr>
        </p:nvSpPr>
        <p:spPr>
          <a:xfrm>
            <a:off x="325438" y="977900"/>
            <a:ext cx="8229600" cy="808038"/>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339933"/>
                </a:solidFill>
                <a:effectLst/>
                <a:uLnTx/>
                <a:uFillTx/>
                <a:latin typeface="+mj-ea"/>
                <a:ea typeface="+mj-ea"/>
                <a:cs typeface="+mj-cs"/>
              </a:rPr>
              <a:t>2.10 </a:t>
            </a:r>
            <a:r>
              <a:rPr kumimoji="0" lang="zh-CN" altLang="en-US" sz="2400" b="1" i="0" u="none" strike="noStrike" kern="1200" cap="none" spc="0" normalizeH="0" baseline="0" noProof="0" dirty="0">
                <a:ln>
                  <a:noFill/>
                </a:ln>
                <a:solidFill>
                  <a:srgbClr val="339933"/>
                </a:solidFill>
                <a:effectLst/>
                <a:uLnTx/>
                <a:uFillTx/>
                <a:latin typeface="+mj-ea"/>
                <a:ea typeface="+mj-ea"/>
                <a:cs typeface="+mj-cs"/>
              </a:rPr>
              <a:t>小结</a:t>
            </a:r>
            <a:endParaRPr kumimoji="0" lang="zh-CN" altLang="en-US" sz="2400" b="1" i="0" u="none" strike="noStrike" kern="1200" cap="none" spc="0" normalizeH="0" baseline="0" noProof="0" dirty="0">
              <a:ln>
                <a:noFill/>
              </a:ln>
              <a:solidFill>
                <a:srgbClr val="339933"/>
              </a:solidFill>
              <a:effectLst/>
              <a:uLnTx/>
              <a:uFillTx/>
              <a:latin typeface="+mj-ea"/>
              <a:ea typeface="+mj-ea"/>
              <a:cs typeface="+mj-cs"/>
            </a:endParaRPr>
          </a:p>
        </p:txBody>
      </p:sp>
      <p:sp>
        <p:nvSpPr>
          <p:cNvPr id="71684" name="灯片编号占位符 6"/>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
        <p:nvSpPr>
          <p:cNvPr id="102405" name="Rectangle 5"/>
          <p:cNvSpPr>
            <a:spLocks noChangeArrowheads="1"/>
          </p:cNvSpPr>
          <p:nvPr/>
        </p:nvSpPr>
        <p:spPr bwMode="auto">
          <a:xfrm>
            <a:off x="4978400" y="1582738"/>
            <a:ext cx="396240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300"/>
              </a:spcBef>
              <a:buClr>
                <a:srgbClr val="A04DA3"/>
              </a:buClr>
              <a:buFont typeface="Georgia" panose="02040502050405020303" pitchFamily="18" charset="0"/>
              <a:buChar char="•"/>
              <a:defRPr sz="2800">
                <a:solidFill>
                  <a:schemeClr val="tx1"/>
                </a:solidFill>
                <a:latin typeface="Arial" panose="020B0604020202020204" pitchFamily="34" charset="0"/>
                <a:ea typeface="黑体" panose="02010609060101010101" pitchFamily="49"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Arial" panose="020B0604020202020204" pitchFamily="34" charset="0"/>
                <a:ea typeface="黑体" panose="02010609060101010101" pitchFamily="49"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Arial" panose="020B0604020202020204" pitchFamily="34" charset="0"/>
                <a:ea typeface="黑体" panose="02010609060101010101" pitchFamily="49"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Arial" panose="020B0604020202020204" pitchFamily="34" charset="0"/>
                <a:ea typeface="黑体" panose="02010609060101010101" pitchFamily="49"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Arial" panose="020B0604020202020204" pitchFamily="34" charset="0"/>
                <a:ea typeface="黑体" panose="02010609060101010101" pitchFamily="49" charset="-122"/>
              </a:defRPr>
            </a:lvl9pPr>
          </a:lstStyle>
          <a:p>
            <a:pPr marL="342900" marR="0" lvl="0" indent="-342900" algn="l" defTabSz="914400" rtl="0" eaLnBrk="1"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000" b="1" i="0" u="none" strike="noStrike" kern="1200" cap="none" spc="0" normalizeH="0" baseline="0" noProof="0" dirty="0">
                <a:ln>
                  <a:noFill/>
                </a:ln>
                <a:solidFill>
                  <a:schemeClr val="tx1"/>
                </a:solidFill>
                <a:effectLst/>
                <a:uLnTx/>
                <a:uFillTx/>
                <a:latin typeface="+mj-ea"/>
                <a:ea typeface="+mj-ea"/>
                <a:cs typeface="+mn-cs"/>
              </a:rPr>
              <a:t>特定协议</a:t>
            </a:r>
            <a:r>
              <a:rPr kumimoji="1" lang="en-US" altLang="zh-CN" sz="2000" b="1" i="0" u="none" strike="noStrike" kern="1200" cap="none" spc="0" normalizeH="0" baseline="0" noProof="0" dirty="0">
                <a:ln>
                  <a:noFill/>
                </a:ln>
                <a:solidFill>
                  <a:schemeClr val="tx1"/>
                </a:solidFill>
                <a:effectLst/>
                <a:uLnTx/>
                <a:uFillTx/>
                <a:latin typeface="+mj-ea"/>
                <a:ea typeface="+mj-ea"/>
                <a:cs typeface="+mn-cs"/>
              </a:rPr>
              <a:t>:</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742950" marR="0" lvl="1" indent="-285750" algn="l" defTabSz="914400" rtl="0" eaLnBrk="1" fontAlgn="base" latinLnBrk="0" hangingPunct="0">
              <a:lnSpc>
                <a:spcPct val="100000"/>
              </a:lnSpc>
              <a:spcBef>
                <a:spcPct val="0"/>
              </a:spcBef>
              <a:spcAft>
                <a:spcPct val="0"/>
              </a:spcAft>
              <a:buClrTx/>
              <a:buSzPct val="75000"/>
              <a:buFont typeface="Wingdings" panose="05000000000000000000" pitchFamily="2" charset="2"/>
              <a:buChar char="ü"/>
              <a:defRPr/>
            </a:pPr>
            <a:r>
              <a:rPr kumimoji="1" lang="en-US" altLang="zh-CN" sz="2000" b="1" i="0" u="none" strike="noStrike" kern="1200" cap="none" spc="0" normalizeH="0" baseline="0" noProof="0" dirty="0">
                <a:ln>
                  <a:noFill/>
                </a:ln>
                <a:solidFill>
                  <a:schemeClr val="tx1"/>
                </a:solidFill>
                <a:effectLst/>
                <a:uLnTx/>
                <a:uFillTx/>
                <a:latin typeface="+mj-ea"/>
                <a:ea typeface="+mj-ea"/>
                <a:cs typeface="+mn-cs"/>
              </a:rPr>
              <a:t>HTTP</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742950" marR="0" lvl="1" indent="-285750" algn="l" defTabSz="914400" rtl="0" eaLnBrk="1" fontAlgn="base" latinLnBrk="0" hangingPunct="0">
              <a:lnSpc>
                <a:spcPct val="150000"/>
              </a:lnSpc>
              <a:spcBef>
                <a:spcPct val="0"/>
              </a:spcBef>
              <a:spcAft>
                <a:spcPct val="0"/>
              </a:spcAft>
              <a:buClrTx/>
              <a:buSzPct val="75000"/>
              <a:buFont typeface="Wingdings" panose="05000000000000000000" pitchFamily="2" charset="2"/>
              <a:buChar char="ü"/>
              <a:defRPr/>
            </a:pPr>
            <a:r>
              <a:rPr kumimoji="1" lang="en-US" altLang="zh-CN" sz="2000" b="1" i="0" u="none" strike="noStrike" kern="1200" cap="none" spc="0" normalizeH="0" baseline="0" noProof="0" dirty="0">
                <a:ln>
                  <a:noFill/>
                </a:ln>
                <a:solidFill>
                  <a:schemeClr val="tx1"/>
                </a:solidFill>
                <a:effectLst/>
                <a:uLnTx/>
                <a:uFillTx/>
                <a:latin typeface="+mj-ea"/>
                <a:ea typeface="+mj-ea"/>
                <a:cs typeface="+mn-cs"/>
              </a:rPr>
              <a:t>FTP</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742950" marR="0" lvl="1" indent="-285750" algn="l" defTabSz="914400" rtl="0" eaLnBrk="1" fontAlgn="base" latinLnBrk="0" hangingPunct="0">
              <a:lnSpc>
                <a:spcPct val="100000"/>
              </a:lnSpc>
              <a:spcBef>
                <a:spcPct val="0"/>
              </a:spcBef>
              <a:spcAft>
                <a:spcPct val="0"/>
              </a:spcAft>
              <a:buClrTx/>
              <a:buSzPct val="75000"/>
              <a:buFont typeface="Wingdings" panose="05000000000000000000" pitchFamily="2" charset="2"/>
              <a:buChar char="ü"/>
              <a:defRPr/>
            </a:pPr>
            <a:r>
              <a:rPr kumimoji="1" lang="en-US" altLang="zh-CN" sz="2000" b="1" i="0" u="none" strike="noStrike" kern="1200" cap="none" spc="0" normalizeH="0" baseline="0" noProof="0" dirty="0">
                <a:ln>
                  <a:noFill/>
                </a:ln>
                <a:solidFill>
                  <a:schemeClr val="tx1"/>
                </a:solidFill>
                <a:effectLst/>
                <a:uLnTx/>
                <a:uFillTx/>
                <a:latin typeface="+mj-ea"/>
                <a:ea typeface="+mj-ea"/>
                <a:cs typeface="+mn-cs"/>
              </a:rPr>
              <a:t>SMTP, POP, IMAP</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742950" marR="0" lvl="1" indent="-285750" algn="l" defTabSz="914400" rtl="0" eaLnBrk="1" fontAlgn="base" latinLnBrk="0" hangingPunct="0">
              <a:lnSpc>
                <a:spcPct val="100000"/>
              </a:lnSpc>
              <a:spcBef>
                <a:spcPct val="0"/>
              </a:spcBef>
              <a:spcAft>
                <a:spcPct val="0"/>
              </a:spcAft>
              <a:buClrTx/>
              <a:buSzPct val="75000"/>
              <a:buFont typeface="Wingdings" panose="05000000000000000000" pitchFamily="2" charset="2"/>
              <a:buChar char="ü"/>
              <a:defRPr/>
            </a:pPr>
            <a:r>
              <a:rPr kumimoji="1" lang="en-US" altLang="zh-CN" sz="2000" b="1" i="0" u="none" strike="noStrike" kern="1200" cap="none" spc="0" normalizeH="0" baseline="0" noProof="0" dirty="0">
                <a:ln>
                  <a:noFill/>
                </a:ln>
                <a:solidFill>
                  <a:schemeClr val="tx1"/>
                </a:solidFill>
                <a:effectLst/>
                <a:uLnTx/>
                <a:uFillTx/>
                <a:latin typeface="+mj-ea"/>
                <a:ea typeface="+mj-ea"/>
                <a:cs typeface="+mn-cs"/>
              </a:rPr>
              <a:t>DNS</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342900" marR="0" lvl="0" indent="-342900" algn="l" defTabSz="914400" rtl="0" eaLnBrk="1" fontAlgn="base" latinLnBrk="0" hangingPunct="0">
              <a:lnSpc>
                <a:spcPct val="150000"/>
              </a:lnSpc>
              <a:spcBef>
                <a:spcPct val="0"/>
              </a:spcBef>
              <a:spcAft>
                <a:spcPct val="0"/>
              </a:spcAft>
              <a:buClrTx/>
              <a:buSzTx/>
              <a:buFont typeface="Wingdings" panose="05000000000000000000" pitchFamily="2" charset="2"/>
              <a:buChar char="ü"/>
              <a:defRPr/>
            </a:pPr>
            <a:r>
              <a:rPr kumimoji="1" lang="en-US" altLang="zh-CN" sz="2000" b="1" i="0" u="none" strike="noStrike" kern="1200" cap="none" spc="0" normalizeH="0" baseline="0" noProof="0" dirty="0">
                <a:ln>
                  <a:noFill/>
                </a:ln>
                <a:solidFill>
                  <a:schemeClr val="tx1"/>
                </a:solidFill>
                <a:effectLst/>
                <a:uLnTx/>
                <a:uFillTx/>
                <a:latin typeface="+mj-ea"/>
                <a:ea typeface="+mj-ea"/>
                <a:cs typeface="+mn-cs"/>
              </a:rPr>
              <a:t>P2P</a:t>
            </a:r>
            <a:r>
              <a:rPr kumimoji="1" lang="zh-CN" altLang="en-US" sz="2000" b="1" i="0" u="none" strike="noStrike" kern="1200" cap="none" spc="0" normalizeH="0" baseline="0" noProof="0" dirty="0">
                <a:ln>
                  <a:noFill/>
                </a:ln>
                <a:solidFill>
                  <a:schemeClr val="tx1"/>
                </a:solidFill>
                <a:effectLst/>
                <a:uLnTx/>
                <a:uFillTx/>
                <a:latin typeface="+mj-ea"/>
                <a:ea typeface="+mj-ea"/>
                <a:cs typeface="+mn-cs"/>
              </a:rPr>
              <a:t>文件共享</a:t>
            </a:r>
            <a:endParaRPr kumimoji="1" lang="zh-CN" altLang="en-US" sz="2000" b="1" i="0" u="none" strike="noStrike" kern="1200" cap="none" spc="0" normalizeH="0" baseline="0" noProof="0" dirty="0">
              <a:ln>
                <a:noFill/>
              </a:ln>
              <a:solidFill>
                <a:schemeClr val="tx1"/>
              </a:solidFill>
              <a:effectLst/>
              <a:uLnTx/>
              <a:uFillTx/>
              <a:latin typeface="+mj-ea"/>
              <a:ea typeface="+mj-ea"/>
              <a:cs typeface="+mn-cs"/>
            </a:endParaRPr>
          </a:p>
          <a:p>
            <a:pPr marL="342900" marR="0" lvl="0" indent="-342900" algn="l" defTabSz="914400" rtl="0" eaLnBrk="1"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000" b="1" i="0" u="none" strike="noStrike" kern="1200" cap="none" spc="0" normalizeH="0" baseline="0" noProof="0" dirty="0">
                <a:ln>
                  <a:noFill/>
                </a:ln>
                <a:solidFill>
                  <a:schemeClr val="tx1"/>
                </a:solidFill>
                <a:effectLst/>
                <a:uLnTx/>
                <a:uFillTx/>
                <a:latin typeface="+mj-ea"/>
                <a:ea typeface="+mj-ea"/>
                <a:cs typeface="+mn-cs"/>
              </a:rPr>
              <a:t>套接字编程</a:t>
            </a:r>
            <a:endParaRPr kumimoji="1" lang="en-US" altLang="zh-CN" sz="2000" b="1" i="0" u="none" strike="noStrike" kern="1200" cap="none" spc="0" normalizeH="0" baseline="0" noProof="0" dirty="0">
              <a:ln>
                <a:noFill/>
              </a:ln>
              <a:solidFill>
                <a:schemeClr val="tx1"/>
              </a:solidFill>
              <a:effectLst/>
              <a:uLnTx/>
              <a:uFillTx/>
              <a:latin typeface="+mj-ea"/>
              <a:ea typeface="+mj-ea"/>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03">
                                            <p:txEl>
                                              <p:charRg st="0" end="9"/>
                                            </p:txEl>
                                          </p:spTgt>
                                        </p:tgtEl>
                                        <p:attrNameLst>
                                          <p:attrName>style.visibility</p:attrName>
                                        </p:attrNameLst>
                                      </p:cBhvr>
                                      <p:to>
                                        <p:strVal val="visible"/>
                                      </p:to>
                                    </p:set>
                                    <p:animEffect transition="in" filter="blinds(horizontal)">
                                      <p:cBhvr>
                                        <p:cTn id="7" dur="500"/>
                                        <p:tgtEl>
                                          <p:spTgt spid="102403">
                                            <p:txEl>
                                              <p:charRg st="0" end="9"/>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403">
                                            <p:txEl>
                                              <p:charRg st="9" end="17"/>
                                            </p:txEl>
                                          </p:spTgt>
                                        </p:tgtEl>
                                        <p:attrNameLst>
                                          <p:attrName>style.visibility</p:attrName>
                                        </p:attrNameLst>
                                      </p:cBhvr>
                                      <p:to>
                                        <p:strVal val="visible"/>
                                      </p:to>
                                    </p:set>
                                    <p:animEffect transition="in" filter="blinds(horizontal)">
                                      <p:cBhvr>
                                        <p:cTn id="10" dur="500"/>
                                        <p:tgtEl>
                                          <p:spTgt spid="102403">
                                            <p:txEl>
                                              <p:charRg st="9" end="17"/>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2403">
                                            <p:txEl>
                                              <p:charRg st="17" end="21"/>
                                            </p:txEl>
                                          </p:spTgt>
                                        </p:tgtEl>
                                        <p:attrNameLst>
                                          <p:attrName>style.visibility</p:attrName>
                                        </p:attrNameLst>
                                      </p:cBhvr>
                                      <p:to>
                                        <p:strVal val="visible"/>
                                      </p:to>
                                    </p:set>
                                    <p:animEffect transition="in" filter="blinds(horizontal)">
                                      <p:cBhvr>
                                        <p:cTn id="13" dur="500"/>
                                        <p:tgtEl>
                                          <p:spTgt spid="102403">
                                            <p:txEl>
                                              <p:charRg st="17" end="21"/>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02403">
                                            <p:txEl>
                                              <p:charRg st="21" end="24"/>
                                            </p:txEl>
                                          </p:spTgt>
                                        </p:tgtEl>
                                        <p:attrNameLst>
                                          <p:attrName>style.visibility</p:attrName>
                                        </p:attrNameLst>
                                      </p:cBhvr>
                                      <p:to>
                                        <p:strVal val="visible"/>
                                      </p:to>
                                    </p:set>
                                    <p:animEffect transition="in" filter="blinds(horizontal)">
                                      <p:cBhvr>
                                        <p:cTn id="16" dur="500"/>
                                        <p:tgtEl>
                                          <p:spTgt spid="102403">
                                            <p:txEl>
                                              <p:charRg st="21" end="2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2403">
                                            <p:txEl>
                                              <p:charRg st="24" end="34"/>
                                            </p:txEl>
                                          </p:spTgt>
                                        </p:tgtEl>
                                        <p:attrNameLst>
                                          <p:attrName>style.visibility</p:attrName>
                                        </p:attrNameLst>
                                      </p:cBhvr>
                                      <p:to>
                                        <p:strVal val="visible"/>
                                      </p:to>
                                    </p:set>
                                    <p:animEffect transition="in" filter="blinds(horizontal)">
                                      <p:cBhvr>
                                        <p:cTn id="21" dur="500"/>
                                        <p:tgtEl>
                                          <p:spTgt spid="102403">
                                            <p:txEl>
                                              <p:charRg st="24" end="3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2403">
                                            <p:txEl>
                                              <p:charRg st="34" end="43"/>
                                            </p:txEl>
                                          </p:spTgt>
                                        </p:tgtEl>
                                        <p:attrNameLst>
                                          <p:attrName>style.visibility</p:attrName>
                                        </p:attrNameLst>
                                      </p:cBhvr>
                                      <p:to>
                                        <p:strVal val="visible"/>
                                      </p:to>
                                    </p:set>
                                    <p:animEffect transition="in" filter="blinds(horizontal)">
                                      <p:cBhvr>
                                        <p:cTn id="24" dur="500"/>
                                        <p:tgtEl>
                                          <p:spTgt spid="102403">
                                            <p:txEl>
                                              <p:charRg st="34" end="4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02403">
                                            <p:txEl>
                                              <p:charRg st="43" end="53"/>
                                            </p:txEl>
                                          </p:spTgt>
                                        </p:tgtEl>
                                        <p:attrNameLst>
                                          <p:attrName>style.visibility</p:attrName>
                                        </p:attrNameLst>
                                      </p:cBhvr>
                                      <p:to>
                                        <p:strVal val="visible"/>
                                      </p:to>
                                    </p:set>
                                    <p:animEffect transition="in" filter="blinds(horizontal)">
                                      <p:cBhvr>
                                        <p:cTn id="29" dur="500"/>
                                        <p:tgtEl>
                                          <p:spTgt spid="102403">
                                            <p:txEl>
                                              <p:charRg st="43" end="53"/>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2403">
                                            <p:txEl>
                                              <p:charRg st="53" end="66"/>
                                            </p:txEl>
                                          </p:spTgt>
                                        </p:tgtEl>
                                        <p:attrNameLst>
                                          <p:attrName>style.visibility</p:attrName>
                                        </p:attrNameLst>
                                      </p:cBhvr>
                                      <p:to>
                                        <p:strVal val="visible"/>
                                      </p:to>
                                    </p:set>
                                    <p:animEffect transition="in" filter="blinds(horizontal)">
                                      <p:cBhvr>
                                        <p:cTn id="32" dur="500"/>
                                        <p:tgtEl>
                                          <p:spTgt spid="102403">
                                            <p:txEl>
                                              <p:charRg st="53" end="66"/>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2403">
                                            <p:txEl>
                                              <p:charRg st="66" end="79"/>
                                            </p:txEl>
                                          </p:spTgt>
                                        </p:tgtEl>
                                        <p:attrNameLst>
                                          <p:attrName>style.visibility</p:attrName>
                                        </p:attrNameLst>
                                      </p:cBhvr>
                                      <p:to>
                                        <p:strVal val="visible"/>
                                      </p:to>
                                    </p:set>
                                    <p:animEffect transition="in" filter="blinds(horizontal)">
                                      <p:cBhvr>
                                        <p:cTn id="35" dur="500"/>
                                        <p:tgtEl>
                                          <p:spTgt spid="102403">
                                            <p:txEl>
                                              <p:charRg st="66" end="7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2405"/>
                                        </p:tgtEl>
                                        <p:attrNameLst>
                                          <p:attrName>style.visibility</p:attrName>
                                        </p:attrNameLst>
                                      </p:cBhvr>
                                      <p:to>
                                        <p:strVal val="visible"/>
                                      </p:to>
                                    </p:set>
                                    <p:animEffect transition="in" filter="dissolve">
                                      <p:cBhvr>
                                        <p:cTn id="40" dur="500"/>
                                        <p:tgtEl>
                                          <p:spTgt spid="102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P spid="10240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灯片编号占位符 4"/>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73731" name="Group 5"/>
          <p:cNvGrpSpPr/>
          <p:nvPr/>
        </p:nvGrpSpPr>
        <p:grpSpPr>
          <a:xfrm>
            <a:off x="2152650" y="1622425"/>
            <a:ext cx="4808538" cy="4648200"/>
            <a:chOff x="3092" y="1182"/>
            <a:chExt cx="2317" cy="2312"/>
          </a:xfrm>
        </p:grpSpPr>
        <p:sp>
          <p:nvSpPr>
            <p:cNvPr id="73759" name="Freeform 6"/>
            <p:cNvSpPr/>
            <p:nvPr/>
          </p:nvSpPr>
          <p:spPr>
            <a:xfrm>
              <a:off x="4276" y="1272"/>
              <a:ext cx="1133" cy="1055"/>
            </a:xfrm>
            <a:custGeom>
              <a:avLst/>
              <a:gdLst/>
              <a:ahLst/>
              <a:cxnLst>
                <a:cxn ang="0">
                  <a:pos x="84" y="3"/>
                </a:cxn>
                <a:cxn ang="0">
                  <a:pos x="12" y="39"/>
                </a:cxn>
                <a:cxn ang="0">
                  <a:pos x="10" y="130"/>
                </a:cxn>
                <a:cxn ang="0">
                  <a:pos x="18" y="207"/>
                </a:cxn>
                <a:cxn ang="0">
                  <a:pos x="86" y="218"/>
                </a:cxn>
                <a:cxn ang="0">
                  <a:pos x="226" y="282"/>
                </a:cxn>
                <a:cxn ang="0">
                  <a:pos x="348" y="309"/>
                </a:cxn>
                <a:cxn ang="0">
                  <a:pos x="419" y="255"/>
                </a:cxn>
                <a:cxn ang="0">
                  <a:pos x="445" y="111"/>
                </a:cxn>
                <a:cxn ang="0">
                  <a:pos x="422" y="52"/>
                </a:cxn>
                <a:cxn ang="0">
                  <a:pos x="261" y="29"/>
                </a:cxn>
                <a:cxn ang="0">
                  <a:pos x="84" y="3"/>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alpha val="100000"/>
              </a:srgbClr>
            </a:solidFill>
            <a:ln w="9525">
              <a:noFill/>
            </a:ln>
          </p:spPr>
          <p:txBody>
            <a:bodyPr/>
            <a:p>
              <a:endParaRPr lang="zh-CN" altLang="en-US"/>
            </a:p>
          </p:txBody>
        </p:sp>
        <p:sp>
          <p:nvSpPr>
            <p:cNvPr id="73760" name="Freeform 7"/>
            <p:cNvSpPr/>
            <p:nvPr/>
          </p:nvSpPr>
          <p:spPr>
            <a:xfrm>
              <a:off x="3092" y="1182"/>
              <a:ext cx="1176" cy="1001"/>
            </a:xfrm>
            <a:custGeom>
              <a:avLst/>
              <a:gdLst/>
              <a:ahLst/>
              <a:cxnLst>
                <a:cxn ang="0">
                  <a:pos x="193" y="10"/>
                </a:cxn>
                <a:cxn ang="0">
                  <a:pos x="28" y="14"/>
                </a:cxn>
                <a:cxn ang="0">
                  <a:pos x="20" y="100"/>
                </a:cxn>
                <a:cxn ang="0">
                  <a:pos x="10" y="179"/>
                </a:cxn>
                <a:cxn ang="0">
                  <a:pos x="39" y="217"/>
                </a:cxn>
                <a:cxn ang="0">
                  <a:pos x="190" y="218"/>
                </a:cxn>
                <a:cxn ang="0">
                  <a:pos x="225" y="282"/>
                </a:cxn>
                <a:cxn ang="0">
                  <a:pos x="434" y="273"/>
                </a:cxn>
                <a:cxn ang="0">
                  <a:pos x="449" y="143"/>
                </a:cxn>
                <a:cxn ang="0">
                  <a:pos x="424" y="86"/>
                </a:cxn>
                <a:cxn ang="0">
                  <a:pos x="268" y="72"/>
                </a:cxn>
                <a:cxn ang="0">
                  <a:pos x="193" y="10"/>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alpha val="100000"/>
              </a:srgbClr>
            </a:solidFill>
            <a:ln w="9525">
              <a:noFill/>
            </a:ln>
          </p:spPr>
          <p:txBody>
            <a:bodyPr/>
            <a:p>
              <a:endParaRPr lang="zh-CN" altLang="en-US"/>
            </a:p>
          </p:txBody>
        </p:sp>
        <p:sp>
          <p:nvSpPr>
            <p:cNvPr id="73761" name="Freeform 8"/>
            <p:cNvSpPr/>
            <p:nvPr/>
          </p:nvSpPr>
          <p:spPr>
            <a:xfrm>
              <a:off x="3324" y="2096"/>
              <a:ext cx="1874" cy="1398"/>
            </a:xfrm>
            <a:custGeom>
              <a:avLst/>
              <a:gdLst/>
              <a:ahLst/>
              <a:cxnLst>
                <a:cxn ang="0">
                  <a:pos x="10" y="162"/>
                </a:cxn>
                <a:cxn ang="0">
                  <a:pos x="36" y="19"/>
                </a:cxn>
                <a:cxn ang="0">
                  <a:pos x="231" y="49"/>
                </a:cxn>
                <a:cxn ang="0">
                  <a:pos x="426" y="24"/>
                </a:cxn>
                <a:cxn ang="0">
                  <a:pos x="705" y="103"/>
                </a:cxn>
                <a:cxn ang="0">
                  <a:pos x="709" y="287"/>
                </a:cxn>
                <a:cxn ang="0">
                  <a:pos x="556" y="401"/>
                </a:cxn>
                <a:cxn ang="0">
                  <a:pos x="287" y="380"/>
                </a:cxn>
                <a:cxn ang="0">
                  <a:pos x="177" y="318"/>
                </a:cxn>
                <a:cxn ang="0">
                  <a:pos x="65" y="267"/>
                </a:cxn>
                <a:cxn ang="0">
                  <a:pos x="10" y="162"/>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alpha val="100000"/>
              </a:srgbClr>
            </a:solidFill>
            <a:ln w="9525">
              <a:noFill/>
            </a:ln>
          </p:spPr>
          <p:txBody>
            <a:bodyPr/>
            <a:p>
              <a:endParaRPr lang="zh-CN" altLang="en-US"/>
            </a:p>
          </p:txBody>
        </p:sp>
        <p:grpSp>
          <p:nvGrpSpPr>
            <p:cNvPr id="73762" name="Group 9"/>
            <p:cNvGrpSpPr/>
            <p:nvPr/>
          </p:nvGrpSpPr>
          <p:grpSpPr>
            <a:xfrm>
              <a:off x="3166" y="1267"/>
              <a:ext cx="462" cy="201"/>
              <a:chOff x="3552" y="246"/>
              <a:chExt cx="527" cy="248"/>
            </a:xfrm>
          </p:grpSpPr>
          <p:graphicFrame>
            <p:nvGraphicFramePr>
              <p:cNvPr id="73976" name="Object 10"/>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091" name="" r:id="rId1" imgW="1307465" imgH="1083945" progId="MS_ClipArt_Gallery.2">
                      <p:embed/>
                    </p:oleObj>
                  </mc:Choice>
                  <mc:Fallback>
                    <p:oleObj name="" r:id="rId1" imgW="1307465" imgH="1083945" progId="MS_ClipArt_Gallery.2">
                      <p:embed/>
                      <p:pic>
                        <p:nvPicPr>
                          <p:cNvPr id="0" name="图片 3090"/>
                          <p:cNvPicPr/>
                          <p:nvPr/>
                        </p:nvPicPr>
                        <p:blipFill>
                          <a:blip r:embed="rId2"/>
                          <a:stretch>
                            <a:fillRect/>
                          </a:stretch>
                        </p:blipFill>
                        <p:spPr>
                          <a:xfrm>
                            <a:off x="3552" y="246"/>
                            <a:ext cx="299" cy="248"/>
                          </a:xfrm>
                          <a:prstGeom prst="rect">
                            <a:avLst/>
                          </a:prstGeom>
                          <a:noFill/>
                          <a:ln w="38100">
                            <a:noFill/>
                            <a:miter/>
                          </a:ln>
                        </p:spPr>
                      </p:pic>
                    </p:oleObj>
                  </mc:Fallback>
                </mc:AlternateContent>
              </a:graphicData>
            </a:graphic>
          </p:graphicFrame>
          <p:graphicFrame>
            <p:nvGraphicFramePr>
              <p:cNvPr id="73977" name="Object 11"/>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090" name="" r:id="rId3" imgW="681990" imgH="480695" progId="MS_ClipArt_Gallery.2">
                      <p:embed/>
                    </p:oleObj>
                  </mc:Choice>
                  <mc:Fallback>
                    <p:oleObj name="" r:id="rId3" imgW="681990" imgH="480695" progId="MS_ClipArt_Gallery.2">
                      <p:embed/>
                      <p:pic>
                        <p:nvPicPr>
                          <p:cNvPr id="0" name="图片 3089"/>
                          <p:cNvPicPr/>
                          <p:nvPr/>
                        </p:nvPicPr>
                        <p:blipFill>
                          <a:blip r:embed="rId4"/>
                          <a:stretch>
                            <a:fillRect/>
                          </a:stretch>
                        </p:blipFill>
                        <p:spPr>
                          <a:xfrm>
                            <a:off x="3878" y="338"/>
                            <a:ext cx="201" cy="144"/>
                          </a:xfrm>
                          <a:prstGeom prst="rect">
                            <a:avLst/>
                          </a:prstGeom>
                          <a:noFill/>
                          <a:ln w="38100">
                            <a:noFill/>
                            <a:miter/>
                          </a:ln>
                        </p:spPr>
                      </p:pic>
                    </p:oleObj>
                  </mc:Fallback>
                </mc:AlternateContent>
              </a:graphicData>
            </a:graphic>
          </p:graphicFrame>
          <p:sp>
            <p:nvSpPr>
              <p:cNvPr id="73978" name="Line 12"/>
              <p:cNvSpPr/>
              <p:nvPr/>
            </p:nvSpPr>
            <p:spPr>
              <a:xfrm flipV="1">
                <a:off x="3844" y="434"/>
                <a:ext cx="82" cy="2"/>
              </a:xfrm>
              <a:prstGeom prst="line">
                <a:avLst/>
              </a:prstGeom>
              <a:ln w="19050" cap="flat" cmpd="sng">
                <a:solidFill>
                  <a:schemeClr val="tx1"/>
                </a:solidFill>
                <a:prstDash val="solid"/>
                <a:headEnd type="none" w="med" len="med"/>
                <a:tailEnd type="none" w="med" len="med"/>
              </a:ln>
            </p:spPr>
          </p:sp>
        </p:grpSp>
        <p:grpSp>
          <p:nvGrpSpPr>
            <p:cNvPr id="73763" name="Group 13"/>
            <p:cNvGrpSpPr/>
            <p:nvPr/>
          </p:nvGrpSpPr>
          <p:grpSpPr>
            <a:xfrm>
              <a:off x="3166" y="1642"/>
              <a:ext cx="462" cy="201"/>
              <a:chOff x="3552" y="246"/>
              <a:chExt cx="527" cy="248"/>
            </a:xfrm>
          </p:grpSpPr>
          <p:graphicFrame>
            <p:nvGraphicFramePr>
              <p:cNvPr id="73973" name="Object 14"/>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089" name="" r:id="rId5" imgW="1307465" imgH="1083945" progId="MS_ClipArt_Gallery.2">
                      <p:embed/>
                    </p:oleObj>
                  </mc:Choice>
                  <mc:Fallback>
                    <p:oleObj name="" r:id="rId5" imgW="1307465" imgH="1083945" progId="MS_ClipArt_Gallery.2">
                      <p:embed/>
                      <p:pic>
                        <p:nvPicPr>
                          <p:cNvPr id="0" name="图片 3088"/>
                          <p:cNvPicPr/>
                          <p:nvPr/>
                        </p:nvPicPr>
                        <p:blipFill>
                          <a:blip r:embed="rId2"/>
                          <a:stretch>
                            <a:fillRect/>
                          </a:stretch>
                        </p:blipFill>
                        <p:spPr>
                          <a:xfrm>
                            <a:off x="3552" y="246"/>
                            <a:ext cx="299" cy="248"/>
                          </a:xfrm>
                          <a:prstGeom prst="rect">
                            <a:avLst/>
                          </a:prstGeom>
                          <a:noFill/>
                          <a:ln w="38100">
                            <a:noFill/>
                            <a:miter/>
                          </a:ln>
                        </p:spPr>
                      </p:pic>
                    </p:oleObj>
                  </mc:Fallback>
                </mc:AlternateContent>
              </a:graphicData>
            </a:graphic>
          </p:graphicFrame>
          <p:graphicFrame>
            <p:nvGraphicFramePr>
              <p:cNvPr id="73974" name="Object 15"/>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092" name="" r:id="rId6" imgW="681990" imgH="480695" progId="MS_ClipArt_Gallery.2">
                      <p:embed/>
                    </p:oleObj>
                  </mc:Choice>
                  <mc:Fallback>
                    <p:oleObj name="" r:id="rId6" imgW="681990" imgH="480695" progId="MS_ClipArt_Gallery.2">
                      <p:embed/>
                      <p:pic>
                        <p:nvPicPr>
                          <p:cNvPr id="0" name="图片 3091"/>
                          <p:cNvPicPr/>
                          <p:nvPr/>
                        </p:nvPicPr>
                        <p:blipFill>
                          <a:blip r:embed="rId4"/>
                          <a:stretch>
                            <a:fillRect/>
                          </a:stretch>
                        </p:blipFill>
                        <p:spPr>
                          <a:xfrm>
                            <a:off x="3878" y="338"/>
                            <a:ext cx="201" cy="144"/>
                          </a:xfrm>
                          <a:prstGeom prst="rect">
                            <a:avLst/>
                          </a:prstGeom>
                          <a:noFill/>
                          <a:ln w="38100">
                            <a:noFill/>
                            <a:miter/>
                          </a:ln>
                        </p:spPr>
                      </p:pic>
                    </p:oleObj>
                  </mc:Fallback>
                </mc:AlternateContent>
              </a:graphicData>
            </a:graphic>
          </p:graphicFrame>
          <p:sp>
            <p:nvSpPr>
              <p:cNvPr id="73975" name="Line 16"/>
              <p:cNvSpPr/>
              <p:nvPr/>
            </p:nvSpPr>
            <p:spPr>
              <a:xfrm flipV="1">
                <a:off x="3844" y="434"/>
                <a:ext cx="82" cy="2"/>
              </a:xfrm>
              <a:prstGeom prst="line">
                <a:avLst/>
              </a:prstGeom>
              <a:ln w="19050" cap="flat" cmpd="sng">
                <a:solidFill>
                  <a:schemeClr val="tx1"/>
                </a:solidFill>
                <a:prstDash val="solid"/>
                <a:headEnd type="none" w="med" len="med"/>
                <a:tailEnd type="none" w="med" len="med"/>
              </a:ln>
            </p:spPr>
          </p:sp>
        </p:grpSp>
        <p:grpSp>
          <p:nvGrpSpPr>
            <p:cNvPr id="73764" name="Group 17"/>
            <p:cNvGrpSpPr/>
            <p:nvPr/>
          </p:nvGrpSpPr>
          <p:grpSpPr>
            <a:xfrm>
              <a:off x="3403" y="1508"/>
              <a:ext cx="44" cy="135"/>
              <a:chOff x="3842" y="406"/>
              <a:chExt cx="51" cy="167"/>
            </a:xfrm>
          </p:grpSpPr>
          <p:sp>
            <p:nvSpPr>
              <p:cNvPr id="73970" name="Oval 18"/>
              <p:cNvSpPr/>
              <p:nvPr/>
            </p:nvSpPr>
            <p:spPr>
              <a:xfrm>
                <a:off x="3842" y="40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71" name="Oval 19"/>
              <p:cNvSpPr/>
              <p:nvPr/>
            </p:nvSpPr>
            <p:spPr>
              <a:xfrm>
                <a:off x="3844" y="46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72" name="Oval 20"/>
              <p:cNvSpPr/>
              <p:nvPr/>
            </p:nvSpPr>
            <p:spPr>
              <a:xfrm>
                <a:off x="3846" y="52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grpSp>
        <p:grpSp>
          <p:nvGrpSpPr>
            <p:cNvPr id="73765" name="Group 21"/>
            <p:cNvGrpSpPr/>
            <p:nvPr/>
          </p:nvGrpSpPr>
          <p:grpSpPr>
            <a:xfrm>
              <a:off x="3699" y="1825"/>
              <a:ext cx="132" cy="249"/>
              <a:chOff x="4180" y="783"/>
              <a:chExt cx="150" cy="307"/>
            </a:xfrm>
          </p:grpSpPr>
          <p:sp>
            <p:nvSpPr>
              <p:cNvPr id="73962" name="AutoShape 22"/>
              <p:cNvSpPr/>
              <p:nvPr/>
            </p:nvSpPr>
            <p:spPr>
              <a:xfrm>
                <a:off x="4180" y="1019"/>
                <a:ext cx="150" cy="71"/>
              </a:xfrm>
              <a:prstGeom prst="parallelogram">
                <a:avLst>
                  <a:gd name="adj" fmla="val 81386"/>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63" name="Rectangle 23"/>
              <p:cNvSpPr/>
              <p:nvPr/>
            </p:nvSpPr>
            <p:spPr>
              <a:xfrm>
                <a:off x="4256" y="785"/>
                <a:ext cx="69" cy="236"/>
              </a:xfrm>
              <a:prstGeom prst="rect">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64" name="Rectangle 24"/>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65" name="AutoShape 25"/>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66" name="Line 26"/>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3967" name="Line 27"/>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3968" name="Rectangle 28"/>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69" name="Rectangle 29"/>
              <p:cNvSpPr/>
              <p:nvPr/>
            </p:nvSpPr>
            <p:spPr>
              <a:xfrm>
                <a:off x="4202" y="924"/>
                <a:ext cx="48" cy="48"/>
              </a:xfrm>
              <a:prstGeom prst="rect">
                <a:avLst/>
              </a:prstGeom>
              <a:solidFill>
                <a:schemeClr val="bg1"/>
              </a:solidFill>
              <a:ln w="9525">
                <a:noFill/>
              </a:ln>
            </p:spPr>
            <p:txBody>
              <a:bodyPr wrap="none" anchor="ctr" anchorCtr="0"/>
              <a:p>
                <a:endParaRPr lang="zh-CN" altLang="en-US" dirty="0">
                  <a:latin typeface="Times New Roman" panose="02020603050405020304" pitchFamily="18" charset="0"/>
                </a:endParaRPr>
              </a:p>
            </p:txBody>
          </p:sp>
        </p:grpSp>
        <p:grpSp>
          <p:nvGrpSpPr>
            <p:cNvPr id="73766" name="Group 30"/>
            <p:cNvGrpSpPr/>
            <p:nvPr/>
          </p:nvGrpSpPr>
          <p:grpSpPr>
            <a:xfrm rot="-5400000">
              <a:off x="3896" y="1874"/>
              <a:ext cx="51" cy="147"/>
              <a:chOff x="3842" y="406"/>
              <a:chExt cx="51" cy="167"/>
            </a:xfrm>
          </p:grpSpPr>
          <p:sp>
            <p:nvSpPr>
              <p:cNvPr id="73959" name="Oval 31"/>
              <p:cNvSpPr/>
              <p:nvPr/>
            </p:nvSpPr>
            <p:spPr>
              <a:xfrm>
                <a:off x="3842" y="40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60" name="Oval 32"/>
              <p:cNvSpPr/>
              <p:nvPr/>
            </p:nvSpPr>
            <p:spPr>
              <a:xfrm>
                <a:off x="3844" y="46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61" name="Oval 33"/>
              <p:cNvSpPr/>
              <p:nvPr/>
            </p:nvSpPr>
            <p:spPr>
              <a:xfrm>
                <a:off x="3846" y="52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grpSp>
        <p:sp>
          <p:nvSpPr>
            <p:cNvPr id="73767" name="Line 34"/>
            <p:cNvSpPr/>
            <p:nvPr/>
          </p:nvSpPr>
          <p:spPr>
            <a:xfrm>
              <a:off x="3785" y="1767"/>
              <a:ext cx="312" cy="1"/>
            </a:xfrm>
            <a:prstGeom prst="line">
              <a:avLst/>
            </a:prstGeom>
            <a:ln w="12700" cap="flat" cmpd="sng">
              <a:solidFill>
                <a:schemeClr val="tx1"/>
              </a:solidFill>
              <a:prstDash val="solid"/>
              <a:headEnd type="none" w="med" len="med"/>
              <a:tailEnd type="none" w="med" len="med"/>
            </a:ln>
          </p:spPr>
        </p:sp>
        <p:sp>
          <p:nvSpPr>
            <p:cNvPr id="73768" name="Line 35"/>
            <p:cNvSpPr/>
            <p:nvPr/>
          </p:nvSpPr>
          <p:spPr>
            <a:xfrm>
              <a:off x="3787" y="1765"/>
              <a:ext cx="1" cy="60"/>
            </a:xfrm>
            <a:prstGeom prst="line">
              <a:avLst/>
            </a:prstGeom>
            <a:ln w="12700" cap="flat" cmpd="sng">
              <a:solidFill>
                <a:schemeClr val="tx1"/>
              </a:solidFill>
              <a:prstDash val="solid"/>
              <a:headEnd type="none" w="med" len="med"/>
              <a:tailEnd type="none" w="med" len="med"/>
            </a:ln>
          </p:spPr>
        </p:sp>
        <p:sp>
          <p:nvSpPr>
            <p:cNvPr id="73769" name="Line 36"/>
            <p:cNvSpPr/>
            <p:nvPr/>
          </p:nvSpPr>
          <p:spPr>
            <a:xfrm>
              <a:off x="4099" y="1764"/>
              <a:ext cx="1" cy="52"/>
            </a:xfrm>
            <a:prstGeom prst="line">
              <a:avLst/>
            </a:prstGeom>
            <a:ln w="12700" cap="flat" cmpd="sng">
              <a:solidFill>
                <a:schemeClr val="tx1"/>
              </a:solidFill>
              <a:prstDash val="solid"/>
              <a:headEnd type="none" w="med" len="med"/>
              <a:tailEnd type="none" w="med" len="med"/>
            </a:ln>
          </p:spPr>
        </p:sp>
        <p:sp>
          <p:nvSpPr>
            <p:cNvPr id="73770" name="Line 37"/>
            <p:cNvSpPr/>
            <p:nvPr/>
          </p:nvSpPr>
          <p:spPr>
            <a:xfrm>
              <a:off x="3596" y="1427"/>
              <a:ext cx="182" cy="167"/>
            </a:xfrm>
            <a:prstGeom prst="line">
              <a:avLst/>
            </a:prstGeom>
            <a:ln w="12700" cap="flat" cmpd="sng">
              <a:solidFill>
                <a:schemeClr val="tx1"/>
              </a:solidFill>
              <a:prstDash val="solid"/>
              <a:headEnd type="none" w="med" len="med"/>
              <a:tailEnd type="none" w="med" len="med"/>
            </a:ln>
          </p:spPr>
        </p:sp>
        <p:sp>
          <p:nvSpPr>
            <p:cNvPr id="73771" name="Line 38"/>
            <p:cNvSpPr/>
            <p:nvPr/>
          </p:nvSpPr>
          <p:spPr>
            <a:xfrm flipV="1">
              <a:off x="3604" y="1607"/>
              <a:ext cx="174" cy="208"/>
            </a:xfrm>
            <a:prstGeom prst="line">
              <a:avLst/>
            </a:prstGeom>
            <a:ln w="12700" cap="flat" cmpd="sng">
              <a:solidFill>
                <a:schemeClr val="tx1"/>
              </a:solidFill>
              <a:prstDash val="solid"/>
              <a:headEnd type="none" w="med" len="med"/>
              <a:tailEnd type="none" w="med" len="med"/>
            </a:ln>
          </p:spPr>
        </p:sp>
        <p:sp>
          <p:nvSpPr>
            <p:cNvPr id="73772" name="Line 39"/>
            <p:cNvSpPr/>
            <p:nvPr/>
          </p:nvSpPr>
          <p:spPr>
            <a:xfrm flipV="1">
              <a:off x="3936" y="1661"/>
              <a:ext cx="1" cy="103"/>
            </a:xfrm>
            <a:prstGeom prst="line">
              <a:avLst/>
            </a:prstGeom>
            <a:ln w="12700" cap="flat" cmpd="sng">
              <a:solidFill>
                <a:schemeClr val="tx1"/>
              </a:solidFill>
              <a:prstDash val="solid"/>
              <a:headEnd type="none" w="med" len="med"/>
              <a:tailEnd type="none" w="med" len="med"/>
            </a:ln>
          </p:spPr>
        </p:sp>
        <p:grpSp>
          <p:nvGrpSpPr>
            <p:cNvPr id="73773" name="Group 40"/>
            <p:cNvGrpSpPr/>
            <p:nvPr/>
          </p:nvGrpSpPr>
          <p:grpSpPr>
            <a:xfrm>
              <a:off x="4011" y="1811"/>
              <a:ext cx="132" cy="249"/>
              <a:chOff x="4180" y="783"/>
              <a:chExt cx="150" cy="307"/>
            </a:xfrm>
          </p:grpSpPr>
          <p:sp>
            <p:nvSpPr>
              <p:cNvPr id="73951" name="AutoShape 41"/>
              <p:cNvSpPr/>
              <p:nvPr/>
            </p:nvSpPr>
            <p:spPr>
              <a:xfrm>
                <a:off x="4180" y="1019"/>
                <a:ext cx="150" cy="71"/>
              </a:xfrm>
              <a:prstGeom prst="parallelogram">
                <a:avLst>
                  <a:gd name="adj" fmla="val 81386"/>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52" name="Rectangle 42"/>
              <p:cNvSpPr/>
              <p:nvPr/>
            </p:nvSpPr>
            <p:spPr>
              <a:xfrm>
                <a:off x="4256" y="785"/>
                <a:ext cx="69" cy="236"/>
              </a:xfrm>
              <a:prstGeom prst="rect">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53" name="Rectangle 43"/>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54" name="AutoShape 44"/>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55" name="Line 45"/>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3956" name="Line 46"/>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3957" name="Rectangle 47"/>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58" name="Rectangle 48"/>
              <p:cNvSpPr/>
              <p:nvPr/>
            </p:nvSpPr>
            <p:spPr>
              <a:xfrm>
                <a:off x="4202" y="924"/>
                <a:ext cx="48" cy="48"/>
              </a:xfrm>
              <a:prstGeom prst="rect">
                <a:avLst/>
              </a:prstGeom>
              <a:solidFill>
                <a:schemeClr val="bg1"/>
              </a:solidFill>
              <a:ln w="9525">
                <a:noFill/>
              </a:ln>
            </p:spPr>
            <p:txBody>
              <a:bodyPr wrap="none" anchor="ctr" anchorCtr="0"/>
              <a:p>
                <a:endParaRPr lang="zh-CN" altLang="en-US" dirty="0">
                  <a:latin typeface="Times New Roman" panose="02020603050405020304" pitchFamily="18" charset="0"/>
                </a:endParaRPr>
              </a:p>
            </p:txBody>
          </p:sp>
        </p:grpSp>
        <p:grpSp>
          <p:nvGrpSpPr>
            <p:cNvPr id="73774" name="Group 49"/>
            <p:cNvGrpSpPr/>
            <p:nvPr/>
          </p:nvGrpSpPr>
          <p:grpSpPr>
            <a:xfrm>
              <a:off x="3408" y="2201"/>
              <a:ext cx="302" cy="583"/>
              <a:chOff x="3314" y="1248"/>
              <a:chExt cx="344" cy="694"/>
            </a:xfrm>
          </p:grpSpPr>
          <p:graphicFrame>
            <p:nvGraphicFramePr>
              <p:cNvPr id="73942" name="Object 50"/>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3078" name="" r:id="rId7" imgW="1307465" imgH="1083945" progId="MS_ClipArt_Gallery.2">
                      <p:embed/>
                    </p:oleObj>
                  </mc:Choice>
                  <mc:Fallback>
                    <p:oleObj name="" r:id="rId7" imgW="1307465" imgH="1083945" progId="MS_ClipArt_Gallery.2">
                      <p:embed/>
                      <p:pic>
                        <p:nvPicPr>
                          <p:cNvPr id="0" name="图片 3077"/>
                          <p:cNvPicPr/>
                          <p:nvPr/>
                        </p:nvPicPr>
                        <p:blipFill>
                          <a:blip r:embed="rId2"/>
                          <a:stretch>
                            <a:fillRect/>
                          </a:stretch>
                        </p:blipFill>
                        <p:spPr>
                          <a:xfrm>
                            <a:off x="3314" y="1248"/>
                            <a:ext cx="299" cy="248"/>
                          </a:xfrm>
                          <a:prstGeom prst="rect">
                            <a:avLst/>
                          </a:prstGeom>
                          <a:noFill/>
                          <a:ln w="38100">
                            <a:noFill/>
                            <a:miter/>
                          </a:ln>
                        </p:spPr>
                      </p:pic>
                    </p:oleObj>
                  </mc:Fallback>
                </mc:AlternateContent>
              </a:graphicData>
            </a:graphic>
          </p:graphicFrame>
          <p:sp>
            <p:nvSpPr>
              <p:cNvPr id="73943" name="Line 51"/>
              <p:cNvSpPr/>
              <p:nvPr/>
            </p:nvSpPr>
            <p:spPr>
              <a:xfrm flipV="1">
                <a:off x="3606" y="1433"/>
                <a:ext cx="52" cy="5"/>
              </a:xfrm>
              <a:prstGeom prst="line">
                <a:avLst/>
              </a:prstGeom>
              <a:ln w="19050" cap="flat" cmpd="sng">
                <a:solidFill>
                  <a:schemeClr val="tx1"/>
                </a:solidFill>
                <a:prstDash val="solid"/>
                <a:headEnd type="none" w="med" len="med"/>
                <a:tailEnd type="none" w="med" len="med"/>
              </a:ln>
            </p:spPr>
          </p:sp>
          <p:graphicFrame>
            <p:nvGraphicFramePr>
              <p:cNvPr id="73944" name="Object 52"/>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3081" name="" r:id="rId8" imgW="1307465" imgH="1083945" progId="MS_ClipArt_Gallery.2">
                      <p:embed/>
                    </p:oleObj>
                  </mc:Choice>
                  <mc:Fallback>
                    <p:oleObj name="" r:id="rId8" imgW="1307465" imgH="1083945" progId="MS_ClipArt_Gallery.2">
                      <p:embed/>
                      <p:pic>
                        <p:nvPicPr>
                          <p:cNvPr id="0" name="图片 3080"/>
                          <p:cNvPicPr/>
                          <p:nvPr/>
                        </p:nvPicPr>
                        <p:blipFill>
                          <a:blip r:embed="rId2"/>
                          <a:stretch>
                            <a:fillRect/>
                          </a:stretch>
                        </p:blipFill>
                        <p:spPr>
                          <a:xfrm>
                            <a:off x="3314" y="1694"/>
                            <a:ext cx="299" cy="248"/>
                          </a:xfrm>
                          <a:prstGeom prst="rect">
                            <a:avLst/>
                          </a:prstGeom>
                          <a:noFill/>
                          <a:ln w="38100">
                            <a:noFill/>
                            <a:miter/>
                          </a:ln>
                        </p:spPr>
                      </p:pic>
                    </p:oleObj>
                  </mc:Fallback>
                </mc:AlternateContent>
              </a:graphicData>
            </a:graphic>
          </p:graphicFrame>
          <p:sp>
            <p:nvSpPr>
              <p:cNvPr id="73945" name="Line 53"/>
              <p:cNvSpPr/>
              <p:nvPr/>
            </p:nvSpPr>
            <p:spPr>
              <a:xfrm flipV="1">
                <a:off x="3606" y="1882"/>
                <a:ext cx="52" cy="2"/>
              </a:xfrm>
              <a:prstGeom prst="line">
                <a:avLst/>
              </a:prstGeom>
              <a:ln w="19050" cap="flat" cmpd="sng">
                <a:solidFill>
                  <a:schemeClr val="tx1"/>
                </a:solidFill>
                <a:prstDash val="solid"/>
                <a:headEnd type="none" w="med" len="med"/>
                <a:tailEnd type="none" w="med" len="med"/>
              </a:ln>
            </p:spPr>
          </p:sp>
          <p:grpSp>
            <p:nvGrpSpPr>
              <p:cNvPr id="73946" name="Group 54"/>
              <p:cNvGrpSpPr/>
              <p:nvPr/>
            </p:nvGrpSpPr>
            <p:grpSpPr>
              <a:xfrm>
                <a:off x="3404" y="1504"/>
                <a:ext cx="51" cy="167"/>
                <a:chOff x="3842" y="406"/>
                <a:chExt cx="51" cy="167"/>
              </a:xfrm>
            </p:grpSpPr>
            <p:sp>
              <p:nvSpPr>
                <p:cNvPr id="73948" name="Oval 55"/>
                <p:cNvSpPr/>
                <p:nvPr/>
              </p:nvSpPr>
              <p:spPr>
                <a:xfrm>
                  <a:off x="3842" y="40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49" name="Oval 56"/>
                <p:cNvSpPr/>
                <p:nvPr/>
              </p:nvSpPr>
              <p:spPr>
                <a:xfrm>
                  <a:off x="3844" y="46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950" name="Oval 57"/>
                <p:cNvSpPr/>
                <p:nvPr/>
              </p:nvSpPr>
              <p:spPr>
                <a:xfrm>
                  <a:off x="3846" y="526"/>
                  <a:ext cx="47" cy="47"/>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grpSp>
          <p:sp>
            <p:nvSpPr>
              <p:cNvPr id="73947" name="Line 58"/>
              <p:cNvSpPr/>
              <p:nvPr/>
            </p:nvSpPr>
            <p:spPr>
              <a:xfrm>
                <a:off x="3654" y="1431"/>
                <a:ext cx="0" cy="450"/>
              </a:xfrm>
              <a:prstGeom prst="line">
                <a:avLst/>
              </a:prstGeom>
              <a:ln w="12700" cap="flat" cmpd="sng">
                <a:solidFill>
                  <a:schemeClr val="tx1"/>
                </a:solidFill>
                <a:prstDash val="solid"/>
                <a:headEnd type="none" w="med" len="med"/>
                <a:tailEnd type="none" w="med" len="med"/>
              </a:ln>
            </p:spPr>
          </p:sp>
        </p:grpSp>
        <p:graphicFrame>
          <p:nvGraphicFramePr>
            <p:cNvPr id="73775" name="Object 59"/>
            <p:cNvGraphicFramePr>
              <a:graphicFrameLocks noChangeAspect="1"/>
            </p:cNvGraphicFramePr>
            <p:nvPr/>
          </p:nvGraphicFramePr>
          <p:xfrm>
            <a:off x="3955" y="2837"/>
            <a:ext cx="263" cy="209"/>
          </p:xfrm>
          <a:graphic>
            <a:graphicData uri="http://schemas.openxmlformats.org/presentationml/2006/ole">
              <mc:AlternateContent xmlns:mc="http://schemas.openxmlformats.org/markup-compatibility/2006">
                <mc:Choice xmlns:v="urn:schemas-microsoft-com:vml" Requires="v">
                  <p:oleObj spid="_x0000_s3079" name="" r:id="rId9" imgW="1307465" imgH="1083945" progId="MS_ClipArt_Gallery.2">
                    <p:embed/>
                  </p:oleObj>
                </mc:Choice>
                <mc:Fallback>
                  <p:oleObj name="" r:id="rId9" imgW="1307465" imgH="1083945" progId="MS_ClipArt_Gallery.2">
                    <p:embed/>
                    <p:pic>
                      <p:nvPicPr>
                        <p:cNvPr id="0" name="图片 3078"/>
                        <p:cNvPicPr/>
                        <p:nvPr/>
                      </p:nvPicPr>
                      <p:blipFill>
                        <a:blip r:embed="rId2"/>
                        <a:stretch>
                          <a:fillRect/>
                        </a:stretch>
                      </p:blipFill>
                      <p:spPr>
                        <a:xfrm>
                          <a:off x="3955" y="2837"/>
                          <a:ext cx="263" cy="209"/>
                        </a:xfrm>
                        <a:prstGeom prst="rect">
                          <a:avLst/>
                        </a:prstGeom>
                        <a:noFill/>
                        <a:ln w="38100">
                          <a:noFill/>
                          <a:miter/>
                        </a:ln>
                      </p:spPr>
                    </p:pic>
                  </p:oleObj>
                </mc:Fallback>
              </mc:AlternateContent>
            </a:graphicData>
          </a:graphic>
        </p:graphicFrame>
        <p:graphicFrame>
          <p:nvGraphicFramePr>
            <p:cNvPr id="73776" name="Object 60"/>
            <p:cNvGraphicFramePr>
              <a:graphicFrameLocks noChangeAspect="1"/>
            </p:cNvGraphicFramePr>
            <p:nvPr/>
          </p:nvGraphicFramePr>
          <p:xfrm>
            <a:off x="3568" y="2830"/>
            <a:ext cx="262" cy="208"/>
          </p:xfrm>
          <a:graphic>
            <a:graphicData uri="http://schemas.openxmlformats.org/presentationml/2006/ole">
              <mc:AlternateContent xmlns:mc="http://schemas.openxmlformats.org/markup-compatibility/2006">
                <mc:Choice xmlns:v="urn:schemas-microsoft-com:vml" Requires="v">
                  <p:oleObj spid="_x0000_s3080" name="" r:id="rId10" imgW="1307465" imgH="1083945" progId="MS_ClipArt_Gallery.2">
                    <p:embed/>
                  </p:oleObj>
                </mc:Choice>
                <mc:Fallback>
                  <p:oleObj name="" r:id="rId10" imgW="1307465" imgH="1083945" progId="MS_ClipArt_Gallery.2">
                    <p:embed/>
                    <p:pic>
                      <p:nvPicPr>
                        <p:cNvPr id="0" name="图片 3079"/>
                        <p:cNvPicPr/>
                        <p:nvPr/>
                      </p:nvPicPr>
                      <p:blipFill>
                        <a:blip r:embed="rId2"/>
                        <a:stretch>
                          <a:fillRect/>
                        </a:stretch>
                      </p:blipFill>
                      <p:spPr>
                        <a:xfrm>
                          <a:off x="3568" y="2830"/>
                          <a:ext cx="262" cy="208"/>
                        </a:xfrm>
                        <a:prstGeom prst="rect">
                          <a:avLst/>
                        </a:prstGeom>
                        <a:noFill/>
                        <a:ln w="38100">
                          <a:noFill/>
                          <a:miter/>
                        </a:ln>
                      </p:spPr>
                    </p:pic>
                  </p:oleObj>
                </mc:Fallback>
              </mc:AlternateContent>
            </a:graphicData>
          </a:graphic>
        </p:graphicFrame>
        <p:sp>
          <p:nvSpPr>
            <p:cNvPr id="73777" name="Oval 61"/>
            <p:cNvSpPr/>
            <p:nvPr/>
          </p:nvSpPr>
          <p:spPr>
            <a:xfrm rot="-5400000">
              <a:off x="3830" y="2895"/>
              <a:ext cx="40" cy="41"/>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78" name="Oval 62"/>
            <p:cNvSpPr/>
            <p:nvPr/>
          </p:nvSpPr>
          <p:spPr>
            <a:xfrm rot="-5400000">
              <a:off x="3884" y="2894"/>
              <a:ext cx="40" cy="42"/>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79" name="Oval 63"/>
            <p:cNvSpPr/>
            <p:nvPr/>
          </p:nvSpPr>
          <p:spPr>
            <a:xfrm rot="-5400000">
              <a:off x="3933" y="2897"/>
              <a:ext cx="39" cy="41"/>
            </a:xfrm>
            <a:prstGeom prst="ellipse">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80" name="Line 64"/>
            <p:cNvSpPr/>
            <p:nvPr/>
          </p:nvSpPr>
          <p:spPr>
            <a:xfrm rot="-5400000">
              <a:off x="4096" y="2821"/>
              <a:ext cx="38" cy="1"/>
            </a:xfrm>
            <a:prstGeom prst="line">
              <a:avLst/>
            </a:prstGeom>
            <a:ln w="19050" cap="flat" cmpd="sng">
              <a:solidFill>
                <a:schemeClr val="tx1"/>
              </a:solidFill>
              <a:prstDash val="solid"/>
              <a:headEnd type="none" w="med" len="med"/>
              <a:tailEnd type="none" w="med" len="med"/>
            </a:ln>
          </p:spPr>
        </p:sp>
        <p:sp>
          <p:nvSpPr>
            <p:cNvPr id="73781" name="Line 65"/>
            <p:cNvSpPr/>
            <p:nvPr/>
          </p:nvSpPr>
          <p:spPr>
            <a:xfrm rot="5400000" flipH="1">
              <a:off x="3702" y="2816"/>
              <a:ext cx="40" cy="0"/>
            </a:xfrm>
            <a:prstGeom prst="line">
              <a:avLst/>
            </a:prstGeom>
            <a:ln w="19050" cap="flat" cmpd="sng">
              <a:solidFill>
                <a:schemeClr val="tx1"/>
              </a:solidFill>
              <a:prstDash val="solid"/>
              <a:headEnd type="none" w="med" len="med"/>
              <a:tailEnd type="none" w="med" len="med"/>
            </a:ln>
          </p:spPr>
        </p:sp>
        <p:sp>
          <p:nvSpPr>
            <p:cNvPr id="73782" name="Line 66"/>
            <p:cNvSpPr/>
            <p:nvPr/>
          </p:nvSpPr>
          <p:spPr>
            <a:xfrm rot="-5400000" flipV="1">
              <a:off x="3920" y="2602"/>
              <a:ext cx="0" cy="395"/>
            </a:xfrm>
            <a:prstGeom prst="line">
              <a:avLst/>
            </a:prstGeom>
            <a:ln w="12700" cap="flat" cmpd="sng">
              <a:solidFill>
                <a:schemeClr val="tx1"/>
              </a:solidFill>
              <a:prstDash val="solid"/>
              <a:headEnd type="none" w="med" len="med"/>
              <a:tailEnd type="none" w="med" len="med"/>
            </a:ln>
          </p:spPr>
        </p:sp>
        <p:sp>
          <p:nvSpPr>
            <p:cNvPr id="73783" name="Line 67"/>
            <p:cNvSpPr/>
            <p:nvPr/>
          </p:nvSpPr>
          <p:spPr>
            <a:xfrm flipV="1">
              <a:off x="3710" y="2564"/>
              <a:ext cx="59" cy="2"/>
            </a:xfrm>
            <a:prstGeom prst="line">
              <a:avLst/>
            </a:prstGeom>
            <a:ln w="12700" cap="flat" cmpd="sng">
              <a:solidFill>
                <a:schemeClr val="tx1"/>
              </a:solidFill>
              <a:prstDash val="solid"/>
              <a:headEnd type="none" w="med" len="med"/>
              <a:tailEnd type="none" w="med" len="med"/>
            </a:ln>
          </p:spPr>
        </p:sp>
        <p:sp>
          <p:nvSpPr>
            <p:cNvPr id="73784" name="Line 68"/>
            <p:cNvSpPr/>
            <p:nvPr/>
          </p:nvSpPr>
          <p:spPr>
            <a:xfrm>
              <a:off x="4089" y="2593"/>
              <a:ext cx="191" cy="243"/>
            </a:xfrm>
            <a:prstGeom prst="line">
              <a:avLst/>
            </a:prstGeom>
            <a:ln w="12700" cap="flat" cmpd="sng">
              <a:solidFill>
                <a:schemeClr val="tx1"/>
              </a:solidFill>
              <a:prstDash val="solid"/>
              <a:headEnd type="none" w="med" len="med"/>
              <a:tailEnd type="none" w="med" len="med"/>
            </a:ln>
          </p:spPr>
        </p:sp>
        <p:sp>
          <p:nvSpPr>
            <p:cNvPr id="73785" name="Line 69"/>
            <p:cNvSpPr/>
            <p:nvPr/>
          </p:nvSpPr>
          <p:spPr>
            <a:xfrm flipH="1">
              <a:off x="4590" y="2591"/>
              <a:ext cx="176" cy="247"/>
            </a:xfrm>
            <a:prstGeom prst="line">
              <a:avLst/>
            </a:prstGeom>
            <a:ln w="12700" cap="flat" cmpd="sng">
              <a:solidFill>
                <a:schemeClr val="tx1"/>
              </a:solidFill>
              <a:prstDash val="solid"/>
              <a:headEnd type="none" w="med" len="med"/>
              <a:tailEnd type="none" w="med" len="med"/>
            </a:ln>
          </p:spPr>
        </p:sp>
        <p:graphicFrame>
          <p:nvGraphicFramePr>
            <p:cNvPr id="73786" name="Object 70"/>
            <p:cNvGraphicFramePr>
              <a:graphicFrameLocks noChangeAspect="1"/>
            </p:cNvGraphicFramePr>
            <p:nvPr/>
          </p:nvGraphicFramePr>
          <p:xfrm>
            <a:off x="4702" y="2309"/>
            <a:ext cx="128" cy="152"/>
          </p:xfrm>
          <a:graphic>
            <a:graphicData uri="http://schemas.openxmlformats.org/presentationml/2006/ole">
              <mc:AlternateContent xmlns:mc="http://schemas.openxmlformats.org/markup-compatibility/2006">
                <mc:Choice xmlns:v="urn:schemas-microsoft-com:vml" Requires="v">
                  <p:oleObj spid="_x0000_s3083" name="" r:id="rId11" imgW="982980" imgH="1208405" progId="MS_ClipArt_Gallery.2">
                    <p:embed/>
                  </p:oleObj>
                </mc:Choice>
                <mc:Fallback>
                  <p:oleObj name="" r:id="rId11" imgW="982980" imgH="1208405" progId="MS_ClipArt_Gallery.2">
                    <p:embed/>
                    <p:pic>
                      <p:nvPicPr>
                        <p:cNvPr id="0" name="图片 3082"/>
                        <p:cNvPicPr/>
                        <p:nvPr/>
                      </p:nvPicPr>
                      <p:blipFill>
                        <a:blip r:embed="rId12"/>
                        <a:stretch>
                          <a:fillRect/>
                        </a:stretch>
                      </p:blipFill>
                      <p:spPr>
                        <a:xfrm>
                          <a:off x="4702" y="2309"/>
                          <a:ext cx="128" cy="152"/>
                        </a:xfrm>
                        <a:prstGeom prst="rect">
                          <a:avLst/>
                        </a:prstGeom>
                        <a:noFill/>
                        <a:ln w="38100">
                          <a:noFill/>
                          <a:miter/>
                        </a:ln>
                      </p:spPr>
                    </p:pic>
                  </p:oleObj>
                </mc:Fallback>
              </mc:AlternateContent>
            </a:graphicData>
          </a:graphic>
        </p:graphicFrame>
        <p:graphicFrame>
          <p:nvGraphicFramePr>
            <p:cNvPr id="73787" name="Object 71"/>
            <p:cNvGraphicFramePr>
              <a:graphicFrameLocks noChangeAspect="1"/>
            </p:cNvGraphicFramePr>
            <p:nvPr/>
          </p:nvGraphicFramePr>
          <p:xfrm>
            <a:off x="3860" y="2360"/>
            <a:ext cx="128" cy="151"/>
          </p:xfrm>
          <a:graphic>
            <a:graphicData uri="http://schemas.openxmlformats.org/presentationml/2006/ole">
              <mc:AlternateContent xmlns:mc="http://schemas.openxmlformats.org/markup-compatibility/2006">
                <mc:Choice xmlns:v="urn:schemas-microsoft-com:vml" Requires="v">
                  <p:oleObj spid="_x0000_s3084" name="" r:id="rId13" imgW="982980" imgH="1208405" progId="MS_ClipArt_Gallery.2">
                    <p:embed/>
                  </p:oleObj>
                </mc:Choice>
                <mc:Fallback>
                  <p:oleObj name="" r:id="rId13" imgW="982980" imgH="1208405" progId="MS_ClipArt_Gallery.2">
                    <p:embed/>
                    <p:pic>
                      <p:nvPicPr>
                        <p:cNvPr id="0" name="图片 3083"/>
                        <p:cNvPicPr/>
                        <p:nvPr/>
                      </p:nvPicPr>
                      <p:blipFill>
                        <a:blip r:embed="rId12"/>
                        <a:stretch>
                          <a:fillRect/>
                        </a:stretch>
                      </p:blipFill>
                      <p:spPr>
                        <a:xfrm>
                          <a:off x="3860" y="2360"/>
                          <a:ext cx="128" cy="151"/>
                        </a:xfrm>
                        <a:prstGeom prst="rect">
                          <a:avLst/>
                        </a:prstGeom>
                        <a:noFill/>
                        <a:ln w="38100">
                          <a:noFill/>
                          <a:miter/>
                        </a:ln>
                      </p:spPr>
                    </p:pic>
                  </p:oleObj>
                </mc:Fallback>
              </mc:AlternateContent>
            </a:graphicData>
          </a:graphic>
        </p:graphicFrame>
        <p:sp>
          <p:nvSpPr>
            <p:cNvPr id="73788" name="Freeform 72"/>
            <p:cNvSpPr/>
            <p:nvPr/>
          </p:nvSpPr>
          <p:spPr>
            <a:xfrm>
              <a:off x="3911" y="2218"/>
              <a:ext cx="853" cy="192"/>
            </a:xfrm>
            <a:custGeom>
              <a:avLst/>
              <a:gdLst/>
              <a:ahLst/>
              <a:cxnLst>
                <a:cxn ang="0">
                  <a:pos x="0" y="58"/>
                </a:cxn>
                <a:cxn ang="0">
                  <a:pos x="152" y="3"/>
                </a:cxn>
                <a:cxn ang="0">
                  <a:pos x="342" y="43"/>
                </a:cxn>
              </a:cxnLst>
              <a:pathLst>
                <a:path w="972" h="228">
                  <a:moveTo>
                    <a:pt x="0" y="228"/>
                  </a:moveTo>
                  <a:cubicBezTo>
                    <a:pt x="135" y="123"/>
                    <a:pt x="270" y="18"/>
                    <a:pt x="432" y="9"/>
                  </a:cubicBezTo>
                  <a:cubicBezTo>
                    <a:pt x="594" y="0"/>
                    <a:pt x="783" y="85"/>
                    <a:pt x="972" y="171"/>
                  </a:cubicBezTo>
                </a:path>
              </a:pathLst>
            </a:custGeom>
            <a:noFill/>
            <a:ln w="19050" cap="flat" cmpd="sng">
              <a:solidFill>
                <a:schemeClr val="tx1">
                  <a:alpha val="100000"/>
                </a:schemeClr>
              </a:solidFill>
              <a:prstDash val="dash"/>
              <a:round/>
              <a:headEnd type="none" w="med" len="med"/>
              <a:tailEnd type="none" w="med" len="med"/>
            </a:ln>
          </p:spPr>
          <p:txBody>
            <a:bodyPr/>
            <a:p>
              <a:endParaRPr lang="zh-CN" altLang="en-US"/>
            </a:p>
          </p:txBody>
        </p:sp>
        <p:grpSp>
          <p:nvGrpSpPr>
            <p:cNvPr id="73789" name="Group 73"/>
            <p:cNvGrpSpPr/>
            <p:nvPr/>
          </p:nvGrpSpPr>
          <p:grpSpPr>
            <a:xfrm>
              <a:off x="4079" y="3114"/>
              <a:ext cx="256" cy="269"/>
              <a:chOff x="2870" y="1518"/>
              <a:chExt cx="292" cy="320"/>
            </a:xfrm>
          </p:grpSpPr>
          <p:graphicFrame>
            <p:nvGraphicFramePr>
              <p:cNvPr id="73940" name="Object 7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6" name="" r:id="rId14" imgW="826770" imgH="840105" progId="MS_ClipArt_Gallery.2">
                      <p:embed/>
                    </p:oleObj>
                  </mc:Choice>
                  <mc:Fallback>
                    <p:oleObj name="" r:id="rId14" imgW="826770" imgH="840105" progId="MS_ClipArt_Gallery.2">
                      <p:embed/>
                      <p:pic>
                        <p:nvPicPr>
                          <p:cNvPr id="0" name="图片 3085"/>
                          <p:cNvPicPr/>
                          <p:nvPr/>
                        </p:nvPicPr>
                        <p:blipFill>
                          <a:blip r:embed="rId15"/>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3941" name="Object 7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5" name="" r:id="rId16" imgW="1268095" imgH="1199515" progId="MS_ClipArt_Gallery.2">
                      <p:embed/>
                    </p:oleObj>
                  </mc:Choice>
                  <mc:Fallback>
                    <p:oleObj name="" r:id="rId16" imgW="1268095" imgH="1199515" progId="MS_ClipArt_Gallery.2">
                      <p:embed/>
                      <p:pic>
                        <p:nvPicPr>
                          <p:cNvPr id="0" name="图片 3084"/>
                          <p:cNvPicPr/>
                          <p:nvPr/>
                        </p:nvPicPr>
                        <p:blipFill>
                          <a:blip r:embed="rId17"/>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73790" name="Group 76"/>
            <p:cNvGrpSpPr/>
            <p:nvPr/>
          </p:nvGrpSpPr>
          <p:grpSpPr>
            <a:xfrm>
              <a:off x="4569" y="3134"/>
              <a:ext cx="256" cy="269"/>
              <a:chOff x="2870" y="1518"/>
              <a:chExt cx="292" cy="320"/>
            </a:xfrm>
          </p:grpSpPr>
          <p:graphicFrame>
            <p:nvGraphicFramePr>
              <p:cNvPr id="73938" name="Object 7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7" name="" r:id="rId18" imgW="826770" imgH="840105" progId="MS_ClipArt_Gallery.2">
                      <p:embed/>
                    </p:oleObj>
                  </mc:Choice>
                  <mc:Fallback>
                    <p:oleObj name="" r:id="rId18" imgW="826770" imgH="840105" progId="MS_ClipArt_Gallery.2">
                      <p:embed/>
                      <p:pic>
                        <p:nvPicPr>
                          <p:cNvPr id="0" name="图片 3086"/>
                          <p:cNvPicPr/>
                          <p:nvPr/>
                        </p:nvPicPr>
                        <p:blipFill>
                          <a:blip r:embed="rId15"/>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3939" name="Object 7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2" name="" r:id="rId19" imgW="1268095" imgH="1199515" progId="MS_ClipArt_Gallery.2">
                      <p:embed/>
                    </p:oleObj>
                  </mc:Choice>
                  <mc:Fallback>
                    <p:oleObj name="" r:id="rId19" imgW="1268095" imgH="1199515" progId="MS_ClipArt_Gallery.2">
                      <p:embed/>
                      <p:pic>
                        <p:nvPicPr>
                          <p:cNvPr id="0" name="图片 3081"/>
                          <p:cNvPicPr/>
                          <p:nvPr/>
                        </p:nvPicPr>
                        <p:blipFill>
                          <a:blip r:embed="rId17"/>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73791" name="Group 79"/>
            <p:cNvGrpSpPr/>
            <p:nvPr/>
          </p:nvGrpSpPr>
          <p:grpSpPr>
            <a:xfrm>
              <a:off x="4308" y="2955"/>
              <a:ext cx="239" cy="237"/>
              <a:chOff x="4733" y="2082"/>
              <a:chExt cx="272" cy="282"/>
            </a:xfrm>
          </p:grpSpPr>
          <p:graphicFrame>
            <p:nvGraphicFramePr>
              <p:cNvPr id="73936" name="Object 80"/>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3088" name="" r:id="rId20" imgW="826770" imgH="840105" progId="MS_ClipArt_Gallery.2">
                      <p:embed/>
                    </p:oleObj>
                  </mc:Choice>
                  <mc:Fallback>
                    <p:oleObj name="" r:id="rId20" imgW="826770" imgH="840105" progId="MS_ClipArt_Gallery.2">
                      <p:embed/>
                      <p:pic>
                        <p:nvPicPr>
                          <p:cNvPr id="0" name="图片 3087"/>
                          <p:cNvPicPr/>
                          <p:nvPr/>
                        </p:nvPicPr>
                        <p:blipFill>
                          <a:blip r:embed="rId15"/>
                          <a:stretch>
                            <a:fillRect/>
                          </a:stretch>
                        </p:blipFill>
                        <p:spPr>
                          <a:xfrm>
                            <a:off x="4733" y="2082"/>
                            <a:ext cx="272" cy="282"/>
                          </a:xfrm>
                          <a:prstGeom prst="rect">
                            <a:avLst/>
                          </a:prstGeom>
                          <a:noFill/>
                          <a:ln w="38100">
                            <a:noFill/>
                            <a:miter/>
                          </a:ln>
                        </p:spPr>
                      </p:pic>
                    </p:oleObj>
                  </mc:Fallback>
                </mc:AlternateContent>
              </a:graphicData>
            </a:graphic>
          </p:graphicFrame>
          <p:sp>
            <p:nvSpPr>
              <p:cNvPr id="73937" name="Rectangle 81"/>
              <p:cNvSpPr/>
              <p:nvPr/>
            </p:nvSpPr>
            <p:spPr>
              <a:xfrm>
                <a:off x="4812" y="2181"/>
                <a:ext cx="192" cy="183"/>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grpSp>
        <p:sp>
          <p:nvSpPr>
            <p:cNvPr id="73792" name="Line 82"/>
            <p:cNvSpPr/>
            <p:nvPr/>
          </p:nvSpPr>
          <p:spPr>
            <a:xfrm>
              <a:off x="4501" y="2894"/>
              <a:ext cx="0" cy="144"/>
            </a:xfrm>
            <a:prstGeom prst="line">
              <a:avLst/>
            </a:prstGeom>
            <a:ln w="12700" cap="flat" cmpd="sng">
              <a:solidFill>
                <a:schemeClr val="tx1"/>
              </a:solidFill>
              <a:prstDash val="solid"/>
              <a:headEnd type="none" w="med" len="med"/>
              <a:tailEnd type="none" w="med" len="med"/>
            </a:ln>
          </p:spPr>
        </p:sp>
        <p:grpSp>
          <p:nvGrpSpPr>
            <p:cNvPr id="73793" name="Group 83"/>
            <p:cNvGrpSpPr/>
            <p:nvPr/>
          </p:nvGrpSpPr>
          <p:grpSpPr>
            <a:xfrm>
              <a:off x="4955" y="2531"/>
              <a:ext cx="131" cy="258"/>
              <a:chOff x="4180" y="783"/>
              <a:chExt cx="150" cy="307"/>
            </a:xfrm>
          </p:grpSpPr>
          <p:sp>
            <p:nvSpPr>
              <p:cNvPr id="73928" name="AutoShape 84"/>
              <p:cNvSpPr/>
              <p:nvPr/>
            </p:nvSpPr>
            <p:spPr>
              <a:xfrm>
                <a:off x="4180" y="1019"/>
                <a:ext cx="150" cy="71"/>
              </a:xfrm>
              <a:prstGeom prst="parallelogram">
                <a:avLst>
                  <a:gd name="adj" fmla="val 81386"/>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29" name="Rectangle 85"/>
              <p:cNvSpPr/>
              <p:nvPr/>
            </p:nvSpPr>
            <p:spPr>
              <a:xfrm>
                <a:off x="4256" y="785"/>
                <a:ext cx="69" cy="236"/>
              </a:xfrm>
              <a:prstGeom prst="rect">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30" name="Rectangle 86"/>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31" name="AutoShape 87"/>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32" name="Line 88"/>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3933" name="Line 89"/>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3934" name="Rectangle 90"/>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35" name="Rectangle 91"/>
              <p:cNvSpPr/>
              <p:nvPr/>
            </p:nvSpPr>
            <p:spPr>
              <a:xfrm>
                <a:off x="4202" y="924"/>
                <a:ext cx="48" cy="48"/>
              </a:xfrm>
              <a:prstGeom prst="rect">
                <a:avLst/>
              </a:prstGeom>
              <a:solidFill>
                <a:schemeClr val="bg1"/>
              </a:solidFill>
              <a:ln w="9525">
                <a:noFill/>
              </a:ln>
            </p:spPr>
            <p:txBody>
              <a:bodyPr wrap="none" anchor="ctr" anchorCtr="0"/>
              <a:p>
                <a:endParaRPr lang="zh-CN" altLang="en-US" dirty="0">
                  <a:latin typeface="Times New Roman" panose="02020603050405020304" pitchFamily="18" charset="0"/>
                </a:endParaRPr>
              </a:p>
            </p:txBody>
          </p:sp>
        </p:grpSp>
        <p:grpSp>
          <p:nvGrpSpPr>
            <p:cNvPr id="73794" name="Group 92"/>
            <p:cNvGrpSpPr/>
            <p:nvPr/>
          </p:nvGrpSpPr>
          <p:grpSpPr>
            <a:xfrm>
              <a:off x="4947" y="2811"/>
              <a:ext cx="131" cy="258"/>
              <a:chOff x="4180" y="783"/>
              <a:chExt cx="150" cy="307"/>
            </a:xfrm>
          </p:grpSpPr>
          <p:sp>
            <p:nvSpPr>
              <p:cNvPr id="73920" name="AutoShape 93"/>
              <p:cNvSpPr/>
              <p:nvPr/>
            </p:nvSpPr>
            <p:spPr>
              <a:xfrm>
                <a:off x="4180" y="1019"/>
                <a:ext cx="150" cy="71"/>
              </a:xfrm>
              <a:prstGeom prst="parallelogram">
                <a:avLst>
                  <a:gd name="adj" fmla="val 81386"/>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21" name="Rectangle 94"/>
              <p:cNvSpPr/>
              <p:nvPr/>
            </p:nvSpPr>
            <p:spPr>
              <a:xfrm>
                <a:off x="4256" y="785"/>
                <a:ext cx="69" cy="236"/>
              </a:xfrm>
              <a:prstGeom prst="rect">
                <a:avLst/>
              </a:prstGeom>
              <a:solidFill>
                <a:srgbClr val="33CCCC"/>
              </a:solidFill>
              <a:ln w="9525">
                <a:noFill/>
              </a:ln>
            </p:spPr>
            <p:txBody>
              <a:bodyPr wrap="none" anchor="ctr" anchorCtr="0"/>
              <a:p>
                <a:endParaRPr lang="zh-CN" altLang="en-US" dirty="0">
                  <a:latin typeface="Times New Roman" panose="02020603050405020304" pitchFamily="18" charset="0"/>
                </a:endParaRPr>
              </a:p>
            </p:txBody>
          </p:sp>
          <p:sp>
            <p:nvSpPr>
              <p:cNvPr id="73922" name="Rectangle 95"/>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23" name="AutoShape 96"/>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24" name="Line 97"/>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3925" name="Line 98"/>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3926" name="Rectangle 99"/>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27" name="Rectangle 100"/>
              <p:cNvSpPr/>
              <p:nvPr/>
            </p:nvSpPr>
            <p:spPr>
              <a:xfrm>
                <a:off x="4202" y="924"/>
                <a:ext cx="48" cy="48"/>
              </a:xfrm>
              <a:prstGeom prst="rect">
                <a:avLst/>
              </a:prstGeom>
              <a:solidFill>
                <a:schemeClr val="bg1"/>
              </a:solidFill>
              <a:ln w="9525">
                <a:noFill/>
              </a:ln>
            </p:spPr>
            <p:txBody>
              <a:bodyPr wrap="none" anchor="ctr" anchorCtr="0"/>
              <a:p>
                <a:endParaRPr lang="zh-CN" altLang="en-US" dirty="0">
                  <a:latin typeface="Times New Roman" panose="02020603050405020304" pitchFamily="18" charset="0"/>
                </a:endParaRPr>
              </a:p>
            </p:txBody>
          </p:sp>
        </p:grpSp>
        <p:sp>
          <p:nvSpPr>
            <p:cNvPr id="73795" name="Line 101"/>
            <p:cNvSpPr/>
            <p:nvPr/>
          </p:nvSpPr>
          <p:spPr>
            <a:xfrm rot="5400000" flipH="1">
              <a:off x="4711" y="2766"/>
              <a:ext cx="385" cy="0"/>
            </a:xfrm>
            <a:prstGeom prst="line">
              <a:avLst/>
            </a:prstGeom>
            <a:ln w="12700" cap="flat" cmpd="sng">
              <a:solidFill>
                <a:schemeClr val="tx1"/>
              </a:solidFill>
              <a:prstDash val="solid"/>
              <a:headEnd type="none" w="med" len="med"/>
              <a:tailEnd type="none" w="med" len="med"/>
            </a:ln>
          </p:spPr>
        </p:sp>
        <p:sp>
          <p:nvSpPr>
            <p:cNvPr id="73796" name="Line 102"/>
            <p:cNvSpPr/>
            <p:nvPr/>
          </p:nvSpPr>
          <p:spPr>
            <a:xfrm rot="-5400000">
              <a:off x="4934" y="2925"/>
              <a:ext cx="0" cy="65"/>
            </a:xfrm>
            <a:prstGeom prst="line">
              <a:avLst/>
            </a:prstGeom>
            <a:ln w="12700" cap="flat" cmpd="sng">
              <a:solidFill>
                <a:schemeClr val="tx1"/>
              </a:solidFill>
              <a:prstDash val="solid"/>
              <a:headEnd type="none" w="med" len="med"/>
              <a:tailEnd type="none" w="med" len="med"/>
            </a:ln>
          </p:spPr>
        </p:sp>
        <p:sp>
          <p:nvSpPr>
            <p:cNvPr id="73797" name="Line 103"/>
            <p:cNvSpPr/>
            <p:nvPr/>
          </p:nvSpPr>
          <p:spPr>
            <a:xfrm rot="-5400000">
              <a:off x="4928" y="2630"/>
              <a:ext cx="0" cy="56"/>
            </a:xfrm>
            <a:prstGeom prst="line">
              <a:avLst/>
            </a:prstGeom>
            <a:ln w="12700" cap="flat" cmpd="sng">
              <a:solidFill>
                <a:schemeClr val="tx1"/>
              </a:solidFill>
              <a:prstDash val="solid"/>
              <a:headEnd type="none" w="med" len="med"/>
              <a:tailEnd type="none" w="med" len="med"/>
            </a:ln>
          </p:spPr>
        </p:sp>
        <p:sp>
          <p:nvSpPr>
            <p:cNvPr id="73798" name="Line 104"/>
            <p:cNvSpPr/>
            <p:nvPr/>
          </p:nvSpPr>
          <p:spPr>
            <a:xfrm flipV="1">
              <a:off x="4096" y="1459"/>
              <a:ext cx="289" cy="131"/>
            </a:xfrm>
            <a:prstGeom prst="line">
              <a:avLst/>
            </a:prstGeom>
            <a:ln w="12700" cap="flat" cmpd="sng">
              <a:solidFill>
                <a:schemeClr val="tx1"/>
              </a:solidFill>
              <a:prstDash val="solid"/>
              <a:headEnd type="none" w="med" len="med"/>
              <a:tailEnd type="none" w="med" len="med"/>
            </a:ln>
          </p:spPr>
        </p:sp>
        <p:sp>
          <p:nvSpPr>
            <p:cNvPr id="73799" name="Line 105"/>
            <p:cNvSpPr/>
            <p:nvPr/>
          </p:nvSpPr>
          <p:spPr>
            <a:xfrm>
              <a:off x="4685" y="1449"/>
              <a:ext cx="306" cy="131"/>
            </a:xfrm>
            <a:prstGeom prst="line">
              <a:avLst/>
            </a:prstGeom>
            <a:ln w="12700" cap="flat" cmpd="sng">
              <a:solidFill>
                <a:schemeClr val="tx1"/>
              </a:solidFill>
              <a:prstDash val="solid"/>
              <a:headEnd type="none" w="med" len="med"/>
              <a:tailEnd type="none" w="med" len="med"/>
            </a:ln>
          </p:spPr>
        </p:sp>
        <p:sp>
          <p:nvSpPr>
            <p:cNvPr id="73800" name="Line 106"/>
            <p:cNvSpPr/>
            <p:nvPr/>
          </p:nvSpPr>
          <p:spPr>
            <a:xfrm flipH="1">
              <a:off x="5012" y="1661"/>
              <a:ext cx="152" cy="429"/>
            </a:xfrm>
            <a:prstGeom prst="line">
              <a:avLst/>
            </a:prstGeom>
            <a:ln w="12700" cap="flat" cmpd="sng">
              <a:solidFill>
                <a:schemeClr val="tx1"/>
              </a:solidFill>
              <a:prstDash val="solid"/>
              <a:headEnd type="none" w="med" len="med"/>
              <a:tailEnd type="none" w="med" len="med"/>
            </a:ln>
          </p:spPr>
        </p:sp>
        <p:sp>
          <p:nvSpPr>
            <p:cNvPr id="73801" name="Line 107"/>
            <p:cNvSpPr/>
            <p:nvPr/>
          </p:nvSpPr>
          <p:spPr>
            <a:xfrm>
              <a:off x="4527" y="1520"/>
              <a:ext cx="0" cy="272"/>
            </a:xfrm>
            <a:prstGeom prst="line">
              <a:avLst/>
            </a:prstGeom>
            <a:ln w="12700" cap="flat" cmpd="sng">
              <a:solidFill>
                <a:schemeClr val="tx1"/>
              </a:solidFill>
              <a:prstDash val="solid"/>
              <a:headEnd type="none" w="med" len="med"/>
              <a:tailEnd type="none" w="med" len="med"/>
            </a:ln>
          </p:spPr>
        </p:sp>
        <p:sp>
          <p:nvSpPr>
            <p:cNvPr id="73802" name="Line 108"/>
            <p:cNvSpPr/>
            <p:nvPr/>
          </p:nvSpPr>
          <p:spPr>
            <a:xfrm>
              <a:off x="4543" y="1928"/>
              <a:ext cx="337" cy="232"/>
            </a:xfrm>
            <a:prstGeom prst="line">
              <a:avLst/>
            </a:prstGeom>
            <a:ln w="12700" cap="flat" cmpd="sng">
              <a:solidFill>
                <a:schemeClr val="tx1"/>
              </a:solidFill>
              <a:prstDash val="solid"/>
              <a:headEnd type="none" w="med" len="med"/>
              <a:tailEnd type="none" w="med" len="med"/>
            </a:ln>
          </p:spPr>
        </p:sp>
        <p:sp>
          <p:nvSpPr>
            <p:cNvPr id="73803" name="Line 109"/>
            <p:cNvSpPr/>
            <p:nvPr/>
          </p:nvSpPr>
          <p:spPr>
            <a:xfrm flipH="1">
              <a:off x="4833" y="2221"/>
              <a:ext cx="168" cy="227"/>
            </a:xfrm>
            <a:prstGeom prst="line">
              <a:avLst/>
            </a:prstGeom>
            <a:ln w="12700" cap="flat" cmpd="sng">
              <a:solidFill>
                <a:schemeClr val="tx1"/>
              </a:solidFill>
              <a:prstDash val="solid"/>
              <a:headEnd type="none" w="med" len="med"/>
              <a:tailEnd type="none" w="med" len="med"/>
            </a:ln>
          </p:spPr>
        </p:sp>
        <p:sp>
          <p:nvSpPr>
            <p:cNvPr id="73804" name="Line 110"/>
            <p:cNvSpPr/>
            <p:nvPr/>
          </p:nvSpPr>
          <p:spPr>
            <a:xfrm flipH="1">
              <a:off x="4690" y="1641"/>
              <a:ext cx="353" cy="242"/>
            </a:xfrm>
            <a:prstGeom prst="line">
              <a:avLst/>
            </a:prstGeom>
            <a:ln w="12700" cap="flat" cmpd="sng">
              <a:solidFill>
                <a:schemeClr val="tx1"/>
              </a:solidFill>
              <a:prstDash val="solid"/>
              <a:headEnd type="none" w="med" len="med"/>
              <a:tailEnd type="none" w="med" len="med"/>
            </a:ln>
          </p:spPr>
        </p:sp>
        <p:sp>
          <p:nvSpPr>
            <p:cNvPr id="73805" name="Line 111"/>
            <p:cNvSpPr/>
            <p:nvPr/>
          </p:nvSpPr>
          <p:spPr>
            <a:xfrm flipH="1">
              <a:off x="4696" y="1288"/>
              <a:ext cx="221" cy="161"/>
            </a:xfrm>
            <a:prstGeom prst="line">
              <a:avLst/>
            </a:prstGeom>
            <a:ln w="12700" cap="flat" cmpd="sng">
              <a:solidFill>
                <a:schemeClr val="tx1"/>
              </a:solidFill>
              <a:prstDash val="solid"/>
              <a:headEnd type="none" w="med" len="med"/>
              <a:tailEnd type="none" w="med" len="med"/>
            </a:ln>
          </p:spPr>
        </p:sp>
        <p:sp>
          <p:nvSpPr>
            <p:cNvPr id="73806" name="Line 112"/>
            <p:cNvSpPr/>
            <p:nvPr/>
          </p:nvSpPr>
          <p:spPr>
            <a:xfrm flipH="1">
              <a:off x="5148" y="1399"/>
              <a:ext cx="127" cy="111"/>
            </a:xfrm>
            <a:prstGeom prst="line">
              <a:avLst/>
            </a:prstGeom>
            <a:ln w="12700" cap="flat" cmpd="sng">
              <a:solidFill>
                <a:schemeClr val="tx1"/>
              </a:solidFill>
              <a:prstDash val="solid"/>
              <a:headEnd type="none" w="med" len="med"/>
              <a:tailEnd type="none" w="med" len="med"/>
            </a:ln>
          </p:spPr>
        </p:sp>
        <p:grpSp>
          <p:nvGrpSpPr>
            <p:cNvPr id="73807" name="Group 113"/>
            <p:cNvGrpSpPr/>
            <p:nvPr/>
          </p:nvGrpSpPr>
          <p:grpSpPr>
            <a:xfrm>
              <a:off x="3769" y="1520"/>
              <a:ext cx="316" cy="147"/>
              <a:chOff x="3600" y="219"/>
              <a:chExt cx="360" cy="175"/>
            </a:xfrm>
          </p:grpSpPr>
          <p:sp>
            <p:nvSpPr>
              <p:cNvPr id="73907" name="Oval 11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908" name="Line 1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909" name="Line 1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910" name="Rectangle 117"/>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911" name="Oval 11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912" name="Group 119"/>
              <p:cNvGrpSpPr/>
              <p:nvPr/>
            </p:nvGrpSpPr>
            <p:grpSpPr>
              <a:xfrm>
                <a:off x="3686" y="244"/>
                <a:ext cx="177" cy="66"/>
                <a:chOff x="2848" y="848"/>
                <a:chExt cx="140" cy="98"/>
              </a:xfrm>
            </p:grpSpPr>
            <p:sp>
              <p:nvSpPr>
                <p:cNvPr id="73917" name="Line 1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918" name="Line 1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919" name="Line 1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913" name="Group 123"/>
              <p:cNvGrpSpPr/>
              <p:nvPr/>
            </p:nvGrpSpPr>
            <p:grpSpPr>
              <a:xfrm flipV="1">
                <a:off x="3686" y="243"/>
                <a:ext cx="177" cy="66"/>
                <a:chOff x="2848" y="848"/>
                <a:chExt cx="140" cy="98"/>
              </a:xfrm>
            </p:grpSpPr>
            <p:sp>
              <p:nvSpPr>
                <p:cNvPr id="73914" name="Line 1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915" name="Line 1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916" name="Line 1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08" name="Group 127"/>
            <p:cNvGrpSpPr/>
            <p:nvPr/>
          </p:nvGrpSpPr>
          <p:grpSpPr>
            <a:xfrm>
              <a:off x="4369" y="1376"/>
              <a:ext cx="316" cy="147"/>
              <a:chOff x="3600" y="219"/>
              <a:chExt cx="360" cy="175"/>
            </a:xfrm>
          </p:grpSpPr>
          <p:sp>
            <p:nvSpPr>
              <p:cNvPr id="73894" name="Oval 12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95" name="Line 1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96" name="Line 1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97" name="Rectangle 131"/>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98" name="Oval 13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99" name="Group 133"/>
              <p:cNvGrpSpPr/>
              <p:nvPr/>
            </p:nvGrpSpPr>
            <p:grpSpPr>
              <a:xfrm>
                <a:off x="3686" y="244"/>
                <a:ext cx="177" cy="66"/>
                <a:chOff x="2848" y="848"/>
                <a:chExt cx="140" cy="98"/>
              </a:xfrm>
            </p:grpSpPr>
            <p:sp>
              <p:nvSpPr>
                <p:cNvPr id="73904" name="Line 1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905" name="Line 1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906" name="Line 1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900" name="Group 137"/>
              <p:cNvGrpSpPr/>
              <p:nvPr/>
            </p:nvGrpSpPr>
            <p:grpSpPr>
              <a:xfrm flipV="1">
                <a:off x="3686" y="243"/>
                <a:ext cx="177" cy="66"/>
                <a:chOff x="2848" y="848"/>
                <a:chExt cx="140" cy="98"/>
              </a:xfrm>
            </p:grpSpPr>
            <p:sp>
              <p:nvSpPr>
                <p:cNvPr id="73901" name="Line 1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902" name="Line 1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903" name="Line 1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09" name="Group 141"/>
            <p:cNvGrpSpPr/>
            <p:nvPr/>
          </p:nvGrpSpPr>
          <p:grpSpPr>
            <a:xfrm>
              <a:off x="4380" y="1790"/>
              <a:ext cx="316" cy="147"/>
              <a:chOff x="3600" y="219"/>
              <a:chExt cx="360" cy="175"/>
            </a:xfrm>
          </p:grpSpPr>
          <p:sp>
            <p:nvSpPr>
              <p:cNvPr id="73881" name="Oval 14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82" name="Line 1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83" name="Line 1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84" name="Rectangle 145"/>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85" name="Oval 14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86" name="Group 147"/>
              <p:cNvGrpSpPr/>
              <p:nvPr/>
            </p:nvGrpSpPr>
            <p:grpSpPr>
              <a:xfrm>
                <a:off x="3686" y="244"/>
                <a:ext cx="177" cy="66"/>
                <a:chOff x="2848" y="848"/>
                <a:chExt cx="140" cy="98"/>
              </a:xfrm>
            </p:grpSpPr>
            <p:sp>
              <p:nvSpPr>
                <p:cNvPr id="73891" name="Line 1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92" name="Line 1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93" name="Line 1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87" name="Group 151"/>
              <p:cNvGrpSpPr/>
              <p:nvPr/>
            </p:nvGrpSpPr>
            <p:grpSpPr>
              <a:xfrm flipV="1">
                <a:off x="3686" y="243"/>
                <a:ext cx="177" cy="66"/>
                <a:chOff x="2848" y="848"/>
                <a:chExt cx="140" cy="98"/>
              </a:xfrm>
            </p:grpSpPr>
            <p:sp>
              <p:nvSpPr>
                <p:cNvPr id="73888" name="Line 1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89" name="Line 1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90" name="Line 1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10" name="Group 155"/>
            <p:cNvGrpSpPr/>
            <p:nvPr/>
          </p:nvGrpSpPr>
          <p:grpSpPr>
            <a:xfrm>
              <a:off x="4991" y="1507"/>
              <a:ext cx="315" cy="147"/>
              <a:chOff x="3600" y="219"/>
              <a:chExt cx="360" cy="175"/>
            </a:xfrm>
          </p:grpSpPr>
          <p:sp>
            <p:nvSpPr>
              <p:cNvPr id="73868" name="Oval 15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69" name="Line 1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70" name="Line 1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71" name="Rectangle 159"/>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72" name="Oval 16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73" name="Group 161"/>
              <p:cNvGrpSpPr/>
              <p:nvPr/>
            </p:nvGrpSpPr>
            <p:grpSpPr>
              <a:xfrm>
                <a:off x="3686" y="244"/>
                <a:ext cx="177" cy="66"/>
                <a:chOff x="2848" y="848"/>
                <a:chExt cx="140" cy="98"/>
              </a:xfrm>
            </p:grpSpPr>
            <p:sp>
              <p:nvSpPr>
                <p:cNvPr id="73878" name="Line 1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79" name="Line 1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80" name="Line 1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74" name="Group 165"/>
              <p:cNvGrpSpPr/>
              <p:nvPr/>
            </p:nvGrpSpPr>
            <p:grpSpPr>
              <a:xfrm flipV="1">
                <a:off x="3686" y="243"/>
                <a:ext cx="177" cy="66"/>
                <a:chOff x="2848" y="848"/>
                <a:chExt cx="140" cy="98"/>
              </a:xfrm>
            </p:grpSpPr>
            <p:sp>
              <p:nvSpPr>
                <p:cNvPr id="73875" name="Line 1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76" name="Line 1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77" name="Line 1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11" name="Group 169"/>
            <p:cNvGrpSpPr/>
            <p:nvPr/>
          </p:nvGrpSpPr>
          <p:grpSpPr>
            <a:xfrm>
              <a:off x="4869" y="2072"/>
              <a:ext cx="316" cy="147"/>
              <a:chOff x="3600" y="219"/>
              <a:chExt cx="360" cy="175"/>
            </a:xfrm>
          </p:grpSpPr>
          <p:sp>
            <p:nvSpPr>
              <p:cNvPr id="73855" name="Oval 17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56" name="Line 1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57" name="Line 1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58" name="Rectangle 173"/>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59" name="Oval 17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60" name="Group 175"/>
              <p:cNvGrpSpPr/>
              <p:nvPr/>
            </p:nvGrpSpPr>
            <p:grpSpPr>
              <a:xfrm>
                <a:off x="3686" y="244"/>
                <a:ext cx="177" cy="66"/>
                <a:chOff x="2848" y="848"/>
                <a:chExt cx="140" cy="98"/>
              </a:xfrm>
            </p:grpSpPr>
            <p:sp>
              <p:nvSpPr>
                <p:cNvPr id="73865" name="Line 1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66" name="Line 1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67" name="Line 1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61" name="Group 179"/>
              <p:cNvGrpSpPr/>
              <p:nvPr/>
            </p:nvGrpSpPr>
            <p:grpSpPr>
              <a:xfrm flipV="1">
                <a:off x="3686" y="243"/>
                <a:ext cx="177" cy="66"/>
                <a:chOff x="2848" y="848"/>
                <a:chExt cx="140" cy="98"/>
              </a:xfrm>
            </p:grpSpPr>
            <p:sp>
              <p:nvSpPr>
                <p:cNvPr id="73862" name="Line 1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63" name="Line 1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64" name="Line 1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12" name="Group 183"/>
            <p:cNvGrpSpPr/>
            <p:nvPr/>
          </p:nvGrpSpPr>
          <p:grpSpPr>
            <a:xfrm>
              <a:off x="4659" y="2440"/>
              <a:ext cx="316" cy="148"/>
              <a:chOff x="3600" y="219"/>
              <a:chExt cx="360" cy="175"/>
            </a:xfrm>
          </p:grpSpPr>
          <p:sp>
            <p:nvSpPr>
              <p:cNvPr id="73842" name="Oval 18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43" name="Line 1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44" name="Line 1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45" name="Rectangle 187"/>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46" name="Oval 18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47" name="Group 189"/>
              <p:cNvGrpSpPr/>
              <p:nvPr/>
            </p:nvGrpSpPr>
            <p:grpSpPr>
              <a:xfrm>
                <a:off x="3686" y="244"/>
                <a:ext cx="177" cy="66"/>
                <a:chOff x="2848" y="848"/>
                <a:chExt cx="140" cy="98"/>
              </a:xfrm>
            </p:grpSpPr>
            <p:sp>
              <p:nvSpPr>
                <p:cNvPr id="73852" name="Line 1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53" name="Line 1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54" name="Line 1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48" name="Group 193"/>
              <p:cNvGrpSpPr/>
              <p:nvPr/>
            </p:nvGrpSpPr>
            <p:grpSpPr>
              <a:xfrm flipV="1">
                <a:off x="3686" y="243"/>
                <a:ext cx="177" cy="66"/>
                <a:chOff x="2848" y="848"/>
                <a:chExt cx="140" cy="98"/>
              </a:xfrm>
            </p:grpSpPr>
            <p:sp>
              <p:nvSpPr>
                <p:cNvPr id="73849" name="Line 1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50" name="Line 1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51" name="Line 1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13" name="Group 197"/>
            <p:cNvGrpSpPr/>
            <p:nvPr/>
          </p:nvGrpSpPr>
          <p:grpSpPr>
            <a:xfrm>
              <a:off x="4275" y="2748"/>
              <a:ext cx="315" cy="147"/>
              <a:chOff x="3600" y="219"/>
              <a:chExt cx="360" cy="175"/>
            </a:xfrm>
          </p:grpSpPr>
          <p:sp>
            <p:nvSpPr>
              <p:cNvPr id="73829" name="Oval 19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30" name="Line 19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31" name="Line 20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32" name="Rectangle 201"/>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33" name="Oval 20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34" name="Group 203"/>
              <p:cNvGrpSpPr/>
              <p:nvPr/>
            </p:nvGrpSpPr>
            <p:grpSpPr>
              <a:xfrm>
                <a:off x="3686" y="244"/>
                <a:ext cx="177" cy="66"/>
                <a:chOff x="2848" y="848"/>
                <a:chExt cx="140" cy="98"/>
              </a:xfrm>
            </p:grpSpPr>
            <p:sp>
              <p:nvSpPr>
                <p:cNvPr id="73839" name="Line 20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40" name="Line 20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41" name="Line 20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35" name="Group 207"/>
              <p:cNvGrpSpPr/>
              <p:nvPr/>
            </p:nvGrpSpPr>
            <p:grpSpPr>
              <a:xfrm flipV="1">
                <a:off x="3686" y="243"/>
                <a:ext cx="177" cy="66"/>
                <a:chOff x="2848" y="848"/>
                <a:chExt cx="140" cy="98"/>
              </a:xfrm>
            </p:grpSpPr>
            <p:sp>
              <p:nvSpPr>
                <p:cNvPr id="73836" name="Line 20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37" name="Line 20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38" name="Line 21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3814" name="Group 211"/>
            <p:cNvGrpSpPr/>
            <p:nvPr/>
          </p:nvGrpSpPr>
          <p:grpSpPr>
            <a:xfrm>
              <a:off x="3769" y="2511"/>
              <a:ext cx="316" cy="147"/>
              <a:chOff x="3600" y="219"/>
              <a:chExt cx="360" cy="175"/>
            </a:xfrm>
          </p:grpSpPr>
          <p:sp>
            <p:nvSpPr>
              <p:cNvPr id="73816" name="Oval 21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817" name="Line 21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818" name="Line 21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819" name="Rectangle 215"/>
              <p:cNvSpPr/>
              <p:nvPr/>
            </p:nvSpPr>
            <p:spPr>
              <a:xfrm>
                <a:off x="3603" y="289"/>
                <a:ext cx="354" cy="59"/>
              </a:xfrm>
              <a:prstGeom prst="rect">
                <a:avLst/>
              </a:prstGeom>
              <a:solidFill>
                <a:schemeClr val="hlink"/>
              </a:solidFill>
              <a:ln w="12700">
                <a:noFill/>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73820" name="Oval 21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73821" name="Group 217"/>
              <p:cNvGrpSpPr/>
              <p:nvPr/>
            </p:nvGrpSpPr>
            <p:grpSpPr>
              <a:xfrm>
                <a:off x="3686" y="244"/>
                <a:ext cx="177" cy="66"/>
                <a:chOff x="2848" y="848"/>
                <a:chExt cx="140" cy="98"/>
              </a:xfrm>
            </p:grpSpPr>
            <p:sp>
              <p:nvSpPr>
                <p:cNvPr id="73826" name="Line 21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27" name="Line 21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28" name="Line 22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822" name="Group 221"/>
              <p:cNvGrpSpPr/>
              <p:nvPr/>
            </p:nvGrpSpPr>
            <p:grpSpPr>
              <a:xfrm flipV="1">
                <a:off x="3686" y="243"/>
                <a:ext cx="177" cy="66"/>
                <a:chOff x="2848" y="848"/>
                <a:chExt cx="140" cy="98"/>
              </a:xfrm>
            </p:grpSpPr>
            <p:sp>
              <p:nvSpPr>
                <p:cNvPr id="73823" name="Line 2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24" name="Line 2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25" name="Line 2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73815" name="Line 225"/>
            <p:cNvSpPr/>
            <p:nvPr/>
          </p:nvSpPr>
          <p:spPr>
            <a:xfrm flipV="1">
              <a:off x="3930" y="2645"/>
              <a:ext cx="1" cy="157"/>
            </a:xfrm>
            <a:prstGeom prst="line">
              <a:avLst/>
            </a:prstGeom>
            <a:ln w="12700" cap="flat" cmpd="sng">
              <a:solidFill>
                <a:schemeClr val="tx1"/>
              </a:solidFill>
              <a:prstDash val="solid"/>
              <a:headEnd type="none" w="med" len="med"/>
              <a:tailEnd type="none" w="med" len="med"/>
            </a:ln>
          </p:spPr>
        </p:sp>
      </p:grpSp>
      <p:grpSp>
        <p:nvGrpSpPr>
          <p:cNvPr id="373987" name="Group 227"/>
          <p:cNvGrpSpPr/>
          <p:nvPr/>
        </p:nvGrpSpPr>
        <p:grpSpPr>
          <a:xfrm>
            <a:off x="2035175" y="1487488"/>
            <a:ext cx="1049338" cy="1339850"/>
            <a:chOff x="2938" y="2925"/>
            <a:chExt cx="513" cy="599"/>
          </a:xfrm>
        </p:grpSpPr>
        <p:sp>
          <p:nvSpPr>
            <p:cNvPr id="73752" name="Rectangle 228"/>
            <p:cNvSpPr/>
            <p:nvPr/>
          </p:nvSpPr>
          <p:spPr>
            <a:xfrm>
              <a:off x="3000" y="2925"/>
              <a:ext cx="426" cy="489"/>
            </a:xfrm>
            <a:prstGeom prst="rect">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53" name="Rectangle 229"/>
            <p:cNvSpPr/>
            <p:nvPr/>
          </p:nvSpPr>
          <p:spPr>
            <a:xfrm>
              <a:off x="2979" y="2940"/>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754" name="Rectangle 230"/>
            <p:cNvSpPr/>
            <p:nvPr/>
          </p:nvSpPr>
          <p:spPr>
            <a:xfrm>
              <a:off x="2982" y="2943"/>
              <a:ext cx="426" cy="126"/>
            </a:xfrm>
            <a:prstGeom prst="rect">
              <a:avLst/>
            </a:prstGeom>
            <a:solidFill>
              <a:srgbClr val="FF0000"/>
            </a:solidFill>
            <a:ln w="9525">
              <a:noFill/>
            </a:ln>
          </p:spPr>
          <p:txBody>
            <a:bodyPr wrap="none" anchor="ctr" anchorCtr="0"/>
            <a:p>
              <a:endParaRPr lang="zh-CN" altLang="en-US" dirty="0">
                <a:latin typeface="Times New Roman" panose="02020603050405020304" pitchFamily="18" charset="0"/>
              </a:endParaRPr>
            </a:p>
          </p:txBody>
        </p:sp>
        <p:sp>
          <p:nvSpPr>
            <p:cNvPr id="73755" name="Text Box 231"/>
            <p:cNvSpPr txBox="1"/>
            <p:nvPr/>
          </p:nvSpPr>
          <p:spPr>
            <a:xfrm>
              <a:off x="2938" y="2928"/>
              <a:ext cx="513" cy="596"/>
            </a:xfrm>
            <a:prstGeom prst="rect">
              <a:avLst/>
            </a:prstGeom>
            <a:noFill/>
            <a:ln w="9525">
              <a:noFill/>
            </a:ln>
          </p:spPr>
          <p:txBody>
            <a:bodyPr>
              <a:spAutoFit/>
            </a:bodyPr>
            <a:p>
              <a:r>
                <a:rPr lang="zh-CN" altLang="en-US" sz="1200" dirty="0">
                  <a:latin typeface="Times New Roman" panose="02020603050405020304" pitchFamily="18" charset="0"/>
                  <a:ea typeface="宋体" panose="02010600030101010101" pitchFamily="2" charset="-122"/>
                </a:rPr>
                <a:t>应用层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 运输层</a:t>
              </a:r>
              <a:r>
                <a:rPr lang="zh-CN" altLang="en-US" sz="1200" dirty="0">
                  <a:solidFill>
                    <a:schemeClr val="bg1"/>
                  </a:solidFill>
                  <a:latin typeface="Times New Roman" panose="02020603050405020304" pitchFamily="18" charset="0"/>
                  <a:ea typeface="宋体" panose="02010600030101010101" pitchFamily="2" charset="-122"/>
                </a:rPr>
                <a:t>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网络层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链路层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物理层</a:t>
              </a:r>
              <a:endParaRPr lang="zh-CN" altLang="en-US" sz="1200" dirty="0">
                <a:latin typeface="Times New Roman" panose="02020603050405020304" pitchFamily="18" charset="0"/>
                <a:ea typeface="宋体" panose="02010600030101010101" pitchFamily="2" charset="-122"/>
              </a:endParaRPr>
            </a:p>
            <a:p>
              <a:endParaRPr lang="en-US" altLang="zh-CN" sz="1200" dirty="0">
                <a:latin typeface="Times New Roman" panose="02020603050405020304" pitchFamily="18" charset="0"/>
                <a:ea typeface="宋体" panose="02010600030101010101" pitchFamily="2" charset="-122"/>
              </a:endParaRPr>
            </a:p>
          </p:txBody>
        </p:sp>
        <p:sp>
          <p:nvSpPr>
            <p:cNvPr id="73756" name="Line 232"/>
            <p:cNvSpPr/>
            <p:nvPr/>
          </p:nvSpPr>
          <p:spPr>
            <a:xfrm>
              <a:off x="2979" y="3156"/>
              <a:ext cx="435" cy="3"/>
            </a:xfrm>
            <a:prstGeom prst="line">
              <a:avLst/>
            </a:prstGeom>
            <a:ln w="12700" cap="flat" cmpd="sng">
              <a:solidFill>
                <a:schemeClr val="tx1"/>
              </a:solidFill>
              <a:prstDash val="solid"/>
              <a:headEnd type="none" w="med" len="med"/>
              <a:tailEnd type="none" w="med" len="med"/>
            </a:ln>
          </p:spPr>
        </p:sp>
        <p:sp>
          <p:nvSpPr>
            <p:cNvPr id="73757" name="Line 233"/>
            <p:cNvSpPr/>
            <p:nvPr/>
          </p:nvSpPr>
          <p:spPr>
            <a:xfrm>
              <a:off x="2985" y="3243"/>
              <a:ext cx="435" cy="3"/>
            </a:xfrm>
            <a:prstGeom prst="line">
              <a:avLst/>
            </a:prstGeom>
            <a:ln w="12700" cap="flat" cmpd="sng">
              <a:solidFill>
                <a:schemeClr val="tx1"/>
              </a:solidFill>
              <a:prstDash val="solid"/>
              <a:headEnd type="none" w="med" len="med"/>
              <a:tailEnd type="none" w="med" len="med"/>
            </a:ln>
          </p:spPr>
        </p:sp>
        <p:sp>
          <p:nvSpPr>
            <p:cNvPr id="73758" name="Line 234"/>
            <p:cNvSpPr/>
            <p:nvPr/>
          </p:nvSpPr>
          <p:spPr>
            <a:xfrm>
              <a:off x="2985" y="3330"/>
              <a:ext cx="435" cy="3"/>
            </a:xfrm>
            <a:prstGeom prst="line">
              <a:avLst/>
            </a:prstGeom>
            <a:ln w="12700" cap="flat" cmpd="sng">
              <a:solidFill>
                <a:schemeClr val="tx1"/>
              </a:solidFill>
              <a:prstDash val="solid"/>
              <a:headEnd type="none" w="med" len="med"/>
              <a:tailEnd type="none" w="med" len="med"/>
            </a:ln>
          </p:spPr>
        </p:sp>
      </p:grpSp>
      <p:sp>
        <p:nvSpPr>
          <p:cNvPr id="374011" name="Line 251"/>
          <p:cNvSpPr/>
          <p:nvPr/>
        </p:nvSpPr>
        <p:spPr>
          <a:xfrm>
            <a:off x="3046413" y="1624013"/>
            <a:ext cx="2822575" cy="3248025"/>
          </a:xfrm>
          <a:prstGeom prst="line">
            <a:avLst/>
          </a:prstGeom>
          <a:ln w="57150" cap="flat" cmpd="sng">
            <a:solidFill>
              <a:srgbClr val="FF0000"/>
            </a:solidFill>
            <a:prstDash val="solid"/>
            <a:headEnd type="triangle" w="med" len="med"/>
            <a:tailEnd type="triangle" w="med" len="med"/>
          </a:ln>
        </p:spPr>
      </p:sp>
      <p:sp>
        <p:nvSpPr>
          <p:cNvPr id="374012" name="Line 252"/>
          <p:cNvSpPr/>
          <p:nvPr/>
        </p:nvSpPr>
        <p:spPr>
          <a:xfrm flipV="1">
            <a:off x="3794125" y="4937125"/>
            <a:ext cx="2051050" cy="65088"/>
          </a:xfrm>
          <a:prstGeom prst="line">
            <a:avLst/>
          </a:prstGeom>
          <a:ln w="57150" cap="flat" cmpd="sng">
            <a:solidFill>
              <a:srgbClr val="FF0000"/>
            </a:solidFill>
            <a:prstDash val="solid"/>
            <a:headEnd type="triangle" w="med" len="med"/>
            <a:tailEnd type="triangle" w="med" len="med"/>
          </a:ln>
        </p:spPr>
      </p:sp>
      <p:grpSp>
        <p:nvGrpSpPr>
          <p:cNvPr id="374013" name="Group 253"/>
          <p:cNvGrpSpPr/>
          <p:nvPr/>
        </p:nvGrpSpPr>
        <p:grpSpPr>
          <a:xfrm>
            <a:off x="2720975" y="4789488"/>
            <a:ext cx="1049338" cy="1339850"/>
            <a:chOff x="2938" y="2925"/>
            <a:chExt cx="513" cy="599"/>
          </a:xfrm>
        </p:grpSpPr>
        <p:sp>
          <p:nvSpPr>
            <p:cNvPr id="73745" name="Rectangle 254"/>
            <p:cNvSpPr/>
            <p:nvPr/>
          </p:nvSpPr>
          <p:spPr>
            <a:xfrm>
              <a:off x="3000" y="2925"/>
              <a:ext cx="426" cy="489"/>
            </a:xfrm>
            <a:prstGeom prst="rect">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46" name="Rectangle 255"/>
            <p:cNvSpPr/>
            <p:nvPr/>
          </p:nvSpPr>
          <p:spPr>
            <a:xfrm>
              <a:off x="2979" y="2940"/>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747" name="Rectangle 256"/>
            <p:cNvSpPr/>
            <p:nvPr/>
          </p:nvSpPr>
          <p:spPr>
            <a:xfrm>
              <a:off x="2982" y="2943"/>
              <a:ext cx="426" cy="126"/>
            </a:xfrm>
            <a:prstGeom prst="rect">
              <a:avLst/>
            </a:prstGeom>
            <a:solidFill>
              <a:srgbClr val="FF0000"/>
            </a:solidFill>
            <a:ln w="9525">
              <a:noFill/>
            </a:ln>
          </p:spPr>
          <p:txBody>
            <a:bodyPr wrap="none" anchor="ctr" anchorCtr="0"/>
            <a:p>
              <a:endParaRPr lang="zh-CN" altLang="en-US" dirty="0">
                <a:latin typeface="Times New Roman" panose="02020603050405020304" pitchFamily="18" charset="0"/>
              </a:endParaRPr>
            </a:p>
          </p:txBody>
        </p:sp>
        <p:sp>
          <p:nvSpPr>
            <p:cNvPr id="73748" name="Text Box 257"/>
            <p:cNvSpPr txBox="1"/>
            <p:nvPr/>
          </p:nvSpPr>
          <p:spPr>
            <a:xfrm>
              <a:off x="2938" y="2928"/>
              <a:ext cx="513" cy="596"/>
            </a:xfrm>
            <a:prstGeom prst="rect">
              <a:avLst/>
            </a:prstGeom>
            <a:noFill/>
            <a:ln w="9525">
              <a:noFill/>
            </a:ln>
          </p:spPr>
          <p:txBody>
            <a:bodyPr>
              <a:spAutoFit/>
            </a:bodyPr>
            <a:p>
              <a:r>
                <a:rPr lang="zh-CN" altLang="en-US" sz="1200" dirty="0">
                  <a:latin typeface="Times New Roman" panose="02020603050405020304" pitchFamily="18" charset="0"/>
                  <a:ea typeface="宋体" panose="02010600030101010101" pitchFamily="2" charset="-122"/>
                </a:rPr>
                <a:t>应用层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 运输层</a:t>
              </a:r>
              <a:r>
                <a:rPr lang="zh-CN" altLang="en-US" sz="1200" dirty="0">
                  <a:solidFill>
                    <a:schemeClr val="bg1"/>
                  </a:solidFill>
                  <a:latin typeface="Times New Roman" panose="02020603050405020304" pitchFamily="18" charset="0"/>
                  <a:ea typeface="宋体" panose="02010600030101010101" pitchFamily="2" charset="-122"/>
                </a:rPr>
                <a:t>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网络层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链路层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物理层</a:t>
              </a:r>
              <a:endParaRPr lang="zh-CN" altLang="en-US" sz="1200" dirty="0">
                <a:latin typeface="Times New Roman" panose="02020603050405020304" pitchFamily="18" charset="0"/>
                <a:ea typeface="宋体" panose="02010600030101010101" pitchFamily="2" charset="-122"/>
              </a:endParaRPr>
            </a:p>
            <a:p>
              <a:endParaRPr lang="en-US" altLang="zh-CN" sz="1200" dirty="0">
                <a:latin typeface="Times New Roman" panose="02020603050405020304" pitchFamily="18" charset="0"/>
                <a:ea typeface="宋体" panose="02010600030101010101" pitchFamily="2" charset="-122"/>
              </a:endParaRPr>
            </a:p>
          </p:txBody>
        </p:sp>
        <p:sp>
          <p:nvSpPr>
            <p:cNvPr id="73749" name="Line 258"/>
            <p:cNvSpPr/>
            <p:nvPr/>
          </p:nvSpPr>
          <p:spPr>
            <a:xfrm>
              <a:off x="2979" y="3156"/>
              <a:ext cx="435" cy="3"/>
            </a:xfrm>
            <a:prstGeom prst="line">
              <a:avLst/>
            </a:prstGeom>
            <a:ln w="12700" cap="flat" cmpd="sng">
              <a:solidFill>
                <a:schemeClr val="tx1"/>
              </a:solidFill>
              <a:prstDash val="solid"/>
              <a:headEnd type="none" w="med" len="med"/>
              <a:tailEnd type="none" w="med" len="med"/>
            </a:ln>
          </p:spPr>
        </p:sp>
        <p:sp>
          <p:nvSpPr>
            <p:cNvPr id="73750" name="Line 259"/>
            <p:cNvSpPr/>
            <p:nvPr/>
          </p:nvSpPr>
          <p:spPr>
            <a:xfrm>
              <a:off x="2985" y="3243"/>
              <a:ext cx="435" cy="3"/>
            </a:xfrm>
            <a:prstGeom prst="line">
              <a:avLst/>
            </a:prstGeom>
            <a:ln w="12700" cap="flat" cmpd="sng">
              <a:solidFill>
                <a:schemeClr val="tx1"/>
              </a:solidFill>
              <a:prstDash val="solid"/>
              <a:headEnd type="none" w="med" len="med"/>
              <a:tailEnd type="none" w="med" len="med"/>
            </a:ln>
          </p:spPr>
        </p:sp>
        <p:sp>
          <p:nvSpPr>
            <p:cNvPr id="73751" name="Line 260"/>
            <p:cNvSpPr/>
            <p:nvPr/>
          </p:nvSpPr>
          <p:spPr>
            <a:xfrm>
              <a:off x="2985" y="3330"/>
              <a:ext cx="435" cy="3"/>
            </a:xfrm>
            <a:prstGeom prst="line">
              <a:avLst/>
            </a:prstGeom>
            <a:ln w="12700" cap="flat" cmpd="sng">
              <a:solidFill>
                <a:schemeClr val="tx1"/>
              </a:solidFill>
              <a:prstDash val="solid"/>
              <a:headEnd type="none" w="med" len="med"/>
              <a:tailEnd type="none" w="med" len="med"/>
            </a:ln>
          </p:spPr>
        </p:sp>
      </p:grpSp>
      <p:grpSp>
        <p:nvGrpSpPr>
          <p:cNvPr id="374021" name="Group 261"/>
          <p:cNvGrpSpPr/>
          <p:nvPr/>
        </p:nvGrpSpPr>
        <p:grpSpPr>
          <a:xfrm>
            <a:off x="5895975" y="4700588"/>
            <a:ext cx="1049338" cy="1339850"/>
            <a:chOff x="2938" y="2925"/>
            <a:chExt cx="513" cy="599"/>
          </a:xfrm>
        </p:grpSpPr>
        <p:sp>
          <p:nvSpPr>
            <p:cNvPr id="73738" name="Rectangle 262"/>
            <p:cNvSpPr/>
            <p:nvPr/>
          </p:nvSpPr>
          <p:spPr>
            <a:xfrm>
              <a:off x="3000" y="2925"/>
              <a:ext cx="426" cy="489"/>
            </a:xfrm>
            <a:prstGeom prst="rect">
              <a:avLst/>
            </a:prstGeom>
            <a:solidFill>
              <a:schemeClr val="accent2"/>
            </a:solidFill>
            <a:ln w="9525">
              <a:noFill/>
            </a:ln>
          </p:spPr>
          <p:txBody>
            <a:bodyPr wrap="none" anchor="ctr" anchorCtr="0"/>
            <a:p>
              <a:endParaRPr lang="zh-CN" altLang="en-US" dirty="0">
                <a:latin typeface="Times New Roman" panose="02020603050405020304" pitchFamily="18" charset="0"/>
              </a:endParaRPr>
            </a:p>
          </p:txBody>
        </p:sp>
        <p:sp>
          <p:nvSpPr>
            <p:cNvPr id="73739" name="Rectangle 263"/>
            <p:cNvSpPr/>
            <p:nvPr/>
          </p:nvSpPr>
          <p:spPr>
            <a:xfrm>
              <a:off x="2979" y="2940"/>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3740" name="Rectangle 264"/>
            <p:cNvSpPr/>
            <p:nvPr/>
          </p:nvSpPr>
          <p:spPr>
            <a:xfrm>
              <a:off x="2982" y="2943"/>
              <a:ext cx="426" cy="126"/>
            </a:xfrm>
            <a:prstGeom prst="rect">
              <a:avLst/>
            </a:prstGeom>
            <a:solidFill>
              <a:srgbClr val="FF0000"/>
            </a:solidFill>
            <a:ln w="9525">
              <a:noFill/>
            </a:ln>
          </p:spPr>
          <p:txBody>
            <a:bodyPr wrap="none" anchor="ctr" anchorCtr="0"/>
            <a:p>
              <a:endParaRPr lang="zh-CN" altLang="en-US" dirty="0">
                <a:latin typeface="Times New Roman" panose="02020603050405020304" pitchFamily="18" charset="0"/>
              </a:endParaRPr>
            </a:p>
          </p:txBody>
        </p:sp>
        <p:sp>
          <p:nvSpPr>
            <p:cNvPr id="73741" name="Text Box 265"/>
            <p:cNvSpPr txBox="1"/>
            <p:nvPr/>
          </p:nvSpPr>
          <p:spPr>
            <a:xfrm>
              <a:off x="2938" y="2928"/>
              <a:ext cx="513" cy="596"/>
            </a:xfrm>
            <a:prstGeom prst="rect">
              <a:avLst/>
            </a:prstGeom>
            <a:noFill/>
            <a:ln w="9525">
              <a:noFill/>
            </a:ln>
          </p:spPr>
          <p:txBody>
            <a:bodyPr>
              <a:spAutoFit/>
            </a:bodyPr>
            <a:p>
              <a:r>
                <a:rPr lang="zh-CN" altLang="en-US" sz="1200" dirty="0">
                  <a:latin typeface="Times New Roman" panose="02020603050405020304" pitchFamily="18" charset="0"/>
                  <a:ea typeface="宋体" panose="02010600030101010101" pitchFamily="2" charset="-122"/>
                </a:rPr>
                <a:t>应用层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 运输层</a:t>
              </a:r>
              <a:r>
                <a:rPr lang="zh-CN" altLang="en-US" sz="1200" dirty="0">
                  <a:solidFill>
                    <a:schemeClr val="bg1"/>
                  </a:solidFill>
                  <a:latin typeface="Times New Roman" panose="02020603050405020304" pitchFamily="18" charset="0"/>
                  <a:ea typeface="宋体" panose="02010600030101010101" pitchFamily="2" charset="-122"/>
                </a:rPr>
                <a:t>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网络层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链路层</a:t>
              </a:r>
              <a:endParaRPr lang="zh-CN" altLang="en-US" sz="1200" dirty="0">
                <a:latin typeface="Times New Roman" panose="02020603050405020304" pitchFamily="18" charset="0"/>
                <a:ea typeface="宋体" panose="02010600030101010101" pitchFamily="2" charset="-122"/>
              </a:endParaRPr>
            </a:p>
            <a:p>
              <a:r>
                <a:rPr lang="zh-CN" altLang="en-US" sz="1200" dirty="0">
                  <a:latin typeface="Times New Roman" panose="02020603050405020304" pitchFamily="18" charset="0"/>
                  <a:ea typeface="宋体" panose="02010600030101010101" pitchFamily="2" charset="-122"/>
                </a:rPr>
                <a:t>物理层</a:t>
              </a:r>
              <a:endParaRPr lang="zh-CN" altLang="en-US" sz="1200" dirty="0">
                <a:latin typeface="Times New Roman" panose="02020603050405020304" pitchFamily="18" charset="0"/>
                <a:ea typeface="宋体" panose="02010600030101010101" pitchFamily="2" charset="-122"/>
              </a:endParaRPr>
            </a:p>
            <a:p>
              <a:endParaRPr lang="en-US" altLang="zh-CN" sz="1200" dirty="0">
                <a:latin typeface="Times New Roman" panose="02020603050405020304" pitchFamily="18" charset="0"/>
                <a:ea typeface="宋体" panose="02010600030101010101" pitchFamily="2" charset="-122"/>
              </a:endParaRPr>
            </a:p>
          </p:txBody>
        </p:sp>
        <p:sp>
          <p:nvSpPr>
            <p:cNvPr id="73742" name="Line 266"/>
            <p:cNvSpPr/>
            <p:nvPr/>
          </p:nvSpPr>
          <p:spPr>
            <a:xfrm>
              <a:off x="2979" y="3156"/>
              <a:ext cx="435" cy="3"/>
            </a:xfrm>
            <a:prstGeom prst="line">
              <a:avLst/>
            </a:prstGeom>
            <a:ln w="12700" cap="flat" cmpd="sng">
              <a:solidFill>
                <a:schemeClr val="tx1"/>
              </a:solidFill>
              <a:prstDash val="solid"/>
              <a:headEnd type="none" w="med" len="med"/>
              <a:tailEnd type="none" w="med" len="med"/>
            </a:ln>
          </p:spPr>
        </p:sp>
        <p:sp>
          <p:nvSpPr>
            <p:cNvPr id="73743" name="Line 267"/>
            <p:cNvSpPr/>
            <p:nvPr/>
          </p:nvSpPr>
          <p:spPr>
            <a:xfrm>
              <a:off x="2985" y="3243"/>
              <a:ext cx="435" cy="3"/>
            </a:xfrm>
            <a:prstGeom prst="line">
              <a:avLst/>
            </a:prstGeom>
            <a:ln w="12700" cap="flat" cmpd="sng">
              <a:solidFill>
                <a:schemeClr val="tx1"/>
              </a:solidFill>
              <a:prstDash val="solid"/>
              <a:headEnd type="none" w="med" len="med"/>
              <a:tailEnd type="none" w="med" len="med"/>
            </a:ln>
          </p:spPr>
        </p:sp>
        <p:sp>
          <p:nvSpPr>
            <p:cNvPr id="73744" name="Line 268"/>
            <p:cNvSpPr/>
            <p:nvPr/>
          </p:nvSpPr>
          <p:spPr>
            <a:xfrm>
              <a:off x="2985" y="3330"/>
              <a:ext cx="435" cy="3"/>
            </a:xfrm>
            <a:prstGeom prst="line">
              <a:avLst/>
            </a:prstGeom>
            <a:ln w="12700" cap="flat" cmpd="sng">
              <a:solidFill>
                <a:schemeClr val="tx1"/>
              </a:solidFill>
              <a:prstDash val="solid"/>
              <a:headEnd type="none" w="med" len="med"/>
              <a:tailEnd type="none" w="med" len="med"/>
            </a:ln>
          </p:spPr>
        </p:sp>
      </p:grpSp>
      <p:sp>
        <p:nvSpPr>
          <p:cNvPr id="374030" name="AutoShape 270"/>
          <p:cNvSpPr/>
          <p:nvPr/>
        </p:nvSpPr>
        <p:spPr>
          <a:xfrm>
            <a:off x="2895600" y="393700"/>
            <a:ext cx="1803400" cy="584200"/>
          </a:xfrm>
          <a:prstGeom prst="wedgeRoundRectCallout">
            <a:avLst>
              <a:gd name="adj1" fmla="val -65579"/>
              <a:gd name="adj2" fmla="val 157065"/>
              <a:gd name="adj3" fmla="val 16667"/>
            </a:avLst>
          </a:prstGeom>
          <a:solidFill>
            <a:srgbClr val="FFFF00"/>
          </a:solidFill>
          <a:ln w="9525" cap="flat" cmpd="sng">
            <a:solidFill>
              <a:schemeClr val="tx1"/>
            </a:solidFill>
            <a:prstDash val="solid"/>
            <a:miter/>
            <a:headEnd type="none" w="med" len="med"/>
            <a:tailEnd type="none" w="med" len="med"/>
          </a:ln>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stStyle>
          <a:p>
            <a:pPr marL="342900" lvl="0" indent="-342900" algn="ctr">
              <a:spcBef>
                <a:spcPct val="20000"/>
              </a:spcBef>
              <a:buClrTx/>
              <a:buFontTx/>
              <a:buNone/>
            </a:pPr>
            <a:r>
              <a:rPr lang="zh-CN" altLang="en-US" sz="2400" dirty="0">
                <a:solidFill>
                  <a:srgbClr val="CC3300"/>
                </a:solidFill>
                <a:latin typeface="华文中宋" panose="02010600040101010101" pitchFamily="2" charset="-122"/>
                <a:ea typeface="华文中宋" panose="02010600040101010101" pitchFamily="2" charset="-122"/>
              </a:rPr>
              <a:t>应用程序</a:t>
            </a:r>
            <a:endParaRPr lang="zh-CN" altLang="en-US" sz="2400" dirty="0">
              <a:solidFill>
                <a:srgbClr val="CC3300"/>
              </a:solidFill>
              <a:latin typeface="华文中宋" panose="02010600040101010101" pitchFamily="2" charset="-122"/>
              <a:ea typeface="华文中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3987"/>
                                        </p:tgtEl>
                                        <p:attrNameLst>
                                          <p:attrName>style.visibility</p:attrName>
                                        </p:attrNameLst>
                                      </p:cBhvr>
                                      <p:to>
                                        <p:strVal val="visible"/>
                                      </p:to>
                                    </p:set>
                                    <p:animEffect transition="in" filter="dissolve">
                                      <p:cBhvr>
                                        <p:cTn id="7" dur="500"/>
                                        <p:tgtEl>
                                          <p:spTgt spid="373987"/>
                                        </p:tgtEl>
                                      </p:cBhvr>
                                    </p:animEffect>
                                  </p:childTnLst>
                                </p:cTn>
                              </p:par>
                              <p:par>
                                <p:cTn id="8" presetID="9" presetClass="entr" presetSubtype="0" fill="hold" nodeType="withEffect">
                                  <p:stCondLst>
                                    <p:cond delay="0"/>
                                  </p:stCondLst>
                                  <p:childTnLst>
                                    <p:set>
                                      <p:cBhvr>
                                        <p:cTn id="9" dur="1" fill="hold">
                                          <p:stCondLst>
                                            <p:cond delay="0"/>
                                          </p:stCondLst>
                                        </p:cTn>
                                        <p:tgtEl>
                                          <p:spTgt spid="374011"/>
                                        </p:tgtEl>
                                        <p:attrNameLst>
                                          <p:attrName>style.visibility</p:attrName>
                                        </p:attrNameLst>
                                      </p:cBhvr>
                                      <p:to>
                                        <p:strVal val="visible"/>
                                      </p:to>
                                    </p:set>
                                    <p:animEffect transition="in" filter="dissolve">
                                      <p:cBhvr>
                                        <p:cTn id="10" dur="500"/>
                                        <p:tgtEl>
                                          <p:spTgt spid="374011"/>
                                        </p:tgtEl>
                                      </p:cBhvr>
                                    </p:animEffect>
                                  </p:childTnLst>
                                </p:cTn>
                              </p:par>
                              <p:par>
                                <p:cTn id="11" presetID="9" presetClass="entr" presetSubtype="0" fill="hold" nodeType="withEffect">
                                  <p:stCondLst>
                                    <p:cond delay="0"/>
                                  </p:stCondLst>
                                  <p:childTnLst>
                                    <p:set>
                                      <p:cBhvr>
                                        <p:cTn id="12" dur="1" fill="hold">
                                          <p:stCondLst>
                                            <p:cond delay="0"/>
                                          </p:stCondLst>
                                        </p:cTn>
                                        <p:tgtEl>
                                          <p:spTgt spid="374012"/>
                                        </p:tgtEl>
                                        <p:attrNameLst>
                                          <p:attrName>style.visibility</p:attrName>
                                        </p:attrNameLst>
                                      </p:cBhvr>
                                      <p:to>
                                        <p:strVal val="visible"/>
                                      </p:to>
                                    </p:set>
                                    <p:animEffect transition="in" filter="dissolve">
                                      <p:cBhvr>
                                        <p:cTn id="13" dur="500"/>
                                        <p:tgtEl>
                                          <p:spTgt spid="374012"/>
                                        </p:tgtEl>
                                      </p:cBhvr>
                                    </p:animEffect>
                                  </p:childTnLst>
                                </p:cTn>
                              </p:par>
                              <p:par>
                                <p:cTn id="14" presetID="9" presetClass="entr" presetSubtype="0" fill="hold" nodeType="withEffect">
                                  <p:stCondLst>
                                    <p:cond delay="0"/>
                                  </p:stCondLst>
                                  <p:childTnLst>
                                    <p:set>
                                      <p:cBhvr>
                                        <p:cTn id="15" dur="1" fill="hold">
                                          <p:stCondLst>
                                            <p:cond delay="0"/>
                                          </p:stCondLst>
                                        </p:cTn>
                                        <p:tgtEl>
                                          <p:spTgt spid="374013"/>
                                        </p:tgtEl>
                                        <p:attrNameLst>
                                          <p:attrName>style.visibility</p:attrName>
                                        </p:attrNameLst>
                                      </p:cBhvr>
                                      <p:to>
                                        <p:strVal val="visible"/>
                                      </p:to>
                                    </p:set>
                                    <p:animEffect transition="in" filter="dissolve">
                                      <p:cBhvr>
                                        <p:cTn id="16" dur="500"/>
                                        <p:tgtEl>
                                          <p:spTgt spid="374013"/>
                                        </p:tgtEl>
                                      </p:cBhvr>
                                    </p:animEffect>
                                  </p:childTnLst>
                                </p:cTn>
                              </p:par>
                              <p:par>
                                <p:cTn id="17" presetID="9" presetClass="entr" presetSubtype="0" fill="hold" nodeType="withEffect">
                                  <p:stCondLst>
                                    <p:cond delay="0"/>
                                  </p:stCondLst>
                                  <p:childTnLst>
                                    <p:set>
                                      <p:cBhvr>
                                        <p:cTn id="18" dur="1" fill="hold">
                                          <p:stCondLst>
                                            <p:cond delay="0"/>
                                          </p:stCondLst>
                                        </p:cTn>
                                        <p:tgtEl>
                                          <p:spTgt spid="374021"/>
                                        </p:tgtEl>
                                        <p:attrNameLst>
                                          <p:attrName>style.visibility</p:attrName>
                                        </p:attrNameLst>
                                      </p:cBhvr>
                                      <p:to>
                                        <p:strVal val="visible"/>
                                      </p:to>
                                    </p:set>
                                    <p:animEffect transition="in" filter="dissolve">
                                      <p:cBhvr>
                                        <p:cTn id="19" dur="500"/>
                                        <p:tgtEl>
                                          <p:spTgt spid="37402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74030"/>
                                        </p:tgtEl>
                                        <p:attrNameLst>
                                          <p:attrName>style.visibility</p:attrName>
                                        </p:attrNameLst>
                                      </p:cBhvr>
                                      <p:to>
                                        <p:strVal val="visible"/>
                                      </p:to>
                                    </p:set>
                                    <p:animEffect transition="in" filter="dissolve">
                                      <p:cBhvr>
                                        <p:cTn id="24" dur="500"/>
                                        <p:tgtEl>
                                          <p:spTgt spid="374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03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3"/>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grpSp>
        <p:nvGrpSpPr>
          <p:cNvPr id="408580" name="Group 4"/>
          <p:cNvGrpSpPr/>
          <p:nvPr/>
        </p:nvGrpSpPr>
        <p:grpSpPr>
          <a:xfrm>
            <a:off x="2020888" y="1900238"/>
            <a:ext cx="4341812" cy="3519487"/>
            <a:chOff x="2913" y="1549"/>
            <a:chExt cx="2735" cy="2217"/>
          </a:xfrm>
        </p:grpSpPr>
        <p:sp>
          <p:nvSpPr>
            <p:cNvPr id="74756" name="Freeform 5"/>
            <p:cNvSpPr/>
            <p:nvPr/>
          </p:nvSpPr>
          <p:spPr>
            <a:xfrm>
              <a:off x="3760" y="2763"/>
              <a:ext cx="1139" cy="650"/>
            </a:xfrm>
            <a:custGeom>
              <a:avLst/>
              <a:gdLst/>
              <a:ahLst/>
              <a:cxnLst>
                <a:cxn ang="0">
                  <a:pos x="1" y="0"/>
                </a:cxn>
                <a:cxn ang="0">
                  <a:pos x="1" y="0"/>
                </a:cxn>
                <a:cxn ang="0">
                  <a:pos x="4" y="0"/>
                </a:cxn>
                <a:cxn ang="0">
                  <a:pos x="8" y="0"/>
                </a:cxn>
                <a:cxn ang="0">
                  <a:pos x="13" y="0"/>
                </a:cxn>
                <a:cxn ang="0">
                  <a:pos x="13" y="1"/>
                </a:cxn>
                <a:cxn ang="0">
                  <a:pos x="10" y="1"/>
                </a:cxn>
                <a:cxn ang="0">
                  <a:pos x="5" y="1"/>
                </a:cxn>
                <a:cxn ang="0">
                  <a:pos x="3" y="1"/>
                </a:cxn>
                <a:cxn ang="0">
                  <a:pos x="1" y="1"/>
                </a:cxn>
                <a:cxn ang="0">
                  <a:pos x="1" y="0"/>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alpha val="100000"/>
              </a:srgbClr>
            </a:solidFill>
            <a:ln w="9525">
              <a:noFill/>
            </a:ln>
          </p:spPr>
          <p:txBody>
            <a:bodyPr/>
            <a:p>
              <a:endParaRPr lang="zh-CN" altLang="en-US"/>
            </a:p>
          </p:txBody>
        </p:sp>
        <p:sp>
          <p:nvSpPr>
            <p:cNvPr id="74757" name="Text Box 6"/>
            <p:cNvSpPr txBox="1"/>
            <p:nvPr/>
          </p:nvSpPr>
          <p:spPr>
            <a:xfrm>
              <a:off x="3418" y="3478"/>
              <a:ext cx="116" cy="288"/>
            </a:xfrm>
            <a:prstGeom prst="rect">
              <a:avLst/>
            </a:prstGeom>
            <a:noFill/>
            <a:ln w="9525">
              <a:noFill/>
            </a:ln>
          </p:spPr>
          <p:txBody>
            <a:bodyPr wrap="none">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graphicFrame>
          <p:nvGraphicFramePr>
            <p:cNvPr id="74758" name="Object 7"/>
            <p:cNvGraphicFramePr>
              <a:graphicFrameLocks noChangeAspect="1"/>
            </p:cNvGraphicFramePr>
            <p:nvPr/>
          </p:nvGraphicFramePr>
          <p:xfrm>
            <a:off x="3096" y="1874"/>
            <a:ext cx="405" cy="321"/>
          </p:xfrm>
          <a:graphic>
            <a:graphicData uri="http://schemas.openxmlformats.org/presentationml/2006/ole">
              <mc:AlternateContent xmlns:mc="http://schemas.openxmlformats.org/markup-compatibility/2006">
                <mc:Choice xmlns:v="urn:schemas-microsoft-com:vml" Requires="v">
                  <p:oleObj spid="_x0000_s3094" name="" r:id="rId1" imgW="1307465" imgH="1083945" progId="MS_ClipArt_Gallery.2">
                    <p:embed/>
                  </p:oleObj>
                </mc:Choice>
                <mc:Fallback>
                  <p:oleObj name="" r:id="rId1" imgW="1307465" imgH="1083945" progId="MS_ClipArt_Gallery.2">
                    <p:embed/>
                    <p:pic>
                      <p:nvPicPr>
                        <p:cNvPr id="0" name="图片 3093"/>
                        <p:cNvPicPr/>
                        <p:nvPr/>
                      </p:nvPicPr>
                      <p:blipFill>
                        <a:blip r:embed="rId2"/>
                        <a:stretch>
                          <a:fillRect/>
                        </a:stretch>
                      </p:blipFill>
                      <p:spPr>
                        <a:xfrm>
                          <a:off x="3096" y="1874"/>
                          <a:ext cx="405" cy="321"/>
                        </a:xfrm>
                        <a:prstGeom prst="rect">
                          <a:avLst/>
                        </a:prstGeom>
                        <a:noFill/>
                        <a:ln w="38100">
                          <a:noFill/>
                          <a:miter/>
                        </a:ln>
                      </p:spPr>
                    </p:pic>
                  </p:oleObj>
                </mc:Fallback>
              </mc:AlternateContent>
            </a:graphicData>
          </a:graphic>
        </p:graphicFrame>
        <p:grpSp>
          <p:nvGrpSpPr>
            <p:cNvPr id="74759" name="Group 8"/>
            <p:cNvGrpSpPr/>
            <p:nvPr/>
          </p:nvGrpSpPr>
          <p:grpSpPr>
            <a:xfrm>
              <a:off x="2990" y="2201"/>
              <a:ext cx="669" cy="353"/>
              <a:chOff x="3046" y="1508"/>
              <a:chExt cx="669" cy="353"/>
            </a:xfrm>
          </p:grpSpPr>
          <p:sp>
            <p:nvSpPr>
              <p:cNvPr id="74783" name="Oval 9"/>
              <p:cNvSpPr/>
              <p:nvPr/>
            </p:nvSpPr>
            <p:spPr>
              <a:xfrm>
                <a:off x="3046" y="1508"/>
                <a:ext cx="669" cy="353"/>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4784" name="Text Box 10"/>
              <p:cNvSpPr txBox="1"/>
              <p:nvPr/>
            </p:nvSpPr>
            <p:spPr>
              <a:xfrm>
                <a:off x="3121" y="1570"/>
                <a:ext cx="372" cy="212"/>
              </a:xfrm>
              <a:prstGeom prst="rect">
                <a:avLst/>
              </a:prstGeom>
              <a:noFill/>
              <a:ln w="9525">
                <a:noFill/>
              </a:ln>
            </p:spPr>
            <p:txBody>
              <a:bodyPr wrap="none">
                <a:spAutoFit/>
              </a:bodyPr>
              <a:p>
                <a:r>
                  <a:rPr lang="zh-CN" altLang="en-US" sz="1600" dirty="0">
                    <a:latin typeface="Times New Roman" panose="02020603050405020304" pitchFamily="18" charset="0"/>
                    <a:ea typeface="宋体" panose="02010600030101010101" pitchFamily="2" charset="-122"/>
                  </a:rPr>
                  <a:t>进程</a:t>
                </a:r>
                <a:endParaRPr lang="zh-CN" altLang="en-US" sz="1600" dirty="0">
                  <a:latin typeface="Times New Roman" panose="02020603050405020304" pitchFamily="18" charset="0"/>
                  <a:ea typeface="宋体" panose="02010600030101010101" pitchFamily="2" charset="-122"/>
                </a:endParaRPr>
              </a:p>
            </p:txBody>
          </p:sp>
        </p:grpSp>
        <p:sp>
          <p:nvSpPr>
            <p:cNvPr id="74760" name="Rectangle 11"/>
            <p:cNvSpPr/>
            <p:nvPr/>
          </p:nvSpPr>
          <p:spPr>
            <a:xfrm>
              <a:off x="3018" y="2723"/>
              <a:ext cx="593" cy="63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4761" name="Text Box 12"/>
            <p:cNvSpPr txBox="1"/>
            <p:nvPr/>
          </p:nvSpPr>
          <p:spPr>
            <a:xfrm>
              <a:off x="3006" y="2762"/>
              <a:ext cx="606" cy="520"/>
            </a:xfrm>
            <a:prstGeom prst="rect">
              <a:avLst/>
            </a:prstGeom>
            <a:noFill/>
            <a:ln w="9525">
              <a:noFill/>
            </a:ln>
          </p:spPr>
          <p:txBody>
            <a:bodyPr>
              <a:spAutoFit/>
            </a:bodyPr>
            <a:p>
              <a:r>
                <a:rPr lang="zh-CN" altLang="en-US" sz="1600" dirty="0">
                  <a:latin typeface="Times New Roman" panose="02020603050405020304" pitchFamily="18" charset="0"/>
                  <a:ea typeface="宋体" panose="02010600030101010101" pitchFamily="2" charset="-122"/>
                </a:rPr>
                <a:t>具有缓存、变量的</a:t>
              </a:r>
              <a:r>
                <a:rPr lang="en-US" altLang="zh-CN" sz="1600" dirty="0">
                  <a:latin typeface="Times New Roman" panose="02020603050405020304" pitchFamily="18" charset="0"/>
                  <a:ea typeface="宋体" panose="02010600030101010101" pitchFamily="2" charset="-122"/>
                </a:rPr>
                <a:t>TCP</a:t>
              </a:r>
              <a:endParaRPr lang="en-US" altLang="zh-CN" sz="1600" dirty="0">
                <a:latin typeface="Times New Roman" panose="02020603050405020304" pitchFamily="18" charset="0"/>
                <a:ea typeface="宋体" panose="02010600030101010101" pitchFamily="2" charset="-122"/>
              </a:endParaRPr>
            </a:p>
          </p:txBody>
        </p:sp>
        <p:sp>
          <p:nvSpPr>
            <p:cNvPr id="74762" name="Rectangle 13"/>
            <p:cNvSpPr/>
            <p:nvPr/>
          </p:nvSpPr>
          <p:spPr>
            <a:xfrm>
              <a:off x="3111" y="2532"/>
              <a:ext cx="415" cy="20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1600" dirty="0">
                  <a:latin typeface="Times New Roman" panose="02020603050405020304" pitchFamily="18" charset="0"/>
                  <a:ea typeface="宋体" panose="02010600030101010101" pitchFamily="2" charset="-122"/>
                </a:rPr>
                <a:t>套接字</a:t>
              </a:r>
              <a:endParaRPr lang="zh-CN" altLang="en-US" sz="1600" dirty="0">
                <a:latin typeface="Times New Roman" panose="02020603050405020304" pitchFamily="18" charset="0"/>
                <a:ea typeface="宋体" panose="02010600030101010101" pitchFamily="2" charset="-122"/>
              </a:endParaRPr>
            </a:p>
          </p:txBody>
        </p:sp>
        <p:sp>
          <p:nvSpPr>
            <p:cNvPr id="74763" name="Line 14"/>
            <p:cNvSpPr/>
            <p:nvPr/>
          </p:nvSpPr>
          <p:spPr>
            <a:xfrm flipV="1">
              <a:off x="3318" y="2439"/>
              <a:ext cx="0" cy="131"/>
            </a:xfrm>
            <a:prstGeom prst="line">
              <a:avLst/>
            </a:prstGeom>
            <a:ln w="9525" cap="flat" cmpd="sng">
              <a:solidFill>
                <a:schemeClr val="tx1"/>
              </a:solidFill>
              <a:prstDash val="solid"/>
              <a:headEnd type="none" w="med" len="med"/>
              <a:tailEnd type="triangle" w="med" len="med"/>
            </a:ln>
          </p:spPr>
        </p:sp>
        <p:sp>
          <p:nvSpPr>
            <p:cNvPr id="74764" name="Line 15"/>
            <p:cNvSpPr/>
            <p:nvPr/>
          </p:nvSpPr>
          <p:spPr>
            <a:xfrm>
              <a:off x="3326" y="2701"/>
              <a:ext cx="0" cy="123"/>
            </a:xfrm>
            <a:prstGeom prst="line">
              <a:avLst/>
            </a:prstGeom>
            <a:ln w="9525" cap="flat" cmpd="sng">
              <a:solidFill>
                <a:schemeClr val="tx1"/>
              </a:solidFill>
              <a:prstDash val="solid"/>
              <a:headEnd type="none" w="med" len="med"/>
              <a:tailEnd type="triangle" w="med" len="med"/>
            </a:ln>
          </p:spPr>
        </p:sp>
        <p:sp>
          <p:nvSpPr>
            <p:cNvPr id="74765" name="Text Box 16"/>
            <p:cNvSpPr txBox="1"/>
            <p:nvPr/>
          </p:nvSpPr>
          <p:spPr>
            <a:xfrm>
              <a:off x="2913" y="1549"/>
              <a:ext cx="884" cy="212"/>
            </a:xfrm>
            <a:prstGeom prst="rect">
              <a:avLst/>
            </a:prstGeom>
            <a:noFill/>
            <a:ln w="9525">
              <a:noFill/>
            </a:ln>
          </p:spPr>
          <p:txBody>
            <a:bodyPr wrap="none">
              <a:spAutoFit/>
            </a:bodyPr>
            <a:p>
              <a:r>
                <a:rPr lang="zh-CN" altLang="en-US" sz="1600" dirty="0">
                  <a:latin typeface="Times New Roman" panose="02020603050405020304" pitchFamily="18" charset="0"/>
                  <a:ea typeface="宋体" panose="02010600030101010101" pitchFamily="2" charset="-122"/>
                </a:rPr>
                <a:t>主机或服务器</a:t>
              </a:r>
              <a:endParaRPr lang="en-US" altLang="zh-CN" sz="1600" dirty="0">
                <a:latin typeface="Times New Roman" panose="02020603050405020304" pitchFamily="18" charset="0"/>
                <a:ea typeface="宋体" panose="02010600030101010101" pitchFamily="2" charset="-122"/>
              </a:endParaRPr>
            </a:p>
          </p:txBody>
        </p:sp>
        <p:sp>
          <p:nvSpPr>
            <p:cNvPr id="74766" name="Text Box 17"/>
            <p:cNvSpPr txBox="1"/>
            <p:nvPr/>
          </p:nvSpPr>
          <p:spPr>
            <a:xfrm>
              <a:off x="5382" y="3450"/>
              <a:ext cx="116" cy="288"/>
            </a:xfrm>
            <a:prstGeom prst="rect">
              <a:avLst/>
            </a:prstGeom>
            <a:noFill/>
            <a:ln w="9525">
              <a:noFill/>
            </a:ln>
          </p:spPr>
          <p:txBody>
            <a:bodyPr wrap="none">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graphicFrame>
          <p:nvGraphicFramePr>
            <p:cNvPr id="74767" name="Object 18"/>
            <p:cNvGraphicFramePr>
              <a:graphicFrameLocks noChangeAspect="1"/>
            </p:cNvGraphicFramePr>
            <p:nvPr/>
          </p:nvGraphicFramePr>
          <p:xfrm>
            <a:off x="5060" y="1846"/>
            <a:ext cx="405" cy="321"/>
          </p:xfrm>
          <a:graphic>
            <a:graphicData uri="http://schemas.openxmlformats.org/presentationml/2006/ole">
              <mc:AlternateContent xmlns:mc="http://schemas.openxmlformats.org/markup-compatibility/2006">
                <mc:Choice xmlns:v="urn:schemas-microsoft-com:vml" Requires="v">
                  <p:oleObj spid="_x0000_s3093" name="" r:id="rId3" imgW="1307465" imgH="1083945" progId="MS_ClipArt_Gallery.2">
                    <p:embed/>
                  </p:oleObj>
                </mc:Choice>
                <mc:Fallback>
                  <p:oleObj name="" r:id="rId3" imgW="1307465" imgH="1083945" progId="MS_ClipArt_Gallery.2">
                    <p:embed/>
                    <p:pic>
                      <p:nvPicPr>
                        <p:cNvPr id="0" name="图片 3092"/>
                        <p:cNvPicPr/>
                        <p:nvPr/>
                      </p:nvPicPr>
                      <p:blipFill>
                        <a:blip r:embed="rId2"/>
                        <a:stretch>
                          <a:fillRect/>
                        </a:stretch>
                      </p:blipFill>
                      <p:spPr>
                        <a:xfrm>
                          <a:off x="5060" y="1846"/>
                          <a:ext cx="405" cy="321"/>
                        </a:xfrm>
                        <a:prstGeom prst="rect">
                          <a:avLst/>
                        </a:prstGeom>
                        <a:noFill/>
                        <a:ln w="38100">
                          <a:noFill/>
                          <a:miter/>
                        </a:ln>
                      </p:spPr>
                    </p:pic>
                  </p:oleObj>
                </mc:Fallback>
              </mc:AlternateContent>
            </a:graphicData>
          </a:graphic>
        </p:graphicFrame>
        <p:grpSp>
          <p:nvGrpSpPr>
            <p:cNvPr id="74768" name="Group 19"/>
            <p:cNvGrpSpPr/>
            <p:nvPr/>
          </p:nvGrpSpPr>
          <p:grpSpPr>
            <a:xfrm>
              <a:off x="4954" y="2173"/>
              <a:ext cx="669" cy="353"/>
              <a:chOff x="3046" y="1508"/>
              <a:chExt cx="669" cy="353"/>
            </a:xfrm>
          </p:grpSpPr>
          <p:sp>
            <p:nvSpPr>
              <p:cNvPr id="74781" name="Oval 20"/>
              <p:cNvSpPr/>
              <p:nvPr/>
            </p:nvSpPr>
            <p:spPr>
              <a:xfrm>
                <a:off x="3046" y="1508"/>
                <a:ext cx="669" cy="353"/>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4782" name="Text Box 21"/>
              <p:cNvSpPr txBox="1"/>
              <p:nvPr/>
            </p:nvSpPr>
            <p:spPr>
              <a:xfrm>
                <a:off x="3121" y="1570"/>
                <a:ext cx="372" cy="212"/>
              </a:xfrm>
              <a:prstGeom prst="rect">
                <a:avLst/>
              </a:prstGeom>
              <a:noFill/>
              <a:ln w="9525">
                <a:noFill/>
              </a:ln>
            </p:spPr>
            <p:txBody>
              <a:bodyPr wrap="none">
                <a:spAutoFit/>
              </a:bodyPr>
              <a:p>
                <a:r>
                  <a:rPr lang="zh-CN" altLang="en-US" sz="1600" dirty="0">
                    <a:latin typeface="Times New Roman" panose="02020603050405020304" pitchFamily="18" charset="0"/>
                    <a:ea typeface="宋体" panose="02010600030101010101" pitchFamily="2" charset="-122"/>
                  </a:rPr>
                  <a:t>进程</a:t>
                </a:r>
                <a:endParaRPr lang="zh-CN" altLang="en-US" sz="1600" dirty="0">
                  <a:latin typeface="Times New Roman" panose="02020603050405020304" pitchFamily="18" charset="0"/>
                  <a:ea typeface="宋体" panose="02010600030101010101" pitchFamily="2" charset="-122"/>
                </a:endParaRPr>
              </a:p>
            </p:txBody>
          </p:sp>
        </p:grpSp>
        <p:sp>
          <p:nvSpPr>
            <p:cNvPr id="74769" name="Rectangle 22"/>
            <p:cNvSpPr/>
            <p:nvPr/>
          </p:nvSpPr>
          <p:spPr>
            <a:xfrm>
              <a:off x="4982" y="2695"/>
              <a:ext cx="593" cy="63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4770" name="Text Box 23"/>
            <p:cNvSpPr txBox="1"/>
            <p:nvPr/>
          </p:nvSpPr>
          <p:spPr>
            <a:xfrm>
              <a:off x="4970" y="2734"/>
              <a:ext cx="632" cy="520"/>
            </a:xfrm>
            <a:prstGeom prst="rect">
              <a:avLst/>
            </a:prstGeom>
            <a:noFill/>
            <a:ln w="9525">
              <a:noFill/>
            </a:ln>
          </p:spPr>
          <p:txBody>
            <a:bodyPr>
              <a:spAutoFit/>
            </a:bodyPr>
            <a:p>
              <a:pPr eaLnBrk="1"/>
              <a:r>
                <a:rPr lang="zh-CN" altLang="en-US" sz="1600" dirty="0">
                  <a:latin typeface="Times New Roman" panose="02020603050405020304" pitchFamily="18" charset="0"/>
                  <a:ea typeface="宋体" panose="02010600030101010101" pitchFamily="2" charset="-122"/>
                </a:rPr>
                <a:t>具有缓存、变量的</a:t>
              </a:r>
              <a:r>
                <a:rPr lang="en-US" altLang="zh-CN" sz="1600" dirty="0">
                  <a:latin typeface="Times New Roman" panose="02020603050405020304" pitchFamily="18" charset="0"/>
                  <a:ea typeface="宋体" panose="02010600030101010101" pitchFamily="2" charset="-122"/>
                </a:rPr>
                <a:t>TCP</a:t>
              </a:r>
              <a:endParaRPr lang="en-US" altLang="zh-CN" sz="1600" dirty="0">
                <a:latin typeface="Times New Roman" panose="02020603050405020304" pitchFamily="18" charset="0"/>
                <a:ea typeface="宋体" panose="02010600030101010101" pitchFamily="2" charset="-122"/>
              </a:endParaRPr>
            </a:p>
          </p:txBody>
        </p:sp>
        <p:sp>
          <p:nvSpPr>
            <p:cNvPr id="74771" name="Rectangle 24"/>
            <p:cNvSpPr/>
            <p:nvPr/>
          </p:nvSpPr>
          <p:spPr>
            <a:xfrm>
              <a:off x="5075" y="2504"/>
              <a:ext cx="415" cy="20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r>
                <a:rPr lang="zh-CN" altLang="en-US" sz="1600" dirty="0">
                  <a:latin typeface="Times New Roman" panose="02020603050405020304" pitchFamily="18" charset="0"/>
                  <a:ea typeface="宋体" panose="02010600030101010101" pitchFamily="2" charset="-122"/>
                </a:rPr>
                <a:t>套接字</a:t>
              </a:r>
              <a:endParaRPr lang="zh-CN" altLang="en-US" sz="1600" dirty="0">
                <a:latin typeface="Times New Roman" panose="02020603050405020304" pitchFamily="18" charset="0"/>
                <a:ea typeface="宋体" panose="02010600030101010101" pitchFamily="2" charset="-122"/>
              </a:endParaRPr>
            </a:p>
          </p:txBody>
        </p:sp>
        <p:sp>
          <p:nvSpPr>
            <p:cNvPr id="74772" name="Line 25"/>
            <p:cNvSpPr/>
            <p:nvPr/>
          </p:nvSpPr>
          <p:spPr>
            <a:xfrm flipV="1">
              <a:off x="5282" y="2411"/>
              <a:ext cx="0" cy="131"/>
            </a:xfrm>
            <a:prstGeom prst="line">
              <a:avLst/>
            </a:prstGeom>
            <a:ln w="9525" cap="flat" cmpd="sng">
              <a:solidFill>
                <a:schemeClr val="tx1"/>
              </a:solidFill>
              <a:prstDash val="solid"/>
              <a:headEnd type="none" w="med" len="med"/>
              <a:tailEnd type="triangle" w="med" len="med"/>
            </a:ln>
          </p:spPr>
        </p:sp>
        <p:sp>
          <p:nvSpPr>
            <p:cNvPr id="74773" name="Line 26"/>
            <p:cNvSpPr/>
            <p:nvPr/>
          </p:nvSpPr>
          <p:spPr>
            <a:xfrm>
              <a:off x="5290" y="2673"/>
              <a:ext cx="0" cy="123"/>
            </a:xfrm>
            <a:prstGeom prst="line">
              <a:avLst/>
            </a:prstGeom>
            <a:ln w="9525" cap="flat" cmpd="sng">
              <a:solidFill>
                <a:schemeClr val="tx1"/>
              </a:solidFill>
              <a:prstDash val="solid"/>
              <a:headEnd type="none" w="med" len="med"/>
              <a:tailEnd type="triangle" w="med" len="med"/>
            </a:ln>
          </p:spPr>
        </p:sp>
        <p:sp>
          <p:nvSpPr>
            <p:cNvPr id="74774" name="Text Box 27"/>
            <p:cNvSpPr txBox="1"/>
            <p:nvPr/>
          </p:nvSpPr>
          <p:spPr>
            <a:xfrm>
              <a:off x="4764" y="1551"/>
              <a:ext cx="884" cy="212"/>
            </a:xfrm>
            <a:prstGeom prst="rect">
              <a:avLst/>
            </a:prstGeom>
            <a:noFill/>
            <a:ln w="9525">
              <a:noFill/>
            </a:ln>
          </p:spPr>
          <p:txBody>
            <a:bodyPr wrap="none">
              <a:spAutoFit/>
            </a:bodyPr>
            <a:p>
              <a:r>
                <a:rPr lang="zh-CN" altLang="en-US" sz="1600" dirty="0">
                  <a:latin typeface="Times New Roman" panose="02020603050405020304" pitchFamily="18" charset="0"/>
                  <a:ea typeface="宋体" panose="02010600030101010101" pitchFamily="2" charset="-122"/>
                </a:rPr>
                <a:t>主机或服务器</a:t>
              </a:r>
              <a:endParaRPr lang="en-US" altLang="zh-CN" sz="1600" dirty="0">
                <a:latin typeface="Times New Roman" panose="02020603050405020304" pitchFamily="18" charset="0"/>
                <a:ea typeface="宋体" panose="02010600030101010101" pitchFamily="2" charset="-122"/>
              </a:endParaRPr>
            </a:p>
          </p:txBody>
        </p:sp>
        <p:sp>
          <p:nvSpPr>
            <p:cNvPr id="74775" name="Text Box 28"/>
            <p:cNvSpPr txBox="1"/>
            <p:nvPr/>
          </p:nvSpPr>
          <p:spPr>
            <a:xfrm>
              <a:off x="4061" y="2838"/>
              <a:ext cx="500" cy="212"/>
            </a:xfrm>
            <a:prstGeom prst="rect">
              <a:avLst/>
            </a:prstGeom>
            <a:noFill/>
            <a:ln w="9525">
              <a:noFill/>
            </a:ln>
          </p:spPr>
          <p:txBody>
            <a:bodyPr wrap="none">
              <a:spAutoFit/>
            </a:bodyPr>
            <a:p>
              <a:r>
                <a:rPr lang="zh-CN" altLang="en-US" sz="1600" dirty="0">
                  <a:latin typeface="Times New Roman" panose="02020603050405020304" pitchFamily="18" charset="0"/>
                  <a:ea typeface="宋体" panose="02010600030101010101" pitchFamily="2" charset="-122"/>
                </a:rPr>
                <a:t>因特网</a:t>
              </a:r>
              <a:endParaRPr lang="zh-CN" altLang="en-US" sz="1600" dirty="0">
                <a:latin typeface="Times New Roman" panose="02020603050405020304" pitchFamily="18" charset="0"/>
                <a:ea typeface="宋体" panose="02010600030101010101" pitchFamily="2" charset="-122"/>
              </a:endParaRPr>
            </a:p>
          </p:txBody>
        </p:sp>
        <p:sp>
          <p:nvSpPr>
            <p:cNvPr id="74776" name="Line 29"/>
            <p:cNvSpPr/>
            <p:nvPr/>
          </p:nvSpPr>
          <p:spPr>
            <a:xfrm>
              <a:off x="3608" y="3105"/>
              <a:ext cx="1393" cy="0"/>
            </a:xfrm>
            <a:prstGeom prst="line">
              <a:avLst/>
            </a:prstGeom>
            <a:ln w="9525" cap="flat" cmpd="sng">
              <a:solidFill>
                <a:schemeClr val="tx1"/>
              </a:solidFill>
              <a:prstDash val="solid"/>
              <a:headEnd type="triangle" w="med" len="med"/>
              <a:tailEnd type="triangle" w="med" len="med"/>
            </a:ln>
          </p:spPr>
        </p:sp>
        <p:sp>
          <p:nvSpPr>
            <p:cNvPr id="74777" name="Text Box 30"/>
            <p:cNvSpPr txBox="1"/>
            <p:nvPr/>
          </p:nvSpPr>
          <p:spPr>
            <a:xfrm>
              <a:off x="3501" y="3476"/>
              <a:ext cx="1012" cy="212"/>
            </a:xfrm>
            <a:prstGeom prst="rect">
              <a:avLst/>
            </a:prstGeom>
            <a:noFill/>
            <a:ln w="9525">
              <a:noFill/>
            </a:ln>
          </p:spPr>
          <p:txBody>
            <a:bodyPr wrap="none">
              <a:spAutoFit/>
            </a:bodyPr>
            <a:p>
              <a:r>
                <a:rPr lang="zh-CN" altLang="en-US" sz="1600" dirty="0">
                  <a:solidFill>
                    <a:srgbClr val="FF0000"/>
                  </a:solidFill>
                  <a:latin typeface="Times New Roman" panose="02020603050405020304" pitchFamily="18" charset="0"/>
                  <a:ea typeface="宋体" panose="02010600030101010101" pitchFamily="2" charset="-122"/>
                </a:rPr>
                <a:t>由操作系统控制</a:t>
              </a:r>
              <a:endParaRPr lang="zh-CN" altLang="en-US" sz="1600" dirty="0">
                <a:latin typeface="Times New Roman" panose="02020603050405020304" pitchFamily="18" charset="0"/>
                <a:ea typeface="宋体" panose="02010600030101010101" pitchFamily="2" charset="-122"/>
              </a:endParaRPr>
            </a:p>
          </p:txBody>
        </p:sp>
        <p:sp>
          <p:nvSpPr>
            <p:cNvPr id="74778" name="Line 31"/>
            <p:cNvSpPr/>
            <p:nvPr/>
          </p:nvSpPr>
          <p:spPr>
            <a:xfrm flipH="1" flipV="1">
              <a:off x="3470" y="3344"/>
              <a:ext cx="154" cy="200"/>
            </a:xfrm>
            <a:prstGeom prst="line">
              <a:avLst/>
            </a:prstGeom>
            <a:ln w="9525" cap="flat" cmpd="sng">
              <a:solidFill>
                <a:srgbClr val="FF0000"/>
              </a:solidFill>
              <a:prstDash val="solid"/>
              <a:headEnd type="none" w="med" len="med"/>
              <a:tailEnd type="triangle" w="med" len="med"/>
            </a:ln>
          </p:spPr>
        </p:sp>
        <p:sp>
          <p:nvSpPr>
            <p:cNvPr id="74779" name="Text Box 32"/>
            <p:cNvSpPr txBox="1"/>
            <p:nvPr/>
          </p:nvSpPr>
          <p:spPr>
            <a:xfrm>
              <a:off x="3745" y="1989"/>
              <a:ext cx="1140" cy="212"/>
            </a:xfrm>
            <a:prstGeom prst="rect">
              <a:avLst/>
            </a:prstGeom>
            <a:noFill/>
            <a:ln w="9525">
              <a:noFill/>
            </a:ln>
          </p:spPr>
          <p:txBody>
            <a:bodyPr wrap="none">
              <a:spAutoFit/>
            </a:bodyPr>
            <a:p>
              <a:r>
                <a:rPr lang="zh-CN" altLang="en-US" sz="1600" dirty="0">
                  <a:solidFill>
                    <a:srgbClr val="FF0000"/>
                  </a:solidFill>
                  <a:latin typeface="Times New Roman" panose="02020603050405020304" pitchFamily="18" charset="0"/>
                  <a:ea typeface="宋体" panose="02010600030101010101" pitchFamily="2" charset="-122"/>
                </a:rPr>
                <a:t>由应用研发者控制</a:t>
              </a:r>
              <a:endParaRPr lang="en-US" altLang="zh-CN" sz="1600" dirty="0">
                <a:latin typeface="Times New Roman" panose="02020603050405020304" pitchFamily="18" charset="0"/>
                <a:ea typeface="宋体" panose="02010600030101010101" pitchFamily="2" charset="-122"/>
              </a:endParaRPr>
            </a:p>
          </p:txBody>
        </p:sp>
        <p:sp>
          <p:nvSpPr>
            <p:cNvPr id="74780" name="Line 33"/>
            <p:cNvSpPr/>
            <p:nvPr/>
          </p:nvSpPr>
          <p:spPr>
            <a:xfrm flipH="1">
              <a:off x="3601" y="2175"/>
              <a:ext cx="138" cy="84"/>
            </a:xfrm>
            <a:prstGeom prst="line">
              <a:avLst/>
            </a:prstGeom>
            <a:ln w="9525" cap="flat" cmpd="sng">
              <a:solidFill>
                <a:srgbClr val="FF0000"/>
              </a:solidFill>
              <a:prstDash val="solid"/>
              <a:headEnd type="none" w="med" len="med"/>
              <a:tailEnd type="triangle" w="med" len="med"/>
            </a:ln>
          </p:spPr>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08580"/>
                                        </p:tgtEl>
                                        <p:attrNameLst>
                                          <p:attrName>style.visibility</p:attrName>
                                        </p:attrNameLst>
                                      </p:cBhvr>
                                      <p:to>
                                        <p:strVal val="visible"/>
                                      </p:to>
                                    </p:set>
                                    <p:animEffect transition="in" filter="box(in)">
                                      <p:cBhvr>
                                        <p:cTn id="7" dur="500"/>
                                        <p:tgtEl>
                                          <p:spTgt spid="408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0739" name="Rectangle 3"/>
          <p:cNvSpPr>
            <a:spLocks noGrp="1" noChangeArrowheads="1"/>
          </p:cNvSpPr>
          <p:nvPr>
            <p:ph idx="1"/>
          </p:nvPr>
        </p:nvSpPr>
        <p:spPr>
          <a:xfrm>
            <a:off x="325438" y="1989138"/>
            <a:ext cx="8361363" cy="4679950"/>
          </a:xfrm>
        </p:spPr>
        <p:txBody>
          <a:bodyPr vert="horz" wrap="square" lIns="91440" tIns="45720" rIns="91440" bIns="45720" numCol="1" anchor="t" anchorCtr="0" compatLnSpc="1"/>
          <a:lstStyle/>
          <a:p>
            <a:pPr marL="533400" marR="0" lvl="0" indent="-533400" algn="l" defTabSz="914400" rtl="0" eaLnBrk="1" fontAlgn="base" latinLnBrk="0" hangingPunct="1">
              <a:lnSpc>
                <a:spcPct val="110000"/>
              </a:lnSpc>
              <a:spcBef>
                <a:spcPts val="300"/>
              </a:spcBef>
              <a:spcAft>
                <a:spcPts val="600"/>
              </a:spcAft>
              <a:buClr>
                <a:srgbClr val="A04DA3"/>
              </a:buClr>
              <a:buSzTx/>
              <a:buFont typeface="ZapfDingbats" pitchFamily="82" charset="2"/>
              <a:buAutoNum type="arabicPeriod"/>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简述应用程序体系结构三种类型的特点。</a:t>
            </a:r>
            <a:endParaRPr kumimoji="0" lang="en-US" altLang="zh-CN" sz="2000" b="1" i="0" u="none" strike="noStrike" kern="1200" cap="none" spc="0" normalizeH="0" baseline="0" noProof="0" dirty="0">
              <a:ln>
                <a:noFill/>
              </a:ln>
              <a:solidFill>
                <a:schemeClr val="tx1"/>
              </a:solidFill>
              <a:effectLst/>
              <a:uLnTx/>
              <a:uFillTx/>
              <a:latin typeface="+mj-ea"/>
              <a:ea typeface="+mj-ea"/>
              <a:cs typeface="+mn-cs"/>
            </a:endParaRPr>
          </a:p>
          <a:p>
            <a:pPr marL="533400" marR="0" lvl="0" indent="-533400" algn="l" defTabSz="914400" rtl="0" eaLnBrk="1" fontAlgn="base" latinLnBrk="0" hangingPunct="1">
              <a:lnSpc>
                <a:spcPct val="110000"/>
              </a:lnSpc>
              <a:spcBef>
                <a:spcPts val="300"/>
              </a:spcBef>
              <a:spcAft>
                <a:spcPts val="600"/>
              </a:spcAft>
              <a:buClr>
                <a:srgbClr val="A04DA3"/>
              </a:buClr>
              <a:buSzTx/>
              <a:buFont typeface="ZapfDingbats" pitchFamily="82" charset="2"/>
              <a:buAutoNum type="arabicPeriod"/>
              <a:defRPr/>
            </a:pPr>
            <a:r>
              <a:rPr kumimoji="0" lang="zh-CN" altLang="en-US" sz="2000" b="1" i="0" u="none" strike="noStrike" kern="1200" cap="none" spc="0" normalizeH="0" baseline="0" noProof="0" dirty="0">
                <a:ln>
                  <a:noFill/>
                </a:ln>
                <a:solidFill>
                  <a:schemeClr val="tx1"/>
                </a:solidFill>
                <a:effectLst/>
                <a:uLnTx/>
                <a:uFillTx/>
                <a:latin typeface="+mj-ea"/>
                <a:ea typeface="+mj-ea"/>
                <a:cs typeface="+mn-cs"/>
              </a:rPr>
              <a:t>什么是套接字、用户代理和</a:t>
            </a:r>
            <a:r>
              <a:rPr kumimoji="0" lang="en-US" altLang="zh-CN" sz="2000" b="1" i="0" u="none" strike="noStrike" kern="1200" cap="none" spc="0" normalizeH="0" baseline="0" noProof="0" dirty="0">
                <a:ln>
                  <a:noFill/>
                </a:ln>
                <a:solidFill>
                  <a:schemeClr val="tx1"/>
                </a:solidFill>
                <a:effectLst/>
                <a:uLnTx/>
                <a:uFillTx/>
                <a:latin typeface="+mj-ea"/>
                <a:ea typeface="+mj-ea"/>
                <a:cs typeface="+mn-cs"/>
              </a:rPr>
              <a:t>Web</a:t>
            </a:r>
            <a:r>
              <a:rPr kumimoji="0" lang="zh-CN" altLang="en-US" sz="2000" b="1" i="0" u="none" strike="noStrike" kern="1200" cap="none" spc="0" normalizeH="0" baseline="0" noProof="0" dirty="0">
                <a:ln>
                  <a:noFill/>
                </a:ln>
                <a:solidFill>
                  <a:schemeClr val="tx1"/>
                </a:solidFill>
                <a:effectLst/>
                <a:uLnTx/>
                <a:uFillTx/>
                <a:latin typeface="+mj-ea"/>
                <a:ea typeface="+mj-ea"/>
                <a:cs typeface="+mn-cs"/>
              </a:rPr>
              <a:t>缓存？简述用户进程和套接字的关系。</a:t>
            </a:r>
            <a:endParaRPr kumimoji="0" lang="zh-CN" altLang="en-US" sz="2000" b="1" i="0" u="none" strike="noStrike" kern="1200" cap="none" spc="0" normalizeH="0" baseline="0" noProof="0" dirty="0">
              <a:ln>
                <a:noFill/>
              </a:ln>
              <a:solidFill>
                <a:schemeClr val="tx1"/>
              </a:solidFill>
              <a:effectLst/>
              <a:uLnTx/>
              <a:uFillTx/>
              <a:latin typeface="+mj-ea"/>
              <a:ea typeface="+mj-ea"/>
              <a:cs typeface="+mn-cs"/>
            </a:endParaRPr>
          </a:p>
        </p:txBody>
      </p:sp>
      <p:sp>
        <p:nvSpPr>
          <p:cNvPr id="75779" name="灯片编号占位符 5"/>
          <p:cNvSpPr txBox="1">
            <a:spLocks noGrp="1"/>
          </p:cNvSpPr>
          <p:nvPr>
            <p:ph type="sldNum" sz="quarter" idx="4"/>
          </p:nvPr>
        </p:nvSpPr>
        <p:spPr>
          <a:xfrm>
            <a:off x="8174038" y="1588"/>
            <a:ext cx="762000" cy="366712"/>
          </a:xfrm>
          <a:noFill/>
          <a:ln>
            <a:noFill/>
          </a:ln>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隶书" panose="02010509060101010101" pitchFamily="49" charset="-122"/>
                <a:cs typeface="+mn-cs"/>
              </a:defRPr>
            </a:lvl5pPr>
          </a:lstStyle>
          <a:p>
            <a:pPr lvl="0" algn="r" eaLnBrk="1" hangingPunct="1"/>
            <a:fld id="{9A0DB2DC-4C9A-4742-B13C-FB6460FD3503}" type="slidenum">
              <a:rPr lang="zh-CN" altLang="en-US" sz="1800" dirty="0">
                <a:solidFill>
                  <a:srgbClr val="FFFFFF"/>
                </a:solidFill>
              </a:rPr>
            </a:fld>
            <a:endParaRPr lang="zh-CN" altLang="en-US" sz="1800" dirty="0">
              <a:solidFill>
                <a:srgbClr val="FFFFFF"/>
              </a:solidFill>
            </a:endParaRPr>
          </a:p>
        </p:txBody>
      </p:sp>
    </p:spTree>
  </p:cSld>
  <p:clrMapOvr>
    <a:masterClrMapping/>
  </p:clrMapOvr>
  <p:transition>
    <p:random/>
  </p:transition>
</p:sld>
</file>

<file path=ppt/tags/tag1.xml><?xml version="1.0" encoding="utf-8"?>
<p:tagLst xmlns:p="http://schemas.openxmlformats.org/presentationml/2006/main">
  <p:tag name="commondata" val="eyJoZGlkIjoiYTczNWJhY2ZkOGFjYmRmNzk2NmEyN2U3YWY1OTEzNDg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语言程序设计V4">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中山大学ppt模板</Template>
  <TotalTime>0</TotalTime>
  <Words>8554</Words>
  <Application>WPS 演示</Application>
  <PresentationFormat/>
  <Paragraphs>769</Paragraphs>
  <Slides>39</Slides>
  <Notes>25</Notes>
  <HiddenSlides>0</HiddenSlides>
  <MMClips>0</MMClips>
  <ScaleCrop>false</ScaleCrop>
  <HeadingPairs>
    <vt:vector size="10" baseType="variant">
      <vt:variant>
        <vt:lpstr>已用的字体</vt:lpstr>
      </vt:variant>
      <vt:variant>
        <vt:i4>22</vt:i4>
      </vt:variant>
      <vt:variant>
        <vt:lpstr>主题</vt:lpstr>
      </vt:variant>
      <vt:variant>
        <vt:i4>1</vt:i4>
      </vt:variant>
      <vt:variant>
        <vt:lpstr>嵌入 OLE 服务器</vt:lpstr>
      </vt:variant>
      <vt:variant>
        <vt:i4>19</vt:i4>
      </vt:variant>
      <vt:variant>
        <vt:lpstr>幻灯片标题</vt:lpstr>
      </vt:variant>
      <vt:variant>
        <vt:i4>39</vt:i4>
      </vt:variant>
      <vt:variant>
        <vt:lpstr>自定义放映</vt:lpstr>
      </vt:variant>
      <vt:variant>
        <vt:i4>36</vt:i4>
      </vt:variant>
    </vt:vector>
  </HeadingPairs>
  <TitlesOfParts>
    <vt:vector size="117" baseType="lpstr">
      <vt:lpstr>Arial</vt:lpstr>
      <vt:lpstr>宋体</vt:lpstr>
      <vt:lpstr>Wingdings</vt:lpstr>
      <vt:lpstr>Times New Roman</vt:lpstr>
      <vt:lpstr>隶书</vt:lpstr>
      <vt:lpstr>Arial Black</vt:lpstr>
      <vt:lpstr>微软雅黑</vt:lpstr>
      <vt:lpstr>黑体</vt:lpstr>
      <vt:lpstr>Georgia</vt:lpstr>
      <vt:lpstr>Wingdings 2</vt:lpstr>
      <vt:lpstr>ZapfDingbats</vt:lpstr>
      <vt:lpstr>Comic Sans MS</vt:lpstr>
      <vt:lpstr>华文中宋</vt:lpstr>
      <vt:lpstr>Courier New</vt:lpstr>
      <vt:lpstr>Symbol</vt:lpstr>
      <vt:lpstr>微软雅黑 (标题)</vt:lpstr>
      <vt:lpstr>楷体_GB2312</vt:lpstr>
      <vt:lpstr>等线 Light</vt:lpstr>
      <vt:lpstr>Trebuchet MS</vt:lpstr>
      <vt:lpstr>方正姚体</vt:lpstr>
      <vt:lpstr>Georgia</vt:lpstr>
      <vt:lpstr>Arial Unicode MS</vt:lpstr>
      <vt:lpstr>C++语言程序设计V4</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自定义放映2-1</vt:lpstr>
      <vt:lpstr>自定义放映11</vt:lpstr>
      <vt:lpstr>自定义放映12</vt:lpstr>
      <vt:lpstr>自定义放映13</vt:lpstr>
      <vt:lpstr>自定义放映1</vt:lpstr>
      <vt:lpstr>自定义放映14</vt:lpstr>
      <vt:lpstr>自定义放映15</vt:lpstr>
      <vt:lpstr>2-3</vt:lpstr>
      <vt:lpstr>自定义放映21</vt:lpstr>
      <vt:lpstr>自定义放映2</vt:lpstr>
      <vt:lpstr>自定义放映22</vt:lpstr>
      <vt:lpstr>自定义放映23</vt:lpstr>
      <vt:lpstr>cookie</vt:lpstr>
      <vt:lpstr>自定义放映24</vt:lpstr>
      <vt:lpstr>自定义放映25</vt:lpstr>
      <vt:lpstr>自定义放映26</vt:lpstr>
      <vt:lpstr>自定义放映27</vt:lpstr>
      <vt:lpstr>自定义放映3</vt:lpstr>
      <vt:lpstr>自定义放41</vt:lpstr>
      <vt:lpstr>自定义放映43</vt:lpstr>
      <vt:lpstr>自定义放映42</vt:lpstr>
      <vt:lpstr>自定义放映44</vt:lpstr>
      <vt:lpstr>自定义放映4</vt:lpstr>
      <vt:lpstr>自定义放映5</vt:lpstr>
      <vt:lpstr>2-6例</vt:lpstr>
      <vt:lpstr>25-1</vt:lpstr>
      <vt:lpstr>25-2</vt:lpstr>
      <vt:lpstr>自定义放映61</vt:lpstr>
      <vt:lpstr>自定义放映62</vt:lpstr>
      <vt:lpstr>自定义放映63</vt:lpstr>
      <vt:lpstr>自定义放映6</vt:lpstr>
      <vt:lpstr>t28</vt:lpstr>
      <vt:lpstr>自定义放映7</vt:lpstr>
      <vt:lpstr>自定义放映8</vt:lpstr>
      <vt:lpstr>t18</vt:lpstr>
      <vt:lpstr>自定义放映10</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应用层</dc:title>
  <dc:creator/>
  <cp:lastModifiedBy>微信用户</cp:lastModifiedBy>
  <cp:revision>371</cp:revision>
  <dcterms:created xsi:type="dcterms:W3CDTF">1999-10-08T19:08:27Z</dcterms:created>
  <dcterms:modified xsi:type="dcterms:W3CDTF">2024-03-25T15:51:57Z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8FF33E45D78E4CF390256A3D2312863E_12</vt:lpwstr>
  </property>
  <property fmtid="{D5CDD505-2E9C-101B-9397-08002B2CF9AE}" pid="3" name="KSOProductBuildVer">
    <vt:lpwstr>2052-12.1.0.16364</vt:lpwstr>
  </property>
</Properties>
</file>