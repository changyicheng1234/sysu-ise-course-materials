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1" r:id="rId2"/>
    <p:sldId id="3774" r:id="rId3"/>
    <p:sldId id="3572" r:id="rId4"/>
    <p:sldId id="3573" r:id="rId5"/>
    <p:sldId id="3574" r:id="rId6"/>
    <p:sldId id="3575" r:id="rId7"/>
    <p:sldId id="3576" r:id="rId8"/>
    <p:sldId id="3577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82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358A67-106F-44C2-94C8-82E1D232A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0352C3-4E81-47D7-B554-42FFA313B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FAC30C-A100-4CA6-A6AB-6A43B9E74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C96-3182-421C-AAED-7F59DA28F257}" type="datetimeFigureOut">
              <a:rPr lang="zh-CN" altLang="en-US" smtClean="0"/>
              <a:t>2023/08/31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6DF355-5271-48A8-9FC5-30FB18957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A2176A-B97A-4C51-B697-843D7EB03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053A-5EC5-48C0-9527-DFE1C4923B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754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2B8A2D-5DB7-4AFB-91BD-2A6EF9FB3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FC08EA-59A2-48DE-A618-1035E126C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E2E2F3-B0B3-431E-9B56-B6E19C37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C96-3182-421C-AAED-7F59DA28F257}" type="datetimeFigureOut">
              <a:rPr lang="zh-CN" altLang="en-US" smtClean="0"/>
              <a:t>2023/08/31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E99DAA-75AF-420B-8FDD-167700A6B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3BD3E5-268C-4CD5-8B17-7271D46F1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053A-5EC5-48C0-9527-DFE1C4923B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544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5C0EEB-8F8F-448E-95B3-939C9B50E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8DA232-13F4-4340-95CE-B32E47006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20A77E-DEED-444A-90EE-0BD5CC644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C96-3182-421C-AAED-7F59DA28F257}" type="datetimeFigureOut">
              <a:rPr lang="zh-CN" altLang="en-US" smtClean="0"/>
              <a:t>2023/08/31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7EC28A-5770-48F4-B8B8-2822207BB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26E390-CF62-4DDF-B40F-9FEB162BD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053A-5EC5-48C0-9527-DFE1C4923B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180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B5CDD9-99CD-4029-A479-0B0BD25F5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72DF62-CB63-4915-A75B-DB4C87EDD4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41E057-6C84-4818-9B46-4B0E51B8D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AC0278-D0F4-4D77-AC39-EE344476A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C96-3182-421C-AAED-7F59DA28F257}" type="datetimeFigureOut">
              <a:rPr lang="zh-CN" altLang="en-US" smtClean="0"/>
              <a:t>2023/08/31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9249EA-FA67-4FDE-8976-BC47AC938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880AA3-A2B7-4962-8DE4-F33D99B1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053A-5EC5-48C0-9527-DFE1C4923B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7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949BA8-3FAB-4E54-99BE-18861AE91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896AC5-4FE6-470B-9C12-2F8F99AE2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82B24A-E588-49F7-BC8B-CA4BE3693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EDC634F-3C0F-4225-BB89-5DDB523600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D4A7F3-9CF0-4EF5-B7D7-986496BD78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609AEE-E064-4E88-82FF-2C802D656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C96-3182-421C-AAED-7F59DA28F257}" type="datetimeFigureOut">
              <a:rPr lang="zh-CN" altLang="en-US" smtClean="0"/>
              <a:t>2023/08/31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A3ACFD-04B9-4767-B8F9-3F66CEF5C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525F223-42CB-45D3-9C17-E48EF5ACB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053A-5EC5-48C0-9527-DFE1C4923B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664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FEC91-AD0E-4C96-BED3-E4EBB16B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1C1A14-A27F-4F3C-8A89-BDFF52A43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C96-3182-421C-AAED-7F59DA28F257}" type="datetimeFigureOut">
              <a:rPr lang="zh-CN" altLang="en-US" smtClean="0"/>
              <a:t>2023/08/31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0342029-098B-4A31-B301-520A53AE9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FA4580-8AE1-4EC4-AD37-B27EECF01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053A-5EC5-48C0-9527-DFE1C4923B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126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0AA0B9-DEAE-40DD-89F1-FF08DBE93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C96-3182-421C-AAED-7F59DA28F257}" type="datetimeFigureOut">
              <a:rPr lang="zh-CN" altLang="en-US" smtClean="0"/>
              <a:t>2023/08/31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964EBE5-21A9-47EB-A579-834AE895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0BF91A-F728-4CE9-8322-3BD294313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053A-5EC5-48C0-9527-DFE1C4923B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793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84A672-C677-42BD-AD3E-20CD907C6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27AC39-3D27-4A65-8C37-64540382C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EA7D64-9789-40E5-B1D5-56D08393C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B37EFE-DBF9-4F17-9661-31060CCAE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C96-3182-421C-AAED-7F59DA28F257}" type="datetimeFigureOut">
              <a:rPr lang="zh-CN" altLang="en-US" smtClean="0"/>
              <a:t>2023/08/31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D1D1E2-BB89-4EB3-B576-8D9FE27E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D16CBA-0C8F-4F07-8ADB-521C5A3D6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053A-5EC5-48C0-9527-DFE1C4923B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947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A2009-A6B8-4885-B369-83FAD777D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3243F30-3F7B-4D22-B144-F27E7A04E1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7339D7-F395-444A-8127-4A87043E3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FF1614-E996-4746-9578-0BB48C587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C96-3182-421C-AAED-7F59DA28F257}" type="datetimeFigureOut">
              <a:rPr lang="zh-CN" altLang="en-US" smtClean="0"/>
              <a:t>2023/08/31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F83036-6693-4969-93B3-6E19DCF7D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112F17-AA2E-45FB-8058-932E81CB6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053A-5EC5-48C0-9527-DFE1C4923B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519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A0A72C-3D21-4894-BC04-5B360A69E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C0AB54-EDD7-42EC-8B0B-E9D972484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249908-02FE-4A4D-ABAB-5C4FB379F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C96-3182-421C-AAED-7F59DA28F257}" type="datetimeFigureOut">
              <a:rPr lang="zh-CN" altLang="en-US" smtClean="0"/>
              <a:t>2023/08/31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4FAA5D-BE88-415F-8B29-C8E2784DD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0F8CDC-0381-404E-9FDA-A6EC7EB90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053A-5EC5-48C0-9527-DFE1C4923B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041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D9DB970-35BE-42B7-B78C-C7BBE22018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D43CFA-1FA7-4652-8866-D32687DB9A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191F83-541A-4394-8753-3D6F5521D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C96-3182-421C-AAED-7F59DA28F257}" type="datetimeFigureOut">
              <a:rPr lang="zh-CN" altLang="en-US" smtClean="0"/>
              <a:t>2023/08/31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9ADEED-35FA-41BC-9AAD-DEBCEC1BD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7385D0-B0F1-4AD8-90D6-5C4FEE53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053A-5EC5-48C0-9527-DFE1C4923B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146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50E426-867E-4411-8540-E73C1F300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1BEA48-CD14-415D-B814-E0BAA10F2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A9BBAD-EBD8-45C7-9E2A-D06F4A65C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35C96-3182-421C-AAED-7F59DA28F257}" type="datetimeFigureOut">
              <a:rPr lang="zh-CN" altLang="en-US" smtClean="0"/>
              <a:t>2023/08/31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BE2E32-D5F6-463C-A128-EDD23ABB5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E01971-B361-45B2-8B82-81733ABD8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2053A-5EC5-48C0-9527-DFE1C4923B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01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18" Type="http://schemas.openxmlformats.org/officeDocument/2006/relationships/image" Target="../media/image7.wmf"/><Relationship Id="rId3" Type="http://schemas.openxmlformats.org/officeDocument/2006/relationships/image" Target="../media/image9.png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.bin"/><Relationship Id="rId20" Type="http://schemas.openxmlformats.org/officeDocument/2006/relationships/image" Target="../media/image8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10" Type="http://schemas.openxmlformats.org/officeDocument/2006/relationships/oleObject" Target="../embeddings/oleObject4.bin"/><Relationship Id="rId19" Type="http://schemas.openxmlformats.org/officeDocument/2006/relationships/oleObject" Target="../embeddings/oleObject9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0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5999252" y="1857678"/>
            <a:ext cx="193496" cy="336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81" tIns="47891" rIns="95781" bIns="47891" anchor="ctr">
            <a:spAutoFit/>
          </a:bodyPr>
          <a:lstStyle>
            <a:lvl1pPr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Aft>
                <a:spcPct val="0"/>
              </a:spcAft>
              <a:defRPr/>
            </a:pPr>
            <a:endParaRPr lang="zh-CN" altLang="en-US">
              <a:solidFill>
                <a:srgbClr val="0066CC"/>
              </a:solidFill>
            </a:endParaRPr>
          </a:p>
        </p:txBody>
      </p: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5999252" y="3076878"/>
            <a:ext cx="193496" cy="336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81" tIns="47891" rIns="95781" bIns="47891" anchor="ctr">
            <a:spAutoFit/>
          </a:bodyPr>
          <a:lstStyle>
            <a:lvl1pPr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Aft>
                <a:spcPct val="0"/>
              </a:spcAft>
              <a:defRPr/>
            </a:pPr>
            <a:endParaRPr lang="zh-CN" altLang="en-US">
              <a:solidFill>
                <a:srgbClr val="0066CC"/>
              </a:solidFill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EB332ACD-FE27-4A33-B628-06F24F53D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1875" y="894192"/>
            <a:ext cx="9282113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indent="0" eaLnBrk="0" fontAlgn="base" hangingPunct="0">
              <a:spcAft>
                <a:spcPct val="0"/>
              </a:spcAft>
              <a:buClrTx/>
              <a:buSzPct val="100000"/>
              <a:buNone/>
              <a:defRPr/>
            </a:pPr>
            <a:r>
              <a:rPr lang="en-US" altLang="zh-CN" b="1" dirty="0">
                <a:solidFill>
                  <a:srgbClr val="002060"/>
                </a:solidFill>
              </a:rPr>
              <a:t>2. </a:t>
            </a:r>
            <a:r>
              <a:rPr lang="zh-CN" altLang="en-US" b="1" dirty="0">
                <a:solidFill>
                  <a:srgbClr val="002060"/>
                </a:solidFill>
              </a:rPr>
              <a:t>单关节</a:t>
            </a:r>
            <a:r>
              <a:rPr lang="en-US" altLang="zh-CN" b="1" dirty="0">
                <a:solidFill>
                  <a:srgbClr val="002060"/>
                </a:solidFill>
              </a:rPr>
              <a:t>PID </a:t>
            </a:r>
            <a:r>
              <a:rPr lang="zh-CN" altLang="en-US" b="1" dirty="0">
                <a:solidFill>
                  <a:srgbClr val="002060"/>
                </a:solidFill>
              </a:rPr>
              <a:t>控制律（控制方程、控制模型）</a:t>
            </a:r>
            <a:r>
              <a:rPr lang="zh-CN" altLang="en-US" b="1" dirty="0">
                <a:solidFill>
                  <a:srgbClr val="FF0000"/>
                </a:solidFill>
              </a:rPr>
              <a:t>（运动学控制）</a:t>
            </a:r>
          </a:p>
        </p:txBody>
      </p:sp>
      <p:pic>
        <p:nvPicPr>
          <p:cNvPr id="18" name="图片 1">
            <a:extLst>
              <a:ext uri="{FF2B5EF4-FFF2-40B4-BE49-F238E27FC236}">
                <a16:creationId xmlns:a16="http://schemas.microsoft.com/office/drawing/2014/main" id="{DC41B5D9-6C73-4C3F-9C13-54439DCBF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446" y="3024832"/>
            <a:ext cx="8947075" cy="3614582"/>
          </a:xfrm>
          <a:prstGeom prst="rect">
            <a:avLst/>
          </a:prstGeom>
        </p:spPr>
      </p:pic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14D695A9-795B-4DDE-B7DB-71431167F9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2236" y="4663741"/>
          <a:ext cx="879093" cy="549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380880" imgH="241200" progId="Equation.DSMT4">
                  <p:embed/>
                </p:oleObj>
              </mc:Choice>
              <mc:Fallback>
                <p:oleObj name="Equation" r:id="rId4" imgW="380880" imgH="24120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14D695A9-795B-4DDE-B7DB-71431167F9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2236" y="4663741"/>
                        <a:ext cx="879093" cy="5492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8">
            <a:extLst>
              <a:ext uri="{FF2B5EF4-FFF2-40B4-BE49-F238E27FC236}">
                <a16:creationId xmlns:a16="http://schemas.microsoft.com/office/drawing/2014/main" id="{7BFE8A7E-FC94-4303-8A9A-D922193C9E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1090" y="3661517"/>
          <a:ext cx="630238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6" imgW="215640" imgH="203040" progId="Equation.DSMT4">
                  <p:embed/>
                </p:oleObj>
              </mc:Choice>
              <mc:Fallback>
                <p:oleObj name="Equation" r:id="rId6" imgW="215640" imgH="203040" progId="Equation.DSMT4">
                  <p:embed/>
                  <p:pic>
                    <p:nvPicPr>
                      <p:cNvPr id="20" name="Object 18">
                        <a:extLst>
                          <a:ext uri="{FF2B5EF4-FFF2-40B4-BE49-F238E27FC236}">
                            <a16:creationId xmlns:a16="http://schemas.microsoft.com/office/drawing/2014/main" id="{7BFE8A7E-FC94-4303-8A9A-D922193C9E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1090" y="3661517"/>
                        <a:ext cx="630238" cy="585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8">
            <a:extLst>
              <a:ext uri="{FF2B5EF4-FFF2-40B4-BE49-F238E27FC236}">
                <a16:creationId xmlns:a16="http://schemas.microsoft.com/office/drawing/2014/main" id="{F98E44CF-A5C6-4F6E-9FF9-1628B2006B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1090" y="5651579"/>
          <a:ext cx="63023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8" imgW="215640" imgH="190440" progId="Equation.DSMT4">
                  <p:embed/>
                </p:oleObj>
              </mc:Choice>
              <mc:Fallback>
                <p:oleObj name="Equation" r:id="rId8" imgW="215640" imgH="190440" progId="Equation.DSMT4">
                  <p:embed/>
                  <p:pic>
                    <p:nvPicPr>
                      <p:cNvPr id="21" name="Object 18">
                        <a:extLst>
                          <a:ext uri="{FF2B5EF4-FFF2-40B4-BE49-F238E27FC236}">
                            <a16:creationId xmlns:a16="http://schemas.microsoft.com/office/drawing/2014/main" id="{F98E44CF-A5C6-4F6E-9FF9-1628B2006B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1090" y="5651579"/>
                        <a:ext cx="630238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8">
            <a:extLst>
              <a:ext uri="{FF2B5EF4-FFF2-40B4-BE49-F238E27FC236}">
                <a16:creationId xmlns:a16="http://schemas.microsoft.com/office/drawing/2014/main" id="{A5589FF9-4B96-463A-9CA7-2EC7394F8E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47232" y="3739525"/>
          <a:ext cx="4079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10" imgW="139680" imgH="190440" progId="Equation.DSMT4">
                  <p:embed/>
                </p:oleObj>
              </mc:Choice>
              <mc:Fallback>
                <p:oleObj name="Equation" r:id="rId10" imgW="139680" imgH="190440" progId="Equation.DSMT4">
                  <p:embed/>
                  <p:pic>
                    <p:nvPicPr>
                      <p:cNvPr id="22" name="Object 18">
                        <a:extLst>
                          <a:ext uri="{FF2B5EF4-FFF2-40B4-BE49-F238E27FC236}">
                            <a16:creationId xmlns:a16="http://schemas.microsoft.com/office/drawing/2014/main" id="{A5589FF9-4B96-463A-9CA7-2EC7394F8E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7232" y="3739525"/>
                        <a:ext cx="407988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8">
            <a:extLst>
              <a:ext uri="{FF2B5EF4-FFF2-40B4-BE49-F238E27FC236}">
                <a16:creationId xmlns:a16="http://schemas.microsoft.com/office/drawing/2014/main" id="{B39A1C51-2344-4355-BD0A-F1E97C4AF4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76963" y="4024957"/>
          <a:ext cx="3333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12" imgW="114120" imgH="152280" progId="Equation.DSMT4">
                  <p:embed/>
                </p:oleObj>
              </mc:Choice>
              <mc:Fallback>
                <p:oleObj name="Equation" r:id="rId12" imgW="114120" imgH="152280" progId="Equation.DSMT4">
                  <p:embed/>
                  <p:pic>
                    <p:nvPicPr>
                      <p:cNvPr id="23" name="Object 18">
                        <a:extLst>
                          <a:ext uri="{FF2B5EF4-FFF2-40B4-BE49-F238E27FC236}">
                            <a16:creationId xmlns:a16="http://schemas.microsoft.com/office/drawing/2014/main" id="{B39A1C51-2344-4355-BD0A-F1E97C4AF4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76963" y="4024957"/>
                        <a:ext cx="333375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8">
            <a:extLst>
              <a:ext uri="{FF2B5EF4-FFF2-40B4-BE49-F238E27FC236}">
                <a16:creationId xmlns:a16="http://schemas.microsoft.com/office/drawing/2014/main" id="{0BFFA2B3-DE5C-4AEB-911E-1FE2AC202B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244" y="3671751"/>
          <a:ext cx="4445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14" imgW="152280" imgH="190440" progId="Equation.DSMT4">
                  <p:embed/>
                </p:oleObj>
              </mc:Choice>
              <mc:Fallback>
                <p:oleObj name="Equation" r:id="rId14" imgW="152280" imgH="190440" progId="Equation.DSMT4">
                  <p:embed/>
                  <p:pic>
                    <p:nvPicPr>
                      <p:cNvPr id="24" name="Object 18">
                        <a:extLst>
                          <a:ext uri="{FF2B5EF4-FFF2-40B4-BE49-F238E27FC236}">
                            <a16:creationId xmlns:a16="http://schemas.microsoft.com/office/drawing/2014/main" id="{0BFFA2B3-DE5C-4AEB-911E-1FE2AC202B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244" y="3671751"/>
                        <a:ext cx="444500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8">
            <a:extLst>
              <a:ext uri="{FF2B5EF4-FFF2-40B4-BE49-F238E27FC236}">
                <a16:creationId xmlns:a16="http://schemas.microsoft.com/office/drawing/2014/main" id="{C6299B36-B715-4828-9DEC-1ED3677959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1654" y="4992069"/>
          <a:ext cx="3333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16" imgW="114120" imgH="152280" progId="Equation.DSMT4">
                  <p:embed/>
                </p:oleObj>
              </mc:Choice>
              <mc:Fallback>
                <p:oleObj name="Equation" r:id="rId16" imgW="114120" imgH="152280" progId="Equation.DSMT4">
                  <p:embed/>
                  <p:pic>
                    <p:nvPicPr>
                      <p:cNvPr id="25" name="Object 18">
                        <a:extLst>
                          <a:ext uri="{FF2B5EF4-FFF2-40B4-BE49-F238E27FC236}">
                            <a16:creationId xmlns:a16="http://schemas.microsoft.com/office/drawing/2014/main" id="{C6299B36-B715-4828-9DEC-1ED3677959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654" y="4992069"/>
                        <a:ext cx="333375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8">
            <a:extLst>
              <a:ext uri="{FF2B5EF4-FFF2-40B4-BE49-F238E27FC236}">
                <a16:creationId xmlns:a16="http://schemas.microsoft.com/office/drawing/2014/main" id="{3C14DE1D-AA45-4F57-96DD-3DC1D4A91F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1292" y="3855901"/>
          <a:ext cx="2952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17" imgW="101520" imgH="126720" progId="Equation.DSMT4">
                  <p:embed/>
                </p:oleObj>
              </mc:Choice>
              <mc:Fallback>
                <p:oleObj name="Equation" r:id="rId17" imgW="101520" imgH="126720" progId="Equation.DSMT4">
                  <p:embed/>
                  <p:pic>
                    <p:nvPicPr>
                      <p:cNvPr id="26" name="Object 18">
                        <a:extLst>
                          <a:ext uri="{FF2B5EF4-FFF2-40B4-BE49-F238E27FC236}">
                            <a16:creationId xmlns:a16="http://schemas.microsoft.com/office/drawing/2014/main" id="{3C14DE1D-AA45-4F57-96DD-3DC1D4A91F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1292" y="3855901"/>
                        <a:ext cx="295275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8">
            <a:extLst>
              <a:ext uri="{FF2B5EF4-FFF2-40B4-BE49-F238E27FC236}">
                <a16:creationId xmlns:a16="http://schemas.microsoft.com/office/drawing/2014/main" id="{3C4206F5-81D1-412A-B245-A1A36CBF0B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5964" y="1694302"/>
          <a:ext cx="6458169" cy="1374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Equation" r:id="rId19" imgW="2298600" imgH="495000" progId="Equation.DSMT4">
                  <p:embed/>
                </p:oleObj>
              </mc:Choice>
              <mc:Fallback>
                <p:oleObj name="Equation" r:id="rId19" imgW="2298600" imgH="495000" progId="Equation.DSMT4">
                  <p:embed/>
                  <p:pic>
                    <p:nvPicPr>
                      <p:cNvPr id="27" name="Object 18">
                        <a:extLst>
                          <a:ext uri="{FF2B5EF4-FFF2-40B4-BE49-F238E27FC236}">
                            <a16:creationId xmlns:a16="http://schemas.microsoft.com/office/drawing/2014/main" id="{3C4206F5-81D1-412A-B245-A1A36CBF0B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4" y="1694302"/>
                        <a:ext cx="6458169" cy="13744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3">
            <a:extLst>
              <a:ext uri="{FF2B5EF4-FFF2-40B4-BE49-F238E27FC236}">
                <a16:creationId xmlns:a16="http://schemas.microsoft.com/office/drawing/2014/main" id="{56FD9CBF-51A2-4A72-BF33-0FB0D3622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7151"/>
            <a:ext cx="9906000" cy="71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1" tIns="47891" rIns="95781" bIns="47891" numCol="1" anchor="ctr" anchorCtr="1" compatLnSpc="1">
            <a:prstTxWarp prst="textNoShape">
              <a:avLst/>
            </a:prstTxWarp>
          </a:bodyPr>
          <a:lstStyle>
            <a:lvl1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_GB2312" pitchFamily="49" charset="-122"/>
                <a:cs typeface="楷体_GB2312"/>
              </a:defRPr>
            </a:lvl1pPr>
            <a:lvl2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2pPr>
            <a:lvl3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3pPr>
            <a:lvl4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4pPr>
            <a:lvl5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5pPr>
            <a:lvl6pPr marL="4572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6pPr>
            <a:lvl7pPr marL="9144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7pPr>
            <a:lvl8pPr marL="13716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8pPr>
            <a:lvl9pPr marL="18288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buSzTx/>
              <a:buFontTx/>
            </a:pPr>
            <a:r>
              <a:rPr lang="zh-CN" altLang="en-US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机器人单关节位置控制方法</a:t>
            </a:r>
          </a:p>
        </p:txBody>
      </p:sp>
    </p:spTree>
    <p:extLst>
      <p:ext uri="{BB962C8B-B14F-4D97-AF65-F5344CB8AC3E}">
        <p14:creationId xmlns:p14="http://schemas.microsoft.com/office/powerpoint/2010/main" val="1007016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5999252" y="1857678"/>
            <a:ext cx="193496" cy="336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81" tIns="47891" rIns="95781" bIns="47891" anchor="ctr">
            <a:spAutoFit/>
          </a:bodyPr>
          <a:lstStyle>
            <a:lvl1pPr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Aft>
                <a:spcPct val="0"/>
              </a:spcAft>
              <a:defRPr/>
            </a:pPr>
            <a:endParaRPr lang="zh-CN" altLang="en-US">
              <a:solidFill>
                <a:srgbClr val="0066CC"/>
              </a:solidFill>
            </a:endParaRPr>
          </a:p>
        </p:txBody>
      </p: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5999252" y="3076878"/>
            <a:ext cx="193496" cy="336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81" tIns="47891" rIns="95781" bIns="47891" anchor="ctr">
            <a:spAutoFit/>
          </a:bodyPr>
          <a:lstStyle>
            <a:lvl1pPr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Aft>
                <a:spcPct val="0"/>
              </a:spcAft>
              <a:defRPr/>
            </a:pPr>
            <a:endParaRPr lang="zh-CN" altLang="en-US">
              <a:solidFill>
                <a:srgbClr val="0066CC"/>
              </a:solidFill>
            </a:endParaRPr>
          </a:p>
        </p:txBody>
      </p:sp>
      <p:pic>
        <p:nvPicPr>
          <p:cNvPr id="125966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1541690"/>
            <a:ext cx="9618663" cy="438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5967" name="Rectangle 15"/>
          <p:cNvSpPr>
            <a:spLocks noChangeArrowheads="1"/>
          </p:cNvSpPr>
          <p:nvPr/>
        </p:nvSpPr>
        <p:spPr bwMode="auto">
          <a:xfrm>
            <a:off x="6388100" y="3100614"/>
            <a:ext cx="2133600" cy="1612900"/>
          </a:xfrm>
          <a:prstGeom prst="rect">
            <a:avLst/>
          </a:prstGeom>
          <a:solidFill>
            <a:schemeClr val="tx2">
              <a:alpha val="34901"/>
            </a:schemeClr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5781" tIns="47891" rIns="95781" bIns="47891" anchor="ctr"/>
          <a:lstStyle>
            <a:lvl1pPr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Aft>
                <a:spcPct val="0"/>
              </a:spcAft>
              <a:defRPr/>
            </a:pPr>
            <a:endParaRPr lang="zh-CN" altLang="en-US">
              <a:solidFill>
                <a:srgbClr val="0066CC"/>
              </a:solidFill>
            </a:endParaRPr>
          </a:p>
        </p:txBody>
      </p:sp>
      <p:sp>
        <p:nvSpPr>
          <p:cNvPr id="125968" name="Rectangle 5"/>
          <p:cNvSpPr>
            <a:spLocks noChangeArrowheads="1"/>
          </p:cNvSpPr>
          <p:nvPr/>
        </p:nvSpPr>
        <p:spPr bwMode="auto">
          <a:xfrm>
            <a:off x="6451600" y="4257902"/>
            <a:ext cx="23114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3B76"/>
              </a:buClr>
              <a:buSzPct val="100000"/>
              <a:buNone/>
              <a:defRPr/>
            </a:pPr>
            <a:r>
              <a:rPr lang="en-US" altLang="zh-CN" sz="2000" b="1" dirty="0">
                <a:solidFill>
                  <a:srgbClr val="0033CC"/>
                </a:solidFill>
              </a:rPr>
              <a:t>Dynamic of Joint</a:t>
            </a:r>
            <a:endParaRPr lang="zh-CN" altLang="en-US" sz="2000" b="1" dirty="0">
              <a:solidFill>
                <a:srgbClr val="0033CC"/>
              </a:solidFill>
              <a:sym typeface="Wingdings" panose="05000000000000000000" pitchFamily="2" charset="2"/>
            </a:endParaRPr>
          </a:p>
        </p:txBody>
      </p:sp>
      <p:sp>
        <p:nvSpPr>
          <p:cNvPr id="125969" name="Rectangle 17"/>
          <p:cNvSpPr>
            <a:spLocks noChangeArrowheads="1"/>
          </p:cNvSpPr>
          <p:nvPr/>
        </p:nvSpPr>
        <p:spPr bwMode="auto">
          <a:xfrm>
            <a:off x="2986088" y="2822802"/>
            <a:ext cx="2781300" cy="2425700"/>
          </a:xfrm>
          <a:prstGeom prst="rect">
            <a:avLst/>
          </a:prstGeom>
          <a:solidFill>
            <a:srgbClr val="00FFFF">
              <a:alpha val="34901"/>
            </a:srgbClr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5781" tIns="47891" rIns="95781" bIns="47891" anchor="ctr"/>
          <a:lstStyle>
            <a:lvl1pPr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Aft>
                <a:spcPct val="0"/>
              </a:spcAft>
              <a:defRPr/>
            </a:pPr>
            <a:endParaRPr lang="zh-CN" altLang="en-US">
              <a:solidFill>
                <a:srgbClr val="0066CC"/>
              </a:solidFill>
            </a:endParaRPr>
          </a:p>
        </p:txBody>
      </p:sp>
      <p:sp>
        <p:nvSpPr>
          <p:cNvPr id="125970" name="Rectangle 5"/>
          <p:cNvSpPr>
            <a:spLocks noChangeArrowheads="1"/>
          </p:cNvSpPr>
          <p:nvPr/>
        </p:nvSpPr>
        <p:spPr bwMode="auto">
          <a:xfrm>
            <a:off x="4891088" y="4780189"/>
            <a:ext cx="709612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3B76"/>
              </a:buClr>
              <a:buSzPct val="100000"/>
              <a:buNone/>
              <a:defRPr/>
            </a:pPr>
            <a:r>
              <a:rPr lang="en-US" altLang="zh-CN" sz="2000" b="1">
                <a:solidFill>
                  <a:srgbClr val="0033CC"/>
                </a:solidFill>
              </a:rPr>
              <a:t>PID</a:t>
            </a:r>
            <a:endParaRPr lang="zh-CN" altLang="en-US" sz="2000" b="1">
              <a:solidFill>
                <a:srgbClr val="0033CC"/>
              </a:solidFill>
              <a:sym typeface="Wingdings" panose="05000000000000000000" pitchFamily="2" charset="2"/>
            </a:endParaRPr>
          </a:p>
        </p:txBody>
      </p:sp>
      <p:sp>
        <p:nvSpPr>
          <p:cNvPr id="125971" name="Rectangle 5"/>
          <p:cNvSpPr>
            <a:spLocks noChangeArrowheads="1"/>
          </p:cNvSpPr>
          <p:nvPr/>
        </p:nvSpPr>
        <p:spPr bwMode="auto">
          <a:xfrm>
            <a:off x="6897688" y="5986689"/>
            <a:ext cx="1865312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3B76"/>
              </a:buClr>
              <a:buSzPct val="100000"/>
              <a:buNone/>
              <a:defRPr/>
            </a:pPr>
            <a:r>
              <a:rPr lang="en-US" altLang="zh-CN" sz="2000" b="1">
                <a:solidFill>
                  <a:srgbClr val="0033CC"/>
                </a:solidFill>
              </a:rPr>
              <a:t>Distrubance</a:t>
            </a:r>
            <a:endParaRPr lang="zh-CN" altLang="en-US" sz="2000" b="1">
              <a:solidFill>
                <a:srgbClr val="0033CC"/>
              </a:solidFill>
              <a:sym typeface="Wingdings" panose="05000000000000000000" pitchFamily="2" charset="2"/>
            </a:endParaRPr>
          </a:p>
        </p:txBody>
      </p:sp>
      <p:sp>
        <p:nvSpPr>
          <p:cNvPr id="125972" name="Line 20"/>
          <p:cNvSpPr>
            <a:spLocks noChangeShapeType="1"/>
          </p:cNvSpPr>
          <p:nvPr/>
        </p:nvSpPr>
        <p:spPr bwMode="auto">
          <a:xfrm flipH="1" flipV="1">
            <a:off x="6159500" y="5323114"/>
            <a:ext cx="635000" cy="96520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81" tIns="47891" rIns="95781" bIns="47891"/>
          <a:lstStyle/>
          <a:p>
            <a:pPr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endParaRPr lang="zh-CN" altLang="en-US" sz="1200">
              <a:solidFill>
                <a:srgbClr val="0066CC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EB332ACD-FE27-4A33-B628-06F24F53D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275" y="876247"/>
            <a:ext cx="9282113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indent="0" eaLnBrk="0" fontAlgn="base" hangingPunct="0">
              <a:spcAft>
                <a:spcPct val="0"/>
              </a:spcAft>
              <a:buClrTx/>
              <a:buSzPct val="10000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</a:rPr>
              <a:t>3. </a:t>
            </a:r>
            <a:r>
              <a:rPr lang="zh-CN" altLang="en-US" sz="2800" b="1" dirty="0">
                <a:solidFill>
                  <a:srgbClr val="002060"/>
                </a:solidFill>
              </a:rPr>
              <a:t>单关节</a:t>
            </a:r>
            <a:r>
              <a:rPr lang="en-US" altLang="zh-CN" sz="2800" b="1" dirty="0">
                <a:solidFill>
                  <a:srgbClr val="002060"/>
                </a:solidFill>
              </a:rPr>
              <a:t>PID </a:t>
            </a:r>
            <a:r>
              <a:rPr lang="zh-CN" altLang="en-US" sz="2800" b="1" dirty="0">
                <a:solidFill>
                  <a:srgbClr val="002060"/>
                </a:solidFill>
              </a:rPr>
              <a:t>控制</a:t>
            </a:r>
            <a:r>
              <a:rPr lang="en-US" altLang="zh-CN" sz="2800" b="1" dirty="0" err="1">
                <a:solidFill>
                  <a:srgbClr val="002060"/>
                </a:solidFill>
              </a:rPr>
              <a:t>Matlab</a:t>
            </a:r>
            <a:r>
              <a:rPr lang="zh-CN" altLang="en-US" sz="2800" b="1" dirty="0">
                <a:solidFill>
                  <a:srgbClr val="002060"/>
                </a:solidFill>
              </a:rPr>
              <a:t>仿真</a:t>
            </a:r>
          </a:p>
        </p:txBody>
      </p:sp>
      <p:graphicFrame>
        <p:nvGraphicFramePr>
          <p:cNvPr id="18" name="Object 18">
            <a:extLst>
              <a:ext uri="{FF2B5EF4-FFF2-40B4-BE49-F238E27FC236}">
                <a16:creationId xmlns:a16="http://schemas.microsoft.com/office/drawing/2014/main" id="{E3D3319B-A537-4E6B-AAE9-DBB8FC0ACE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6494" y="1591129"/>
          <a:ext cx="331787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4" imgW="1180800" imgH="241200" progId="Equation.DSMT4">
                  <p:embed/>
                </p:oleObj>
              </mc:Choice>
              <mc:Fallback>
                <p:oleObj name="Equation" r:id="rId4" imgW="1180800" imgH="241200" progId="Equation.DSMT4">
                  <p:embed/>
                  <p:pic>
                    <p:nvPicPr>
                      <p:cNvPr id="18" name="Object 18">
                        <a:extLst>
                          <a:ext uri="{FF2B5EF4-FFF2-40B4-BE49-F238E27FC236}">
                            <a16:creationId xmlns:a16="http://schemas.microsoft.com/office/drawing/2014/main" id="{E3D3319B-A537-4E6B-AAE9-DBB8FC0ACE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6494" y="1591129"/>
                        <a:ext cx="3317875" cy="6699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3">
            <a:extLst>
              <a:ext uri="{FF2B5EF4-FFF2-40B4-BE49-F238E27FC236}">
                <a16:creationId xmlns:a16="http://schemas.microsoft.com/office/drawing/2014/main" id="{DDC56EB0-0333-4689-B552-D8E4498A0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7151"/>
            <a:ext cx="9906000" cy="71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1" tIns="47891" rIns="95781" bIns="47891" numCol="1" anchor="ctr" anchorCtr="1" compatLnSpc="1">
            <a:prstTxWarp prst="textNoShape">
              <a:avLst/>
            </a:prstTxWarp>
          </a:bodyPr>
          <a:lstStyle>
            <a:lvl1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_GB2312" pitchFamily="49" charset="-122"/>
                <a:cs typeface="楷体_GB2312"/>
              </a:defRPr>
            </a:lvl1pPr>
            <a:lvl2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2pPr>
            <a:lvl3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3pPr>
            <a:lvl4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4pPr>
            <a:lvl5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5pPr>
            <a:lvl6pPr marL="4572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6pPr>
            <a:lvl7pPr marL="9144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7pPr>
            <a:lvl8pPr marL="13716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8pPr>
            <a:lvl9pPr marL="18288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buSzTx/>
              <a:buFontTx/>
            </a:pPr>
            <a:r>
              <a:rPr lang="zh-CN" altLang="en-US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机器人单关节位置控制方法</a:t>
            </a:r>
          </a:p>
        </p:txBody>
      </p:sp>
    </p:spTree>
    <p:extLst>
      <p:ext uri="{BB962C8B-B14F-4D97-AF65-F5344CB8AC3E}">
        <p14:creationId xmlns:p14="http://schemas.microsoft.com/office/powerpoint/2010/main" val="322698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25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5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25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5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5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5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67" grpId="0" animBg="1"/>
      <p:bldP spid="125968" grpId="0"/>
      <p:bldP spid="125969" grpId="0" animBg="1"/>
      <p:bldP spid="125970" grpId="0"/>
      <p:bldP spid="125971" grpId="0"/>
      <p:bldP spid="12597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ChangeArrowheads="1"/>
          </p:cNvSpPr>
          <p:nvPr/>
        </p:nvSpPr>
        <p:spPr bwMode="auto">
          <a:xfrm>
            <a:off x="5999252" y="1741564"/>
            <a:ext cx="193496" cy="336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81" tIns="47891" rIns="95781" bIns="47891" anchor="ctr">
            <a:spAutoFit/>
          </a:bodyPr>
          <a:lstStyle>
            <a:lvl1pPr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Aft>
                <a:spcPct val="0"/>
              </a:spcAft>
              <a:defRPr/>
            </a:pPr>
            <a:endParaRPr lang="zh-CN" altLang="en-US">
              <a:solidFill>
                <a:srgbClr val="0066CC"/>
              </a:solidFill>
            </a:endParaRPr>
          </a:p>
        </p:txBody>
      </p: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5999252" y="2960764"/>
            <a:ext cx="193496" cy="336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81" tIns="47891" rIns="95781" bIns="47891" anchor="ctr">
            <a:spAutoFit/>
          </a:bodyPr>
          <a:lstStyle>
            <a:lvl1pPr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Aft>
                <a:spcPct val="0"/>
              </a:spcAft>
              <a:defRPr/>
            </a:pPr>
            <a:endParaRPr lang="zh-CN" altLang="en-US">
              <a:solidFill>
                <a:srgbClr val="0066CC"/>
              </a:solidFill>
            </a:endParaRPr>
          </a:p>
        </p:txBody>
      </p:sp>
      <p:sp>
        <p:nvSpPr>
          <p:cNvPr id="126982" name="Rectangle 5"/>
          <p:cNvSpPr>
            <a:spLocks noChangeArrowheads="1"/>
          </p:cNvSpPr>
          <p:nvPr/>
        </p:nvSpPr>
        <p:spPr bwMode="auto">
          <a:xfrm>
            <a:off x="1597289" y="1941513"/>
            <a:ext cx="2002972" cy="178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0" fontAlgn="base" hangingPunct="0"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FF00FF"/>
                </a:solidFill>
              </a:rPr>
              <a:t>K</a:t>
            </a:r>
            <a:r>
              <a:rPr lang="en-US" altLang="zh-CN" sz="2800" b="1" baseline="-25000" dirty="0">
                <a:solidFill>
                  <a:srgbClr val="FF00FF"/>
                </a:solidFill>
              </a:rPr>
              <a:t>p</a:t>
            </a:r>
            <a:r>
              <a:rPr lang="en-US" altLang="zh-CN" sz="2800" b="1" dirty="0">
                <a:solidFill>
                  <a:srgbClr val="FF00FF"/>
                </a:solidFill>
              </a:rPr>
              <a:t>=100</a:t>
            </a:r>
            <a:endParaRPr lang="en-US" altLang="zh-CN" sz="2800" b="1" dirty="0">
              <a:solidFill>
                <a:srgbClr val="0033CC"/>
              </a:solidFill>
            </a:endParaRPr>
          </a:p>
          <a:p>
            <a:pPr eaLnBrk="0" fontAlgn="base" hangingPunct="0"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0033CC"/>
                </a:solidFill>
              </a:rPr>
              <a:t>K</a:t>
            </a:r>
            <a:r>
              <a:rPr lang="en-US" altLang="zh-CN" sz="2800" b="1" baseline="-25000" dirty="0">
                <a:solidFill>
                  <a:srgbClr val="0033CC"/>
                </a:solidFill>
              </a:rPr>
              <a:t>i</a:t>
            </a:r>
            <a:r>
              <a:rPr lang="en-US" altLang="zh-CN" sz="2800" b="1" dirty="0">
                <a:solidFill>
                  <a:srgbClr val="0033CC"/>
                </a:solidFill>
              </a:rPr>
              <a:t>=</a:t>
            </a:r>
            <a:r>
              <a:rPr lang="en-US" altLang="zh-CN" sz="2800" b="1" dirty="0" err="1">
                <a:solidFill>
                  <a:srgbClr val="0033CC"/>
                </a:solidFill>
              </a:rPr>
              <a:t>K</a:t>
            </a:r>
            <a:r>
              <a:rPr lang="en-US" altLang="zh-CN" sz="2800" b="1" baseline="-25000" dirty="0" err="1">
                <a:solidFill>
                  <a:srgbClr val="0033CC"/>
                </a:solidFill>
              </a:rPr>
              <a:t>d</a:t>
            </a:r>
            <a:r>
              <a:rPr lang="en-US" altLang="zh-CN" sz="2800" b="1" dirty="0">
                <a:solidFill>
                  <a:srgbClr val="0033CC"/>
                </a:solidFill>
              </a:rPr>
              <a:t>=0</a:t>
            </a:r>
          </a:p>
          <a:p>
            <a:pPr eaLnBrk="0" fontAlgn="base" hangingPunct="0"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0033CC"/>
                </a:solidFill>
              </a:rPr>
              <a:t>T</a:t>
            </a:r>
            <a:r>
              <a:rPr lang="en-US" altLang="zh-CN" sz="2800" b="1" baseline="-25000" dirty="0">
                <a:solidFill>
                  <a:srgbClr val="0033CC"/>
                </a:solidFill>
              </a:rPr>
              <a:t>d</a:t>
            </a:r>
            <a:r>
              <a:rPr lang="en-US" altLang="zh-CN" sz="2800" b="1" dirty="0">
                <a:solidFill>
                  <a:srgbClr val="0033CC"/>
                </a:solidFill>
              </a:rPr>
              <a:t>=0</a:t>
            </a:r>
            <a:endParaRPr lang="zh-CN" altLang="en-US" sz="2800" b="1" dirty="0">
              <a:solidFill>
                <a:srgbClr val="0033CC"/>
              </a:solidFill>
            </a:endParaRPr>
          </a:p>
        </p:txBody>
      </p:sp>
      <p:pic>
        <p:nvPicPr>
          <p:cNvPr id="12698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13" t="5652" r="7567" b="6123"/>
          <a:stretch>
            <a:fillRect/>
          </a:stretch>
        </p:blipFill>
        <p:spPr bwMode="auto">
          <a:xfrm>
            <a:off x="4054550" y="1938100"/>
            <a:ext cx="5416524" cy="4573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18662E81-9F62-48CB-BA8B-1972B45BD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475" y="845899"/>
            <a:ext cx="9282113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0" fontAlgn="base" hangingPunct="0"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solidFill>
                  <a:srgbClr val="002060"/>
                </a:solidFill>
              </a:rPr>
              <a:t>不同</a:t>
            </a:r>
            <a:r>
              <a:rPr lang="en-US" altLang="zh-CN" sz="2800" b="1" dirty="0">
                <a:solidFill>
                  <a:srgbClr val="002060"/>
                </a:solidFill>
              </a:rPr>
              <a:t>PID</a:t>
            </a:r>
            <a:r>
              <a:rPr lang="zh-CN" altLang="en-US" sz="2800" b="1" dirty="0">
                <a:solidFill>
                  <a:srgbClr val="002060"/>
                </a:solidFill>
              </a:rPr>
              <a:t>参数下的控制性能分析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58F0D373-CDF0-4890-8A3C-147F9A91D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391999"/>
            <a:ext cx="6633028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indent="0">
              <a:buClrTx/>
              <a:buNone/>
              <a:defRPr/>
            </a:pPr>
            <a:r>
              <a:rPr lang="zh-CN" altLang="en-US" b="1" dirty="0">
                <a:solidFill>
                  <a:srgbClr val="7030A0"/>
                </a:solidFill>
              </a:rPr>
              <a:t>（</a:t>
            </a:r>
            <a:r>
              <a:rPr lang="en-US" altLang="zh-CN" b="1" dirty="0">
                <a:solidFill>
                  <a:srgbClr val="7030A0"/>
                </a:solidFill>
              </a:rPr>
              <a:t>1</a:t>
            </a:r>
            <a:r>
              <a:rPr lang="zh-CN" altLang="en-US" b="1" dirty="0">
                <a:solidFill>
                  <a:srgbClr val="7030A0"/>
                </a:solidFill>
              </a:rPr>
              <a:t>）单纯的比例控制（</a:t>
            </a:r>
            <a:r>
              <a:rPr lang="en-US" altLang="zh-CN" b="1" dirty="0">
                <a:solidFill>
                  <a:srgbClr val="7030A0"/>
                </a:solidFill>
              </a:rPr>
              <a:t>P</a:t>
            </a:r>
            <a:r>
              <a:rPr lang="zh-CN" altLang="en-US" b="1" dirty="0">
                <a:solidFill>
                  <a:srgbClr val="7030A0"/>
                </a:solidFill>
              </a:rPr>
              <a:t>控制）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0AA49C8-3FEE-4A33-91BC-F96E0A04C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7151"/>
            <a:ext cx="9906000" cy="71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1" tIns="47891" rIns="95781" bIns="47891" numCol="1" anchor="ctr" anchorCtr="1" compatLnSpc="1">
            <a:prstTxWarp prst="textNoShape">
              <a:avLst/>
            </a:prstTxWarp>
          </a:bodyPr>
          <a:lstStyle>
            <a:lvl1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_GB2312" pitchFamily="49" charset="-122"/>
                <a:cs typeface="楷体_GB2312"/>
              </a:defRPr>
            </a:lvl1pPr>
            <a:lvl2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2pPr>
            <a:lvl3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3pPr>
            <a:lvl4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4pPr>
            <a:lvl5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5pPr>
            <a:lvl6pPr marL="4572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6pPr>
            <a:lvl7pPr marL="9144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7pPr>
            <a:lvl8pPr marL="13716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8pPr>
            <a:lvl9pPr marL="18288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buSzTx/>
              <a:buFontTx/>
            </a:pPr>
            <a:r>
              <a:rPr lang="zh-CN" altLang="en-US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机器人单关节位置控制方法</a:t>
            </a:r>
          </a:p>
        </p:txBody>
      </p:sp>
    </p:spTree>
    <p:extLst>
      <p:ext uri="{BB962C8B-B14F-4D97-AF65-F5344CB8AC3E}">
        <p14:creationId xmlns:p14="http://schemas.microsoft.com/office/powerpoint/2010/main" val="3375672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ChangeArrowheads="1"/>
          </p:cNvSpPr>
          <p:nvPr/>
        </p:nvSpPr>
        <p:spPr bwMode="auto">
          <a:xfrm>
            <a:off x="6085770" y="1935692"/>
            <a:ext cx="193496" cy="336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81" tIns="47891" rIns="95781" bIns="47891" anchor="ctr">
            <a:spAutoFit/>
          </a:bodyPr>
          <a:lstStyle>
            <a:lvl1pPr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Aft>
                <a:spcPct val="0"/>
              </a:spcAft>
              <a:defRPr/>
            </a:pPr>
            <a:endParaRPr lang="zh-CN" altLang="en-US">
              <a:solidFill>
                <a:srgbClr val="0066CC"/>
              </a:solidFill>
            </a:endParaRPr>
          </a:p>
        </p:txBody>
      </p:sp>
      <p:sp>
        <p:nvSpPr>
          <p:cNvPr id="131077" name="Rectangle 5"/>
          <p:cNvSpPr>
            <a:spLocks noChangeArrowheads="1"/>
          </p:cNvSpPr>
          <p:nvPr/>
        </p:nvSpPr>
        <p:spPr bwMode="auto">
          <a:xfrm>
            <a:off x="6910056" y="1118499"/>
            <a:ext cx="3376832" cy="11969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3300"/>
            </a:solidFill>
          </a:ln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0033CC"/>
                </a:solidFill>
              </a:rPr>
              <a:t>K</a:t>
            </a:r>
            <a:r>
              <a:rPr lang="en-US" altLang="zh-CN" sz="2800" b="1" baseline="-25000" dirty="0">
                <a:solidFill>
                  <a:srgbClr val="0033CC"/>
                </a:solidFill>
              </a:rPr>
              <a:t>p</a:t>
            </a:r>
            <a:r>
              <a:rPr lang="en-US" altLang="zh-CN" sz="2800" b="1" dirty="0">
                <a:solidFill>
                  <a:srgbClr val="0033CC"/>
                </a:solidFill>
              </a:rPr>
              <a:t>=0</a:t>
            </a:r>
            <a:r>
              <a:rPr lang="zh-CN" altLang="en-US" sz="2800" b="1" dirty="0">
                <a:solidFill>
                  <a:srgbClr val="0033CC"/>
                </a:solidFill>
              </a:rPr>
              <a:t>，</a:t>
            </a:r>
            <a:r>
              <a:rPr lang="en-US" altLang="zh-CN" sz="2800" b="1" dirty="0">
                <a:solidFill>
                  <a:srgbClr val="0033CC"/>
                </a:solidFill>
              </a:rPr>
              <a:t>K</a:t>
            </a:r>
            <a:r>
              <a:rPr lang="en-US" altLang="zh-CN" sz="2800" b="1" baseline="-25000" dirty="0">
                <a:solidFill>
                  <a:srgbClr val="0033CC"/>
                </a:solidFill>
              </a:rPr>
              <a:t>i</a:t>
            </a:r>
            <a:r>
              <a:rPr lang="en-US" altLang="zh-CN" sz="2800" b="1" dirty="0">
                <a:solidFill>
                  <a:srgbClr val="0033CC"/>
                </a:solidFill>
              </a:rPr>
              <a:t>=0</a:t>
            </a:r>
          </a:p>
          <a:p>
            <a:pPr eaLnBrk="0" fontAlgn="base" hangingPunct="0"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 err="1">
                <a:solidFill>
                  <a:srgbClr val="FF00FF"/>
                </a:solidFill>
              </a:rPr>
              <a:t>K</a:t>
            </a:r>
            <a:r>
              <a:rPr lang="en-US" altLang="zh-CN" sz="2800" b="1" baseline="-25000" dirty="0" err="1">
                <a:solidFill>
                  <a:srgbClr val="FF00FF"/>
                </a:solidFill>
              </a:rPr>
              <a:t>d</a:t>
            </a:r>
            <a:r>
              <a:rPr lang="en-US" altLang="zh-CN" sz="2800" b="1" dirty="0">
                <a:solidFill>
                  <a:srgbClr val="FF00FF"/>
                </a:solidFill>
              </a:rPr>
              <a:t>=150</a:t>
            </a:r>
            <a:r>
              <a:rPr lang="zh-CN" altLang="en-US" sz="2800" b="1" dirty="0">
                <a:solidFill>
                  <a:srgbClr val="FF00FF"/>
                </a:solidFill>
              </a:rPr>
              <a:t>，</a:t>
            </a:r>
            <a:r>
              <a:rPr lang="en-US" altLang="zh-CN" sz="2800" b="1" dirty="0">
                <a:solidFill>
                  <a:srgbClr val="FF0000"/>
                </a:solidFill>
              </a:rPr>
              <a:t>T</a:t>
            </a:r>
            <a:r>
              <a:rPr lang="en-US" altLang="zh-CN" sz="2800" b="1" baseline="-25000" dirty="0">
                <a:solidFill>
                  <a:srgbClr val="FF0000"/>
                </a:solidFill>
              </a:rPr>
              <a:t>d</a:t>
            </a:r>
            <a:r>
              <a:rPr lang="en-US" altLang="zh-CN" sz="2800" b="1" dirty="0">
                <a:solidFill>
                  <a:srgbClr val="FF0000"/>
                </a:solidFill>
              </a:rPr>
              <a:t>=1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131081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8" t="4706" r="7108" b="4370"/>
          <a:stretch>
            <a:fillRect/>
          </a:stretch>
        </p:blipFill>
        <p:spPr bwMode="auto">
          <a:xfrm>
            <a:off x="1611312" y="2455864"/>
            <a:ext cx="4033837" cy="391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1083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5" t="5048" r="7030" b="5048"/>
          <a:stretch>
            <a:fillRect/>
          </a:stretch>
        </p:blipFill>
        <p:spPr bwMode="auto">
          <a:xfrm>
            <a:off x="6096001" y="2462665"/>
            <a:ext cx="4551363" cy="384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84" name="Rectangle 5"/>
          <p:cNvSpPr>
            <a:spLocks noChangeArrowheads="1"/>
          </p:cNvSpPr>
          <p:nvPr/>
        </p:nvSpPr>
        <p:spPr bwMode="auto">
          <a:xfrm>
            <a:off x="2978831" y="6212340"/>
            <a:ext cx="1814512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Aft>
                <a:spcPct val="0"/>
              </a:spcAft>
              <a:buClr>
                <a:srgbClr val="003B76"/>
              </a:buClr>
              <a:buSzPct val="100000"/>
              <a:buNone/>
              <a:defRPr/>
            </a:pPr>
            <a:r>
              <a:rPr lang="en-US" altLang="zh-CN" sz="2800" i="1" dirty="0" err="1">
                <a:solidFill>
                  <a:srgbClr val="0033CC"/>
                </a:solidFill>
              </a:rPr>
              <a:t>t</a:t>
            </a:r>
            <a:r>
              <a:rPr lang="en-US" altLang="zh-CN" sz="2800" i="1" baseline="-25000" dirty="0" err="1">
                <a:solidFill>
                  <a:srgbClr val="0033CC"/>
                </a:solidFill>
              </a:rPr>
              <a:t>f</a:t>
            </a:r>
            <a:r>
              <a:rPr lang="en-US" altLang="zh-CN" sz="2800" dirty="0">
                <a:solidFill>
                  <a:srgbClr val="0033CC"/>
                </a:solidFill>
              </a:rPr>
              <a:t>=30</a:t>
            </a:r>
            <a:endParaRPr lang="zh-CN" altLang="en-US" sz="2800" dirty="0">
              <a:solidFill>
                <a:srgbClr val="FF00FF"/>
              </a:solidFill>
            </a:endParaRPr>
          </a:p>
        </p:txBody>
      </p:sp>
      <p:sp>
        <p:nvSpPr>
          <p:cNvPr id="131085" name="Rectangle 5"/>
          <p:cNvSpPr>
            <a:spLocks noChangeArrowheads="1"/>
          </p:cNvSpPr>
          <p:nvPr/>
        </p:nvSpPr>
        <p:spPr bwMode="auto">
          <a:xfrm>
            <a:off x="7691216" y="6244769"/>
            <a:ext cx="1814512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Aft>
                <a:spcPct val="0"/>
              </a:spcAft>
              <a:buClr>
                <a:srgbClr val="003B76"/>
              </a:buClr>
              <a:buSzPct val="100000"/>
              <a:buNone/>
              <a:defRPr/>
            </a:pPr>
            <a:r>
              <a:rPr lang="en-US" altLang="zh-CN" sz="2800" i="1" dirty="0" err="1">
                <a:solidFill>
                  <a:srgbClr val="0033CC"/>
                </a:solidFill>
              </a:rPr>
              <a:t>t</a:t>
            </a:r>
            <a:r>
              <a:rPr lang="en-US" altLang="zh-CN" sz="2800" i="1" baseline="-25000" dirty="0" err="1">
                <a:solidFill>
                  <a:srgbClr val="0033CC"/>
                </a:solidFill>
              </a:rPr>
              <a:t>f</a:t>
            </a:r>
            <a:r>
              <a:rPr lang="en-US" altLang="zh-CN" sz="2800" dirty="0">
                <a:solidFill>
                  <a:srgbClr val="0033CC"/>
                </a:solidFill>
              </a:rPr>
              <a:t>=300</a:t>
            </a:r>
            <a:endParaRPr lang="zh-CN" altLang="en-US" sz="2800" dirty="0">
              <a:solidFill>
                <a:srgbClr val="FF00FF"/>
              </a:solidFill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19AE5EE9-02B1-425E-8CAB-1AD117A9D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519" y="917503"/>
            <a:ext cx="9282113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0" fontAlgn="base" hangingPunct="0"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solidFill>
                  <a:srgbClr val="002060"/>
                </a:solidFill>
              </a:rPr>
              <a:t>不同</a:t>
            </a:r>
            <a:r>
              <a:rPr lang="en-US" altLang="zh-CN" sz="2800" b="1" dirty="0">
                <a:solidFill>
                  <a:srgbClr val="002060"/>
                </a:solidFill>
              </a:rPr>
              <a:t>PID</a:t>
            </a:r>
            <a:r>
              <a:rPr lang="zh-CN" altLang="en-US" sz="2800" b="1" dirty="0">
                <a:solidFill>
                  <a:srgbClr val="002060"/>
                </a:solidFill>
              </a:rPr>
              <a:t>参数下的控制性能分析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D2F28A4-87E8-45F5-8CCD-B5AF21943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519" y="1384471"/>
            <a:ext cx="647337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indent="0">
              <a:buClrTx/>
              <a:buNone/>
              <a:defRPr/>
            </a:pPr>
            <a:r>
              <a:rPr lang="zh-CN" altLang="en-US" b="1" dirty="0">
                <a:solidFill>
                  <a:srgbClr val="7030A0"/>
                </a:solidFill>
              </a:rPr>
              <a:t>（</a:t>
            </a:r>
            <a:r>
              <a:rPr lang="en-US" altLang="zh-CN" b="1" dirty="0">
                <a:solidFill>
                  <a:srgbClr val="7030A0"/>
                </a:solidFill>
              </a:rPr>
              <a:t>2</a:t>
            </a:r>
            <a:r>
              <a:rPr lang="zh-CN" altLang="en-US" b="1" dirty="0">
                <a:solidFill>
                  <a:srgbClr val="7030A0"/>
                </a:solidFill>
              </a:rPr>
              <a:t>）单纯的微分控制（</a:t>
            </a:r>
            <a:r>
              <a:rPr lang="en-US" altLang="zh-CN" b="1" dirty="0">
                <a:solidFill>
                  <a:srgbClr val="7030A0"/>
                </a:solidFill>
              </a:rPr>
              <a:t> D </a:t>
            </a:r>
            <a:r>
              <a:rPr lang="zh-CN" altLang="en-US" b="1" dirty="0">
                <a:solidFill>
                  <a:srgbClr val="7030A0"/>
                </a:solidFill>
              </a:rPr>
              <a:t>控制）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FEFE80E-5849-464D-9F96-B553B4B9A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7151"/>
            <a:ext cx="9906000" cy="71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1" tIns="47891" rIns="95781" bIns="47891" numCol="1" anchor="ctr" anchorCtr="1" compatLnSpc="1">
            <a:prstTxWarp prst="textNoShape">
              <a:avLst/>
            </a:prstTxWarp>
          </a:bodyPr>
          <a:lstStyle>
            <a:lvl1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_GB2312" pitchFamily="49" charset="-122"/>
                <a:cs typeface="楷体_GB2312"/>
              </a:defRPr>
            </a:lvl1pPr>
            <a:lvl2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2pPr>
            <a:lvl3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3pPr>
            <a:lvl4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4pPr>
            <a:lvl5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5pPr>
            <a:lvl6pPr marL="4572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6pPr>
            <a:lvl7pPr marL="9144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7pPr>
            <a:lvl8pPr marL="13716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8pPr>
            <a:lvl9pPr marL="18288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buSzTx/>
              <a:buFontTx/>
            </a:pPr>
            <a:r>
              <a:rPr lang="zh-CN" altLang="en-US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机器人单关节位置控制方法</a:t>
            </a:r>
          </a:p>
        </p:txBody>
      </p:sp>
    </p:spTree>
    <p:extLst>
      <p:ext uri="{BB962C8B-B14F-4D97-AF65-F5344CB8AC3E}">
        <p14:creationId xmlns:p14="http://schemas.microsoft.com/office/powerpoint/2010/main" val="2831679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ChangeArrowheads="1"/>
          </p:cNvSpPr>
          <p:nvPr/>
        </p:nvSpPr>
        <p:spPr bwMode="auto">
          <a:xfrm>
            <a:off x="5997664" y="2264079"/>
            <a:ext cx="193496" cy="336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81" tIns="47891" rIns="95781" bIns="47891" anchor="ctr">
            <a:spAutoFit/>
          </a:bodyPr>
          <a:lstStyle>
            <a:lvl1pPr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Aft>
                <a:spcPct val="0"/>
              </a:spcAft>
              <a:defRPr/>
            </a:pPr>
            <a:endParaRPr lang="zh-CN" altLang="en-US">
              <a:solidFill>
                <a:srgbClr val="0066CC"/>
              </a:solidFill>
            </a:endParaRPr>
          </a:p>
        </p:txBody>
      </p:sp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5997664" y="3483279"/>
            <a:ext cx="193496" cy="336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81" tIns="47891" rIns="95781" bIns="47891" anchor="ctr">
            <a:spAutoFit/>
          </a:bodyPr>
          <a:lstStyle>
            <a:lvl1pPr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Aft>
                <a:spcPct val="0"/>
              </a:spcAft>
              <a:defRPr/>
            </a:pPr>
            <a:endParaRPr lang="zh-CN" altLang="en-US">
              <a:solidFill>
                <a:srgbClr val="0066CC"/>
              </a:solidFill>
            </a:endParaRPr>
          </a:p>
        </p:txBody>
      </p:sp>
      <p:pic>
        <p:nvPicPr>
          <p:cNvPr id="132108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6" t="5458" r="7133" b="4549"/>
          <a:stretch>
            <a:fillRect/>
          </a:stretch>
        </p:blipFill>
        <p:spPr bwMode="auto">
          <a:xfrm>
            <a:off x="1495425" y="2432279"/>
            <a:ext cx="4171950" cy="376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9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3" t="4073" r="6181" b="5325"/>
          <a:stretch>
            <a:fillRect/>
          </a:stretch>
        </p:blipFill>
        <p:spPr bwMode="auto">
          <a:xfrm>
            <a:off x="6021388" y="2288043"/>
            <a:ext cx="4568825" cy="391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110" name="Rectangle 5"/>
          <p:cNvSpPr>
            <a:spLocks noChangeArrowheads="1"/>
          </p:cNvSpPr>
          <p:nvPr/>
        </p:nvSpPr>
        <p:spPr bwMode="auto">
          <a:xfrm>
            <a:off x="2875643" y="6141360"/>
            <a:ext cx="1814512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Aft>
                <a:spcPct val="0"/>
              </a:spcAft>
              <a:buClr>
                <a:srgbClr val="003B76"/>
              </a:buClr>
              <a:buSzPct val="100000"/>
              <a:buNone/>
              <a:defRPr/>
            </a:pPr>
            <a:r>
              <a:rPr lang="en-US" altLang="zh-CN" sz="2800" i="1" dirty="0" err="1">
                <a:solidFill>
                  <a:srgbClr val="0033CC"/>
                </a:solidFill>
              </a:rPr>
              <a:t>t</a:t>
            </a:r>
            <a:r>
              <a:rPr lang="en-US" altLang="zh-CN" sz="2800" i="1" baseline="-25000" dirty="0" err="1">
                <a:solidFill>
                  <a:srgbClr val="0033CC"/>
                </a:solidFill>
              </a:rPr>
              <a:t>f</a:t>
            </a:r>
            <a:r>
              <a:rPr lang="en-US" altLang="zh-CN" sz="2800" dirty="0">
                <a:solidFill>
                  <a:srgbClr val="0033CC"/>
                </a:solidFill>
              </a:rPr>
              <a:t>=20</a:t>
            </a:r>
            <a:endParaRPr lang="zh-CN" altLang="en-US" sz="2800" dirty="0">
              <a:solidFill>
                <a:srgbClr val="FF00FF"/>
              </a:solidFill>
            </a:endParaRPr>
          </a:p>
        </p:txBody>
      </p:sp>
      <p:sp>
        <p:nvSpPr>
          <p:cNvPr id="132111" name="Rectangle 5"/>
          <p:cNvSpPr>
            <a:spLocks noChangeArrowheads="1"/>
          </p:cNvSpPr>
          <p:nvPr/>
        </p:nvSpPr>
        <p:spPr bwMode="auto">
          <a:xfrm>
            <a:off x="7829441" y="6207581"/>
            <a:ext cx="1814512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Aft>
                <a:spcPct val="0"/>
              </a:spcAft>
              <a:buClr>
                <a:srgbClr val="003B76"/>
              </a:buClr>
              <a:buSzPct val="100000"/>
              <a:buNone/>
              <a:defRPr/>
            </a:pPr>
            <a:r>
              <a:rPr lang="en-US" altLang="zh-CN" sz="2800" i="1" dirty="0" err="1">
                <a:solidFill>
                  <a:srgbClr val="0033CC"/>
                </a:solidFill>
              </a:rPr>
              <a:t>t</a:t>
            </a:r>
            <a:r>
              <a:rPr lang="en-US" altLang="zh-CN" sz="2800" i="1" baseline="-25000" dirty="0" err="1">
                <a:solidFill>
                  <a:srgbClr val="0033CC"/>
                </a:solidFill>
              </a:rPr>
              <a:t>f</a:t>
            </a:r>
            <a:r>
              <a:rPr lang="en-US" altLang="zh-CN" sz="2800" dirty="0">
                <a:solidFill>
                  <a:srgbClr val="0033CC"/>
                </a:solidFill>
              </a:rPr>
              <a:t>=30</a:t>
            </a:r>
            <a:endParaRPr lang="zh-CN" altLang="en-US" sz="2800" dirty="0">
              <a:solidFill>
                <a:srgbClr val="FF00FF"/>
              </a:solidFill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A3511589-E02C-4628-B93B-3A152BFC6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281" y="1071567"/>
            <a:ext cx="3376832" cy="11969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3300"/>
            </a:solidFill>
          </a:ln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0033CC"/>
                </a:solidFill>
              </a:rPr>
              <a:t>K</a:t>
            </a:r>
            <a:r>
              <a:rPr lang="en-US" altLang="zh-CN" sz="2800" b="1" baseline="-25000" dirty="0">
                <a:solidFill>
                  <a:srgbClr val="0033CC"/>
                </a:solidFill>
              </a:rPr>
              <a:t>p</a:t>
            </a:r>
            <a:r>
              <a:rPr lang="en-US" altLang="zh-CN" sz="2800" b="1" dirty="0">
                <a:solidFill>
                  <a:srgbClr val="0033CC"/>
                </a:solidFill>
              </a:rPr>
              <a:t>=0</a:t>
            </a:r>
            <a:r>
              <a:rPr lang="zh-CN" altLang="en-US" sz="2800" b="1" dirty="0">
                <a:solidFill>
                  <a:srgbClr val="0033CC"/>
                </a:solidFill>
              </a:rPr>
              <a:t>，</a:t>
            </a:r>
            <a:r>
              <a:rPr lang="en-US" altLang="zh-CN" sz="2800" b="1" dirty="0">
                <a:solidFill>
                  <a:srgbClr val="0033CC"/>
                </a:solidFill>
              </a:rPr>
              <a:t>K</a:t>
            </a:r>
            <a:r>
              <a:rPr lang="en-US" altLang="zh-CN" sz="2800" b="1" baseline="-25000" dirty="0">
                <a:solidFill>
                  <a:srgbClr val="0033CC"/>
                </a:solidFill>
              </a:rPr>
              <a:t>i</a:t>
            </a:r>
            <a:r>
              <a:rPr lang="en-US" altLang="zh-CN" sz="2800" b="1" dirty="0">
                <a:solidFill>
                  <a:srgbClr val="0033CC"/>
                </a:solidFill>
              </a:rPr>
              <a:t>=20</a:t>
            </a:r>
          </a:p>
          <a:p>
            <a:pPr eaLnBrk="0" fontAlgn="base" hangingPunct="0"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 err="1">
                <a:solidFill>
                  <a:srgbClr val="FF00FF"/>
                </a:solidFill>
              </a:rPr>
              <a:t>K</a:t>
            </a:r>
            <a:r>
              <a:rPr lang="en-US" altLang="zh-CN" sz="2800" b="1" baseline="-25000" dirty="0" err="1">
                <a:solidFill>
                  <a:srgbClr val="FF00FF"/>
                </a:solidFill>
              </a:rPr>
              <a:t>d</a:t>
            </a:r>
            <a:r>
              <a:rPr lang="en-US" altLang="zh-CN" sz="2800" b="1" dirty="0">
                <a:solidFill>
                  <a:srgbClr val="FF00FF"/>
                </a:solidFill>
              </a:rPr>
              <a:t>=0</a:t>
            </a:r>
            <a:r>
              <a:rPr lang="zh-CN" altLang="en-US" sz="2800" b="1" dirty="0">
                <a:solidFill>
                  <a:srgbClr val="FF00FF"/>
                </a:solidFill>
              </a:rPr>
              <a:t>，</a:t>
            </a:r>
            <a:r>
              <a:rPr lang="en-US" altLang="zh-CN" sz="2800" b="1" dirty="0">
                <a:solidFill>
                  <a:srgbClr val="FF0000"/>
                </a:solidFill>
              </a:rPr>
              <a:t>T</a:t>
            </a:r>
            <a:r>
              <a:rPr lang="en-US" altLang="zh-CN" sz="2800" b="1" baseline="-25000" dirty="0">
                <a:solidFill>
                  <a:srgbClr val="FF0000"/>
                </a:solidFill>
              </a:rPr>
              <a:t>d</a:t>
            </a:r>
            <a:r>
              <a:rPr lang="en-US" altLang="zh-CN" sz="2800" b="1" dirty="0">
                <a:solidFill>
                  <a:srgbClr val="FF0000"/>
                </a:solidFill>
              </a:rPr>
              <a:t>=1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53E5E3D3-5815-48D4-9A45-99BC8C326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100" y="989261"/>
            <a:ext cx="9282113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0" fontAlgn="base" hangingPunct="0"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solidFill>
                  <a:srgbClr val="002060"/>
                </a:solidFill>
              </a:rPr>
              <a:t>不同</a:t>
            </a:r>
            <a:r>
              <a:rPr lang="en-US" altLang="zh-CN" sz="2800" b="1" dirty="0">
                <a:solidFill>
                  <a:srgbClr val="002060"/>
                </a:solidFill>
              </a:rPr>
              <a:t>PID</a:t>
            </a:r>
            <a:r>
              <a:rPr lang="zh-CN" altLang="en-US" sz="2800" b="1" dirty="0">
                <a:solidFill>
                  <a:srgbClr val="002060"/>
                </a:solidFill>
              </a:rPr>
              <a:t>参数下的控制性能分析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2003955-C446-44A9-AB4A-A55B38D63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1549629"/>
            <a:ext cx="647337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indent="0">
              <a:buClrTx/>
              <a:buNone/>
              <a:defRPr/>
            </a:pPr>
            <a:r>
              <a:rPr lang="zh-CN" altLang="en-US" b="1" dirty="0">
                <a:solidFill>
                  <a:srgbClr val="7030A0"/>
                </a:solidFill>
              </a:rPr>
              <a:t>（</a:t>
            </a:r>
            <a:r>
              <a:rPr lang="en-US" altLang="zh-CN" b="1" dirty="0">
                <a:solidFill>
                  <a:srgbClr val="7030A0"/>
                </a:solidFill>
              </a:rPr>
              <a:t>3</a:t>
            </a:r>
            <a:r>
              <a:rPr lang="zh-CN" altLang="en-US" b="1" dirty="0">
                <a:solidFill>
                  <a:srgbClr val="7030A0"/>
                </a:solidFill>
              </a:rPr>
              <a:t>）单纯的积分控制（</a:t>
            </a:r>
            <a:r>
              <a:rPr lang="en-US" altLang="zh-CN" b="1" dirty="0">
                <a:solidFill>
                  <a:srgbClr val="7030A0"/>
                </a:solidFill>
              </a:rPr>
              <a:t> I </a:t>
            </a:r>
            <a:r>
              <a:rPr lang="zh-CN" altLang="en-US" b="1" dirty="0">
                <a:solidFill>
                  <a:srgbClr val="7030A0"/>
                </a:solidFill>
              </a:rPr>
              <a:t>控制）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552C8D4A-AA90-45B2-9E3D-3A50A299C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7151"/>
            <a:ext cx="9906000" cy="71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1" tIns="47891" rIns="95781" bIns="47891" numCol="1" anchor="ctr" anchorCtr="1" compatLnSpc="1">
            <a:prstTxWarp prst="textNoShape">
              <a:avLst/>
            </a:prstTxWarp>
          </a:bodyPr>
          <a:lstStyle>
            <a:lvl1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_GB2312" pitchFamily="49" charset="-122"/>
                <a:cs typeface="楷体_GB2312"/>
              </a:defRPr>
            </a:lvl1pPr>
            <a:lvl2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2pPr>
            <a:lvl3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3pPr>
            <a:lvl4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4pPr>
            <a:lvl5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5pPr>
            <a:lvl6pPr marL="4572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6pPr>
            <a:lvl7pPr marL="9144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7pPr>
            <a:lvl8pPr marL="13716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8pPr>
            <a:lvl9pPr marL="18288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buSzTx/>
              <a:buFontTx/>
            </a:pPr>
            <a:r>
              <a:rPr lang="zh-CN" altLang="en-US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机器人单关节位置控制方法</a:t>
            </a:r>
          </a:p>
        </p:txBody>
      </p:sp>
    </p:spTree>
    <p:extLst>
      <p:ext uri="{BB962C8B-B14F-4D97-AF65-F5344CB8AC3E}">
        <p14:creationId xmlns:p14="http://schemas.microsoft.com/office/powerpoint/2010/main" val="355103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ChangeArrowheads="1"/>
          </p:cNvSpPr>
          <p:nvPr/>
        </p:nvSpPr>
        <p:spPr bwMode="auto">
          <a:xfrm>
            <a:off x="5970224" y="2530549"/>
            <a:ext cx="193496" cy="336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81" tIns="47891" rIns="95781" bIns="47891" anchor="ctr">
            <a:spAutoFit/>
          </a:bodyPr>
          <a:lstStyle>
            <a:lvl1pPr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Aft>
                <a:spcPct val="0"/>
              </a:spcAft>
              <a:defRPr/>
            </a:pPr>
            <a:endParaRPr lang="zh-CN" altLang="en-US">
              <a:solidFill>
                <a:srgbClr val="0066CC"/>
              </a:solidFill>
            </a:endParaRPr>
          </a:p>
        </p:txBody>
      </p:sp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5970224" y="3749749"/>
            <a:ext cx="193496" cy="336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81" tIns="47891" rIns="95781" bIns="47891" anchor="ctr">
            <a:spAutoFit/>
          </a:bodyPr>
          <a:lstStyle>
            <a:lvl1pPr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Aft>
                <a:spcPct val="0"/>
              </a:spcAft>
              <a:defRPr/>
            </a:pPr>
            <a:endParaRPr lang="zh-CN" altLang="en-US">
              <a:solidFill>
                <a:srgbClr val="0066CC"/>
              </a:solidFill>
            </a:endParaRPr>
          </a:p>
        </p:txBody>
      </p:sp>
      <p:pic>
        <p:nvPicPr>
          <p:cNvPr id="13312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2" t="4082" r="6129" b="4396"/>
          <a:stretch>
            <a:fillRect/>
          </a:stretch>
        </p:blipFill>
        <p:spPr bwMode="auto">
          <a:xfrm>
            <a:off x="1347336" y="2373310"/>
            <a:ext cx="4448175" cy="392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2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9" t="3807" r="6036" b="3807"/>
          <a:stretch>
            <a:fillRect/>
          </a:stretch>
        </p:blipFill>
        <p:spPr bwMode="auto">
          <a:xfrm>
            <a:off x="6396493" y="2359023"/>
            <a:ext cx="4329113" cy="395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30" name="Rectangle 5"/>
          <p:cNvSpPr>
            <a:spLocks noChangeArrowheads="1"/>
          </p:cNvSpPr>
          <p:nvPr/>
        </p:nvSpPr>
        <p:spPr bwMode="auto">
          <a:xfrm>
            <a:off x="2703060" y="6303960"/>
            <a:ext cx="1814512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Aft>
                <a:spcPct val="0"/>
              </a:spcAft>
              <a:buClr>
                <a:srgbClr val="003B76"/>
              </a:buClr>
              <a:buSzPct val="100000"/>
              <a:buNone/>
              <a:defRPr/>
            </a:pPr>
            <a:r>
              <a:rPr lang="en-US" altLang="zh-CN" sz="2800" i="1">
                <a:solidFill>
                  <a:srgbClr val="0033CC"/>
                </a:solidFill>
              </a:rPr>
              <a:t>t</a:t>
            </a:r>
            <a:r>
              <a:rPr lang="en-US" altLang="zh-CN" sz="2800" i="1" baseline="-25000">
                <a:solidFill>
                  <a:srgbClr val="0033CC"/>
                </a:solidFill>
              </a:rPr>
              <a:t>f</a:t>
            </a:r>
            <a:r>
              <a:rPr lang="en-US" altLang="zh-CN" sz="2800">
                <a:solidFill>
                  <a:srgbClr val="0033CC"/>
                </a:solidFill>
              </a:rPr>
              <a:t>=30</a:t>
            </a:r>
            <a:endParaRPr lang="zh-CN" altLang="en-US" sz="2800">
              <a:solidFill>
                <a:srgbClr val="FF00FF"/>
              </a:solidFill>
            </a:endParaRPr>
          </a:p>
        </p:txBody>
      </p:sp>
      <p:sp>
        <p:nvSpPr>
          <p:cNvPr id="133131" name="Rectangle 5"/>
          <p:cNvSpPr>
            <a:spLocks noChangeArrowheads="1"/>
          </p:cNvSpPr>
          <p:nvPr/>
        </p:nvSpPr>
        <p:spPr bwMode="auto">
          <a:xfrm>
            <a:off x="7968117" y="6254750"/>
            <a:ext cx="1814512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Aft>
                <a:spcPct val="0"/>
              </a:spcAft>
              <a:buClr>
                <a:srgbClr val="003B76"/>
              </a:buClr>
              <a:buSzPct val="100000"/>
              <a:buNone/>
              <a:defRPr/>
            </a:pPr>
            <a:r>
              <a:rPr lang="en-US" altLang="zh-CN" sz="2800" i="1" dirty="0" err="1">
                <a:solidFill>
                  <a:srgbClr val="0033CC"/>
                </a:solidFill>
              </a:rPr>
              <a:t>t</a:t>
            </a:r>
            <a:r>
              <a:rPr lang="en-US" altLang="zh-CN" sz="2800" i="1" baseline="-25000" dirty="0" err="1">
                <a:solidFill>
                  <a:srgbClr val="0033CC"/>
                </a:solidFill>
              </a:rPr>
              <a:t>f</a:t>
            </a:r>
            <a:r>
              <a:rPr lang="en-US" altLang="zh-CN" sz="2800" dirty="0">
                <a:solidFill>
                  <a:srgbClr val="0033CC"/>
                </a:solidFill>
              </a:rPr>
              <a:t>=100</a:t>
            </a:r>
            <a:endParaRPr lang="zh-CN" altLang="en-US" sz="2800" dirty="0">
              <a:solidFill>
                <a:srgbClr val="FF00FF"/>
              </a:solidFill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15FAA727-B666-4E7D-9C85-5B41257AA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281" y="1071567"/>
            <a:ext cx="3376832" cy="11969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3300"/>
            </a:solidFill>
          </a:ln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0033CC"/>
                </a:solidFill>
              </a:rPr>
              <a:t>K</a:t>
            </a:r>
            <a:r>
              <a:rPr lang="en-US" altLang="zh-CN" sz="2800" b="1" baseline="-25000" dirty="0">
                <a:solidFill>
                  <a:srgbClr val="0033CC"/>
                </a:solidFill>
              </a:rPr>
              <a:t>p</a:t>
            </a:r>
            <a:r>
              <a:rPr lang="en-US" altLang="zh-CN" sz="2800" b="1" dirty="0">
                <a:solidFill>
                  <a:srgbClr val="0033CC"/>
                </a:solidFill>
              </a:rPr>
              <a:t>=0</a:t>
            </a:r>
            <a:r>
              <a:rPr lang="zh-CN" altLang="en-US" sz="2800" b="1" dirty="0">
                <a:solidFill>
                  <a:srgbClr val="0033CC"/>
                </a:solidFill>
              </a:rPr>
              <a:t>，</a:t>
            </a:r>
            <a:r>
              <a:rPr lang="en-US" altLang="zh-CN" sz="2800" b="1" dirty="0">
                <a:solidFill>
                  <a:srgbClr val="0033CC"/>
                </a:solidFill>
              </a:rPr>
              <a:t>K</a:t>
            </a:r>
            <a:r>
              <a:rPr lang="en-US" altLang="zh-CN" sz="2800" b="1" baseline="-25000" dirty="0">
                <a:solidFill>
                  <a:srgbClr val="0033CC"/>
                </a:solidFill>
              </a:rPr>
              <a:t>i</a:t>
            </a:r>
            <a:r>
              <a:rPr lang="en-US" altLang="zh-CN" sz="2800" b="1" dirty="0">
                <a:solidFill>
                  <a:srgbClr val="0033CC"/>
                </a:solidFill>
              </a:rPr>
              <a:t>=20</a:t>
            </a:r>
          </a:p>
          <a:p>
            <a:pPr eaLnBrk="0" fontAlgn="base" hangingPunct="0"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 err="1">
                <a:solidFill>
                  <a:srgbClr val="FF00FF"/>
                </a:solidFill>
              </a:rPr>
              <a:t>K</a:t>
            </a:r>
            <a:r>
              <a:rPr lang="en-US" altLang="zh-CN" sz="2800" b="1" baseline="-25000" dirty="0" err="1">
                <a:solidFill>
                  <a:srgbClr val="FF00FF"/>
                </a:solidFill>
              </a:rPr>
              <a:t>d</a:t>
            </a:r>
            <a:r>
              <a:rPr lang="en-US" altLang="zh-CN" sz="2800" b="1" dirty="0">
                <a:solidFill>
                  <a:srgbClr val="FF00FF"/>
                </a:solidFill>
              </a:rPr>
              <a:t>=150</a:t>
            </a:r>
            <a:r>
              <a:rPr lang="zh-CN" altLang="en-US" sz="2800" b="1" dirty="0">
                <a:solidFill>
                  <a:srgbClr val="FF00FF"/>
                </a:solidFill>
              </a:rPr>
              <a:t>，</a:t>
            </a:r>
            <a:r>
              <a:rPr lang="en-US" altLang="zh-CN" sz="2800" b="1" dirty="0">
                <a:solidFill>
                  <a:srgbClr val="FF0000"/>
                </a:solidFill>
              </a:rPr>
              <a:t>T</a:t>
            </a:r>
            <a:r>
              <a:rPr lang="en-US" altLang="zh-CN" sz="2800" b="1" baseline="-25000" dirty="0">
                <a:solidFill>
                  <a:srgbClr val="FF0000"/>
                </a:solidFill>
              </a:rPr>
              <a:t>d</a:t>
            </a:r>
            <a:r>
              <a:rPr lang="en-US" altLang="zh-CN" sz="2800" b="1" dirty="0">
                <a:solidFill>
                  <a:srgbClr val="FF0000"/>
                </a:solidFill>
              </a:rPr>
              <a:t>=1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8B46F2DB-8099-4889-ABC1-E8EF2C335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7336" y="963214"/>
            <a:ext cx="9282113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0" fontAlgn="base" hangingPunct="0"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solidFill>
                  <a:srgbClr val="002060"/>
                </a:solidFill>
              </a:rPr>
              <a:t>不同</a:t>
            </a:r>
            <a:r>
              <a:rPr lang="en-US" altLang="zh-CN" sz="2800" b="1" dirty="0">
                <a:solidFill>
                  <a:srgbClr val="002060"/>
                </a:solidFill>
              </a:rPr>
              <a:t>PID</a:t>
            </a:r>
            <a:r>
              <a:rPr lang="zh-CN" altLang="en-US" sz="2800" b="1" dirty="0">
                <a:solidFill>
                  <a:srgbClr val="002060"/>
                </a:solidFill>
              </a:rPr>
              <a:t>参数下的控制性能分析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FEEC2676-DEB6-40FD-AD21-81034445A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476374"/>
            <a:ext cx="647337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indent="0">
              <a:buClrTx/>
              <a:buNone/>
              <a:defRPr/>
            </a:pPr>
            <a:r>
              <a:rPr lang="zh-CN" altLang="en-US" b="1" dirty="0">
                <a:solidFill>
                  <a:srgbClr val="7030A0"/>
                </a:solidFill>
              </a:rPr>
              <a:t>（</a:t>
            </a:r>
            <a:r>
              <a:rPr lang="en-US" altLang="zh-CN" b="1" dirty="0">
                <a:solidFill>
                  <a:srgbClr val="7030A0"/>
                </a:solidFill>
              </a:rPr>
              <a:t>4</a:t>
            </a:r>
            <a:r>
              <a:rPr lang="zh-CN" altLang="en-US" b="1" dirty="0">
                <a:solidFill>
                  <a:srgbClr val="7030A0"/>
                </a:solidFill>
              </a:rPr>
              <a:t>）积分、微分控制（</a:t>
            </a:r>
            <a:r>
              <a:rPr lang="en-US" altLang="zh-CN" b="1" dirty="0">
                <a:solidFill>
                  <a:srgbClr val="7030A0"/>
                </a:solidFill>
              </a:rPr>
              <a:t> ID </a:t>
            </a:r>
            <a:r>
              <a:rPr lang="zh-CN" altLang="en-US" b="1" dirty="0">
                <a:solidFill>
                  <a:srgbClr val="7030A0"/>
                </a:solidFill>
              </a:rPr>
              <a:t>控制）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F6C6E754-FC51-46AC-874A-7CF1CC5E5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7151"/>
            <a:ext cx="9906000" cy="71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1" tIns="47891" rIns="95781" bIns="47891" numCol="1" anchor="ctr" anchorCtr="1" compatLnSpc="1">
            <a:prstTxWarp prst="textNoShape">
              <a:avLst/>
            </a:prstTxWarp>
          </a:bodyPr>
          <a:lstStyle>
            <a:lvl1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_GB2312" pitchFamily="49" charset="-122"/>
                <a:cs typeface="楷体_GB2312"/>
              </a:defRPr>
            </a:lvl1pPr>
            <a:lvl2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2pPr>
            <a:lvl3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3pPr>
            <a:lvl4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4pPr>
            <a:lvl5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5pPr>
            <a:lvl6pPr marL="4572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6pPr>
            <a:lvl7pPr marL="9144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7pPr>
            <a:lvl8pPr marL="13716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8pPr>
            <a:lvl9pPr marL="18288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buSzTx/>
              <a:buFontTx/>
            </a:pPr>
            <a:r>
              <a:rPr lang="zh-CN" altLang="en-US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机器人单关节位置控制方法</a:t>
            </a:r>
          </a:p>
        </p:txBody>
      </p:sp>
    </p:spTree>
    <p:extLst>
      <p:ext uri="{BB962C8B-B14F-4D97-AF65-F5344CB8AC3E}">
        <p14:creationId xmlns:p14="http://schemas.microsoft.com/office/powerpoint/2010/main" val="2545069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5999252" y="1741564"/>
            <a:ext cx="193496" cy="336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81" tIns="47891" rIns="95781" bIns="47891" anchor="ctr">
            <a:spAutoFit/>
          </a:bodyPr>
          <a:lstStyle>
            <a:lvl1pPr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Aft>
                <a:spcPct val="0"/>
              </a:spcAft>
              <a:defRPr/>
            </a:pPr>
            <a:endParaRPr lang="zh-CN" altLang="en-US">
              <a:solidFill>
                <a:srgbClr val="0066CC"/>
              </a:solidFill>
            </a:endParaRPr>
          </a:p>
        </p:txBody>
      </p:sp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5999252" y="2960764"/>
            <a:ext cx="193496" cy="336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81" tIns="47891" rIns="95781" bIns="47891" anchor="ctr">
            <a:spAutoFit/>
          </a:bodyPr>
          <a:lstStyle>
            <a:lvl1pPr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Aft>
                <a:spcPct val="0"/>
              </a:spcAft>
              <a:defRPr/>
            </a:pPr>
            <a:endParaRPr lang="zh-CN" altLang="en-US">
              <a:solidFill>
                <a:srgbClr val="0066CC"/>
              </a:solidFill>
            </a:endParaRPr>
          </a:p>
        </p:txBody>
      </p:sp>
      <p:pic>
        <p:nvPicPr>
          <p:cNvPr id="129033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1" t="4839" r="5756" b="4536"/>
          <a:stretch>
            <a:fillRect/>
          </a:stretch>
        </p:blipFill>
        <p:spPr bwMode="auto">
          <a:xfrm>
            <a:off x="6459765" y="2293256"/>
            <a:ext cx="4329113" cy="409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9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1" t="4243" r="6490" b="5223"/>
          <a:stretch>
            <a:fillRect/>
          </a:stretch>
        </p:blipFill>
        <p:spPr bwMode="auto">
          <a:xfrm>
            <a:off x="1497240" y="2332943"/>
            <a:ext cx="4348163" cy="391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36" name="Rectangle 5"/>
          <p:cNvSpPr>
            <a:spLocks noChangeArrowheads="1"/>
          </p:cNvSpPr>
          <p:nvPr/>
        </p:nvSpPr>
        <p:spPr bwMode="auto">
          <a:xfrm>
            <a:off x="2759302" y="6263593"/>
            <a:ext cx="1814512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Aft>
                <a:spcPct val="0"/>
              </a:spcAft>
              <a:buClr>
                <a:srgbClr val="003B76"/>
              </a:buClr>
              <a:buSzPct val="100000"/>
              <a:buNone/>
              <a:defRPr/>
            </a:pPr>
            <a:r>
              <a:rPr lang="en-US" altLang="zh-CN" sz="2800" i="1">
                <a:solidFill>
                  <a:srgbClr val="0033CC"/>
                </a:solidFill>
              </a:rPr>
              <a:t>t</a:t>
            </a:r>
            <a:r>
              <a:rPr lang="en-US" altLang="zh-CN" sz="2800" i="1" baseline="-25000">
                <a:solidFill>
                  <a:srgbClr val="0033CC"/>
                </a:solidFill>
              </a:rPr>
              <a:t>f</a:t>
            </a:r>
            <a:r>
              <a:rPr lang="en-US" altLang="zh-CN" sz="2800">
                <a:solidFill>
                  <a:srgbClr val="0033CC"/>
                </a:solidFill>
              </a:rPr>
              <a:t>=30</a:t>
            </a:r>
            <a:endParaRPr lang="zh-CN" altLang="en-US" sz="2800">
              <a:solidFill>
                <a:srgbClr val="FF00FF"/>
              </a:solidFill>
            </a:endParaRPr>
          </a:p>
        </p:txBody>
      </p:sp>
      <p:sp>
        <p:nvSpPr>
          <p:cNvPr id="129037" name="Rectangle 5"/>
          <p:cNvSpPr>
            <a:spLocks noChangeArrowheads="1"/>
          </p:cNvSpPr>
          <p:nvPr/>
        </p:nvSpPr>
        <p:spPr bwMode="auto">
          <a:xfrm>
            <a:off x="7966302" y="6288993"/>
            <a:ext cx="1814512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Aft>
                <a:spcPct val="0"/>
              </a:spcAft>
              <a:buClr>
                <a:srgbClr val="003B76"/>
              </a:buClr>
              <a:buSzPct val="100000"/>
              <a:buNone/>
              <a:defRPr/>
            </a:pPr>
            <a:r>
              <a:rPr lang="en-US" altLang="zh-CN" sz="2800" i="1">
                <a:solidFill>
                  <a:srgbClr val="0033CC"/>
                </a:solidFill>
              </a:rPr>
              <a:t>t</a:t>
            </a:r>
            <a:r>
              <a:rPr lang="en-US" altLang="zh-CN" sz="2800" i="1" baseline="-25000">
                <a:solidFill>
                  <a:srgbClr val="0033CC"/>
                </a:solidFill>
              </a:rPr>
              <a:t>f</a:t>
            </a:r>
            <a:r>
              <a:rPr lang="en-US" altLang="zh-CN" sz="2800">
                <a:solidFill>
                  <a:srgbClr val="0033CC"/>
                </a:solidFill>
              </a:rPr>
              <a:t>=100</a:t>
            </a:r>
            <a:endParaRPr lang="zh-CN" altLang="en-US" sz="2800">
              <a:solidFill>
                <a:srgbClr val="FF00FF"/>
              </a:solidFill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864B0986-2875-49DE-8F77-AC44397C5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281" y="1071567"/>
            <a:ext cx="3376832" cy="11969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3300"/>
            </a:solidFill>
          </a:ln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0033CC"/>
                </a:solidFill>
              </a:rPr>
              <a:t>K</a:t>
            </a:r>
            <a:r>
              <a:rPr lang="en-US" altLang="zh-CN" sz="2800" b="1" baseline="-25000" dirty="0">
                <a:solidFill>
                  <a:srgbClr val="0033CC"/>
                </a:solidFill>
              </a:rPr>
              <a:t>p</a:t>
            </a:r>
            <a:r>
              <a:rPr lang="en-US" altLang="zh-CN" sz="2800" b="1" dirty="0">
                <a:solidFill>
                  <a:srgbClr val="0033CC"/>
                </a:solidFill>
              </a:rPr>
              <a:t>=100</a:t>
            </a:r>
            <a:r>
              <a:rPr lang="zh-CN" altLang="en-US" sz="2800" b="1" dirty="0">
                <a:solidFill>
                  <a:srgbClr val="0033CC"/>
                </a:solidFill>
              </a:rPr>
              <a:t>，</a:t>
            </a:r>
            <a:r>
              <a:rPr lang="en-US" altLang="zh-CN" sz="2800" b="1" dirty="0">
                <a:solidFill>
                  <a:srgbClr val="0033CC"/>
                </a:solidFill>
              </a:rPr>
              <a:t>K</a:t>
            </a:r>
            <a:r>
              <a:rPr lang="en-US" altLang="zh-CN" sz="2800" b="1" baseline="-25000" dirty="0">
                <a:solidFill>
                  <a:srgbClr val="0033CC"/>
                </a:solidFill>
              </a:rPr>
              <a:t>i</a:t>
            </a:r>
            <a:r>
              <a:rPr lang="en-US" altLang="zh-CN" sz="2800" b="1" dirty="0">
                <a:solidFill>
                  <a:srgbClr val="0033CC"/>
                </a:solidFill>
              </a:rPr>
              <a:t>=0</a:t>
            </a:r>
          </a:p>
          <a:p>
            <a:pPr eaLnBrk="0" fontAlgn="base" hangingPunct="0"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 err="1">
                <a:solidFill>
                  <a:srgbClr val="FF00FF"/>
                </a:solidFill>
              </a:rPr>
              <a:t>K</a:t>
            </a:r>
            <a:r>
              <a:rPr lang="en-US" altLang="zh-CN" sz="2800" b="1" baseline="-25000" dirty="0" err="1">
                <a:solidFill>
                  <a:srgbClr val="FF00FF"/>
                </a:solidFill>
              </a:rPr>
              <a:t>d</a:t>
            </a:r>
            <a:r>
              <a:rPr lang="en-US" altLang="zh-CN" sz="2800" b="1" dirty="0">
                <a:solidFill>
                  <a:srgbClr val="FF00FF"/>
                </a:solidFill>
              </a:rPr>
              <a:t>=150</a:t>
            </a:r>
            <a:r>
              <a:rPr lang="zh-CN" altLang="en-US" sz="2800" b="1" dirty="0">
                <a:solidFill>
                  <a:srgbClr val="FF00FF"/>
                </a:solidFill>
              </a:rPr>
              <a:t>，</a:t>
            </a:r>
            <a:r>
              <a:rPr lang="en-US" altLang="zh-CN" sz="2800" b="1" dirty="0">
                <a:solidFill>
                  <a:srgbClr val="FF0000"/>
                </a:solidFill>
              </a:rPr>
              <a:t>T</a:t>
            </a:r>
            <a:r>
              <a:rPr lang="en-US" altLang="zh-CN" sz="2800" b="1" baseline="-25000" dirty="0">
                <a:solidFill>
                  <a:srgbClr val="FF0000"/>
                </a:solidFill>
              </a:rPr>
              <a:t>d</a:t>
            </a:r>
            <a:r>
              <a:rPr lang="en-US" altLang="zh-CN" sz="2800" b="1" dirty="0">
                <a:solidFill>
                  <a:srgbClr val="FF0000"/>
                </a:solidFill>
              </a:rPr>
              <a:t>=1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E9BDCCE5-F394-4D38-AAB1-2BF5C3E3B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346" y="923242"/>
            <a:ext cx="9282113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0" fontAlgn="base" hangingPunct="0"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solidFill>
                  <a:srgbClr val="002060"/>
                </a:solidFill>
              </a:rPr>
              <a:t>不同</a:t>
            </a:r>
            <a:r>
              <a:rPr lang="en-US" altLang="zh-CN" sz="2800" b="1" dirty="0">
                <a:solidFill>
                  <a:srgbClr val="002060"/>
                </a:solidFill>
              </a:rPr>
              <a:t>PID</a:t>
            </a:r>
            <a:r>
              <a:rPr lang="zh-CN" altLang="en-US" sz="2800" b="1" dirty="0">
                <a:solidFill>
                  <a:srgbClr val="002060"/>
                </a:solidFill>
              </a:rPr>
              <a:t>参数下的控制性能分析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124D720B-0B80-47FE-8B2D-5D13F88F0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2474" y="1368811"/>
            <a:ext cx="647337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indent="0">
              <a:buClrTx/>
              <a:buNone/>
              <a:defRPr/>
            </a:pPr>
            <a:r>
              <a:rPr lang="zh-CN" altLang="en-US" b="1" dirty="0">
                <a:solidFill>
                  <a:srgbClr val="7030A0"/>
                </a:solidFill>
              </a:rPr>
              <a:t>（</a:t>
            </a:r>
            <a:r>
              <a:rPr lang="en-US" altLang="zh-CN" b="1" dirty="0">
                <a:solidFill>
                  <a:srgbClr val="7030A0"/>
                </a:solidFill>
              </a:rPr>
              <a:t>5</a:t>
            </a:r>
            <a:r>
              <a:rPr lang="zh-CN" altLang="en-US" b="1" dirty="0">
                <a:solidFill>
                  <a:srgbClr val="7030A0"/>
                </a:solidFill>
              </a:rPr>
              <a:t>）比例、微分控制（</a:t>
            </a:r>
            <a:r>
              <a:rPr lang="en-US" altLang="zh-CN" b="1" dirty="0">
                <a:solidFill>
                  <a:srgbClr val="7030A0"/>
                </a:solidFill>
              </a:rPr>
              <a:t> PD </a:t>
            </a:r>
            <a:r>
              <a:rPr lang="zh-CN" altLang="en-US" b="1" dirty="0">
                <a:solidFill>
                  <a:srgbClr val="7030A0"/>
                </a:solidFill>
              </a:rPr>
              <a:t>控制）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ED5E714-08E3-4147-8351-4B45D490E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7151"/>
            <a:ext cx="9906000" cy="71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1" tIns="47891" rIns="95781" bIns="47891" numCol="1" anchor="ctr" anchorCtr="1" compatLnSpc="1">
            <a:prstTxWarp prst="textNoShape">
              <a:avLst/>
            </a:prstTxWarp>
          </a:bodyPr>
          <a:lstStyle>
            <a:lvl1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_GB2312" pitchFamily="49" charset="-122"/>
                <a:cs typeface="楷体_GB2312"/>
              </a:defRPr>
            </a:lvl1pPr>
            <a:lvl2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2pPr>
            <a:lvl3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3pPr>
            <a:lvl4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4pPr>
            <a:lvl5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5pPr>
            <a:lvl6pPr marL="4572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6pPr>
            <a:lvl7pPr marL="9144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7pPr>
            <a:lvl8pPr marL="13716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8pPr>
            <a:lvl9pPr marL="18288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buSzTx/>
              <a:buFontTx/>
            </a:pPr>
            <a:r>
              <a:rPr lang="zh-CN" altLang="en-US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机器人单关节位置控制方法</a:t>
            </a:r>
          </a:p>
        </p:txBody>
      </p:sp>
    </p:spTree>
    <p:extLst>
      <p:ext uri="{BB962C8B-B14F-4D97-AF65-F5344CB8AC3E}">
        <p14:creationId xmlns:p14="http://schemas.microsoft.com/office/powerpoint/2010/main" val="50089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ChangeArrowheads="1"/>
          </p:cNvSpPr>
          <p:nvPr/>
        </p:nvSpPr>
        <p:spPr bwMode="auto">
          <a:xfrm>
            <a:off x="5910352" y="2699507"/>
            <a:ext cx="193496" cy="336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81" tIns="47891" rIns="95781" bIns="47891" anchor="ctr">
            <a:spAutoFit/>
          </a:bodyPr>
          <a:lstStyle>
            <a:lvl1pPr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Aft>
                <a:spcPct val="0"/>
              </a:spcAft>
              <a:defRPr/>
            </a:pPr>
            <a:endParaRPr lang="zh-CN" altLang="en-US">
              <a:solidFill>
                <a:srgbClr val="0066CC"/>
              </a:solidFill>
            </a:endParaRPr>
          </a:p>
        </p:txBody>
      </p:sp>
      <p:sp>
        <p:nvSpPr>
          <p:cNvPr id="24579" name="Rectangle 8"/>
          <p:cNvSpPr>
            <a:spLocks noChangeArrowheads="1"/>
          </p:cNvSpPr>
          <p:nvPr/>
        </p:nvSpPr>
        <p:spPr bwMode="auto">
          <a:xfrm>
            <a:off x="5910352" y="3918707"/>
            <a:ext cx="193496" cy="336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81" tIns="47891" rIns="95781" bIns="47891" anchor="ctr">
            <a:spAutoFit/>
          </a:bodyPr>
          <a:lstStyle>
            <a:lvl1pPr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Aft>
                <a:spcPct val="0"/>
              </a:spcAft>
              <a:defRPr/>
            </a:pPr>
            <a:endParaRPr lang="zh-CN" altLang="en-US">
              <a:solidFill>
                <a:srgbClr val="0066CC"/>
              </a:solidFill>
            </a:endParaRPr>
          </a:p>
        </p:txBody>
      </p:sp>
      <p:pic>
        <p:nvPicPr>
          <p:cNvPr id="130059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0" t="3148" r="6839" b="3778"/>
          <a:stretch>
            <a:fillRect/>
          </a:stretch>
        </p:blipFill>
        <p:spPr bwMode="auto">
          <a:xfrm>
            <a:off x="1295400" y="2616882"/>
            <a:ext cx="4559300" cy="375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0060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3" t="5353" r="7312" b="4408"/>
          <a:stretch>
            <a:fillRect/>
          </a:stretch>
        </p:blipFill>
        <p:spPr bwMode="auto">
          <a:xfrm>
            <a:off x="6096000" y="2591482"/>
            <a:ext cx="4660900" cy="364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061" name="Rectangle 13"/>
          <p:cNvSpPr>
            <a:spLocks noChangeArrowheads="1"/>
          </p:cNvSpPr>
          <p:nvPr/>
        </p:nvSpPr>
        <p:spPr bwMode="auto">
          <a:xfrm>
            <a:off x="4978400" y="3574143"/>
            <a:ext cx="762000" cy="685800"/>
          </a:xfrm>
          <a:prstGeom prst="rect">
            <a:avLst/>
          </a:prstGeom>
          <a:noFill/>
          <a:ln w="19050" algn="ctr">
            <a:solidFill>
              <a:schemeClr val="bg2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5781" tIns="47891" rIns="95781" bIns="47891" anchor="ctr"/>
          <a:lstStyle>
            <a:lvl1pPr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2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Aft>
                <a:spcPct val="0"/>
              </a:spcAft>
              <a:defRPr/>
            </a:pPr>
            <a:endParaRPr lang="zh-CN" altLang="en-US">
              <a:solidFill>
                <a:srgbClr val="0066CC"/>
              </a:solidFill>
            </a:endParaRPr>
          </a:p>
        </p:txBody>
      </p:sp>
      <p:sp>
        <p:nvSpPr>
          <p:cNvPr id="130062" name="Line 14"/>
          <p:cNvSpPr>
            <a:spLocks noChangeShapeType="1"/>
          </p:cNvSpPr>
          <p:nvPr/>
        </p:nvSpPr>
        <p:spPr bwMode="auto">
          <a:xfrm>
            <a:off x="5829300" y="4158343"/>
            <a:ext cx="2590800" cy="381000"/>
          </a:xfrm>
          <a:prstGeom prst="line">
            <a:avLst/>
          </a:prstGeom>
          <a:noFill/>
          <a:ln w="19050">
            <a:solidFill>
              <a:schemeClr val="bg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81" tIns="47891" rIns="95781" bIns="47891"/>
          <a:lstStyle/>
          <a:p>
            <a:pPr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endParaRPr lang="zh-CN" altLang="en-US" sz="1200">
              <a:solidFill>
                <a:srgbClr val="0066CC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78D6BAAF-B403-4336-B5F1-64A413769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9138" y="1046624"/>
            <a:ext cx="3376832" cy="11969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3300"/>
            </a:solidFill>
          </a:ln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0033CC"/>
                </a:solidFill>
              </a:rPr>
              <a:t>K</a:t>
            </a:r>
            <a:r>
              <a:rPr lang="en-US" altLang="zh-CN" sz="2800" b="1" baseline="-25000" dirty="0">
                <a:solidFill>
                  <a:srgbClr val="0033CC"/>
                </a:solidFill>
              </a:rPr>
              <a:t>p</a:t>
            </a:r>
            <a:r>
              <a:rPr lang="en-US" altLang="zh-CN" sz="2800" b="1" dirty="0">
                <a:solidFill>
                  <a:srgbClr val="0033CC"/>
                </a:solidFill>
              </a:rPr>
              <a:t>=100</a:t>
            </a:r>
            <a:r>
              <a:rPr lang="zh-CN" altLang="en-US" sz="2800" b="1" dirty="0">
                <a:solidFill>
                  <a:srgbClr val="0033CC"/>
                </a:solidFill>
              </a:rPr>
              <a:t>，</a:t>
            </a:r>
            <a:r>
              <a:rPr lang="en-US" altLang="zh-CN" sz="2800" b="1" dirty="0">
                <a:solidFill>
                  <a:srgbClr val="0033CC"/>
                </a:solidFill>
              </a:rPr>
              <a:t>K</a:t>
            </a:r>
            <a:r>
              <a:rPr lang="en-US" altLang="zh-CN" sz="2800" b="1" baseline="-25000" dirty="0">
                <a:solidFill>
                  <a:srgbClr val="0033CC"/>
                </a:solidFill>
              </a:rPr>
              <a:t>i</a:t>
            </a:r>
            <a:r>
              <a:rPr lang="en-US" altLang="zh-CN" sz="2800" b="1" dirty="0">
                <a:solidFill>
                  <a:srgbClr val="0033CC"/>
                </a:solidFill>
              </a:rPr>
              <a:t>=20</a:t>
            </a:r>
          </a:p>
          <a:p>
            <a:pPr eaLnBrk="0" fontAlgn="base" hangingPunct="0"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 err="1">
                <a:solidFill>
                  <a:srgbClr val="FF00FF"/>
                </a:solidFill>
              </a:rPr>
              <a:t>K</a:t>
            </a:r>
            <a:r>
              <a:rPr lang="en-US" altLang="zh-CN" sz="2800" b="1" baseline="-25000" dirty="0" err="1">
                <a:solidFill>
                  <a:srgbClr val="FF00FF"/>
                </a:solidFill>
              </a:rPr>
              <a:t>d</a:t>
            </a:r>
            <a:r>
              <a:rPr lang="en-US" altLang="zh-CN" sz="2800" b="1" dirty="0">
                <a:solidFill>
                  <a:srgbClr val="FF00FF"/>
                </a:solidFill>
              </a:rPr>
              <a:t>=150</a:t>
            </a:r>
            <a:r>
              <a:rPr lang="zh-CN" altLang="en-US" sz="2800" b="1" dirty="0">
                <a:solidFill>
                  <a:srgbClr val="FF00FF"/>
                </a:solidFill>
              </a:rPr>
              <a:t>，</a:t>
            </a:r>
            <a:r>
              <a:rPr lang="en-US" altLang="zh-CN" sz="2800" b="1" dirty="0">
                <a:solidFill>
                  <a:srgbClr val="FF0000"/>
                </a:solidFill>
              </a:rPr>
              <a:t>T</a:t>
            </a:r>
            <a:r>
              <a:rPr lang="en-US" altLang="zh-CN" sz="2800" b="1" baseline="-25000" dirty="0">
                <a:solidFill>
                  <a:srgbClr val="FF0000"/>
                </a:solidFill>
              </a:rPr>
              <a:t>d</a:t>
            </a:r>
            <a:r>
              <a:rPr lang="en-US" altLang="zh-CN" sz="2800" b="1" dirty="0">
                <a:solidFill>
                  <a:srgbClr val="FF0000"/>
                </a:solidFill>
              </a:rPr>
              <a:t>=1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5A99BCD9-7BAF-4D87-9FDB-A7E93FB07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939840"/>
            <a:ext cx="9282113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0" fontAlgn="base" hangingPunct="0"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solidFill>
                  <a:srgbClr val="002060"/>
                </a:solidFill>
              </a:rPr>
              <a:t>不同</a:t>
            </a:r>
            <a:r>
              <a:rPr lang="en-US" altLang="zh-CN" sz="2800" b="1" dirty="0">
                <a:solidFill>
                  <a:srgbClr val="002060"/>
                </a:solidFill>
              </a:rPr>
              <a:t>PID</a:t>
            </a:r>
            <a:r>
              <a:rPr lang="zh-CN" altLang="en-US" sz="2800" b="1" dirty="0">
                <a:solidFill>
                  <a:srgbClr val="002060"/>
                </a:solidFill>
              </a:rPr>
              <a:t>参数下的控制性能分析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6D4B5149-10E5-4FCE-A940-518198E6D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508063"/>
            <a:ext cx="647337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1" tIns="47891" rIns="95781" bIns="47891"/>
          <a:lstStyle>
            <a:lvl1pPr marL="457200" indent="-4572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AutoNum type="arabicPeriod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AutoNum type="circleNumDbPlain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•"/>
              <a:defRPr sz="22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Ø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57263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572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indent="0">
              <a:buClrTx/>
              <a:buNone/>
              <a:defRPr/>
            </a:pPr>
            <a:r>
              <a:rPr lang="zh-CN" altLang="en-US" b="1" dirty="0">
                <a:solidFill>
                  <a:srgbClr val="7030A0"/>
                </a:solidFill>
              </a:rPr>
              <a:t>（</a:t>
            </a:r>
            <a:r>
              <a:rPr lang="en-US" altLang="zh-CN" b="1" dirty="0">
                <a:solidFill>
                  <a:srgbClr val="7030A0"/>
                </a:solidFill>
              </a:rPr>
              <a:t>6</a:t>
            </a:r>
            <a:r>
              <a:rPr lang="zh-CN" altLang="en-US" b="1" dirty="0">
                <a:solidFill>
                  <a:srgbClr val="7030A0"/>
                </a:solidFill>
              </a:rPr>
              <a:t>）比例、微分控制（</a:t>
            </a:r>
            <a:r>
              <a:rPr lang="en-US" altLang="zh-CN" b="1" dirty="0">
                <a:solidFill>
                  <a:srgbClr val="7030A0"/>
                </a:solidFill>
              </a:rPr>
              <a:t> PID </a:t>
            </a:r>
            <a:r>
              <a:rPr lang="zh-CN" altLang="en-US" b="1" dirty="0">
                <a:solidFill>
                  <a:srgbClr val="7030A0"/>
                </a:solidFill>
              </a:rPr>
              <a:t>控制）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5B4C867B-8248-4E29-97AB-D4FA3628F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7151"/>
            <a:ext cx="9906000" cy="71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1" tIns="47891" rIns="95781" bIns="47891" numCol="1" anchor="ctr" anchorCtr="1" compatLnSpc="1">
            <a:prstTxWarp prst="textNoShape">
              <a:avLst/>
            </a:prstTxWarp>
          </a:bodyPr>
          <a:lstStyle>
            <a:lvl1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_GB2312" pitchFamily="49" charset="-122"/>
                <a:cs typeface="楷体_GB2312"/>
              </a:defRPr>
            </a:lvl1pPr>
            <a:lvl2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2pPr>
            <a:lvl3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3pPr>
            <a:lvl4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4pPr>
            <a:lvl5pPr algn="ctr" defTabSz="957263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  <a:cs typeface="楷体_GB2312"/>
              </a:defRPr>
            </a:lvl5pPr>
            <a:lvl6pPr marL="4572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6pPr>
            <a:lvl7pPr marL="9144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7pPr>
            <a:lvl8pPr marL="13716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8pPr>
            <a:lvl9pPr marL="1828800" algn="l" defTabSz="957263" rtl="0" fontAlgn="base">
              <a:spcBef>
                <a:spcPct val="0"/>
              </a:spcBef>
              <a:spcAft>
                <a:spcPct val="0"/>
              </a:spcAft>
              <a:defRPr sz="46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buSzTx/>
              <a:buFontTx/>
            </a:pPr>
            <a:r>
              <a:rPr lang="zh-CN" altLang="en-US" ker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机器人</a:t>
            </a:r>
            <a:r>
              <a:rPr lang="zh-CN" altLang="en-US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单关节位置控制方法</a:t>
            </a:r>
          </a:p>
        </p:txBody>
      </p:sp>
    </p:spTree>
    <p:extLst>
      <p:ext uri="{BB962C8B-B14F-4D97-AF65-F5344CB8AC3E}">
        <p14:creationId xmlns:p14="http://schemas.microsoft.com/office/powerpoint/2010/main" val="3519662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</Words>
  <Application>Microsoft Office PowerPoint</Application>
  <PresentationFormat>宽屏</PresentationFormat>
  <Paragraphs>46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等线</vt:lpstr>
      <vt:lpstr>等线 Light</vt:lpstr>
      <vt:lpstr>Arial</vt:lpstr>
      <vt:lpstr>Times New Roman</vt:lpstr>
      <vt:lpstr>Verdana</vt:lpstr>
      <vt:lpstr>Wingdings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Jianqing</dc:creator>
  <cp:lastModifiedBy>Peng Jianqing</cp:lastModifiedBy>
  <cp:revision>2</cp:revision>
  <dcterms:created xsi:type="dcterms:W3CDTF">2021-03-25T01:19:14Z</dcterms:created>
  <dcterms:modified xsi:type="dcterms:W3CDTF">2023-08-31T07:32:58Z</dcterms:modified>
</cp:coreProperties>
</file>